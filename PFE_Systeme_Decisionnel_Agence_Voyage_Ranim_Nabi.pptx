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234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D99A3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 —  ÉCOLE SUPÉRIEURE PRIVÉE D'INGÉNIERIE ET DE TECHNOLOGIES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 — Première Restitution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Décisionnel Intelligent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Agence de Voyage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4415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800600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7492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Ranim Nabi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4800600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ESPRIT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507492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Zoulaikha Ouali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Sirajeddine Miladi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66818" y="4709160"/>
            <a:ext cx="0" cy="141732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4800600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D'ACCUEIL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463382" y="498348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2Go Sunny Trip Tunisia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64957" y="4709160"/>
            <a:ext cx="0" cy="141732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72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C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du projet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70632"/>
            <a:ext cx="47242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d'accueil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&amp; critique de l'existant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70168" y="1600200"/>
            <a:ext cx="5272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4488" y="180136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C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23774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2770632"/>
            <a:ext cx="4724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/ non </a:t>
            </a:r>
            <a:r>
              <a:rPr lang="en-US" sz="115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272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2702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C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technique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39512"/>
            <a:ext cx="4724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travail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logique &amp; physique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0168" y="4069080"/>
            <a:ext cx="5272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44488" y="42702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C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644488" y="484632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bilan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5239512"/>
            <a:ext cx="4724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&amp; fonctionnalités avancées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16"/>
              </a:spcAft>
              <a:buSzPct val="100000"/>
              <a:buChar char="–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 du projet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agences de voyage génèrent chaque jour des volumes croissants de données (clients, réservations, destinations, budgets, préférences) qui restent aujourd'hui largement sous-exploitées. Ce PFE vise à transformer ces données brutes en un véritable levier de décision, grâce à l'intelligence artificielle et à la Business Intelligence.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533574" cy="288036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3947" y="3291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work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32" y="3398825"/>
            <a:ext cx="608990" cy="6089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4297680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09160"/>
            <a:ext cx="21678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clients et leurs comportements de réservation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02254" y="2971800"/>
            <a:ext cx="2533574" cy="288036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7561" y="3291840"/>
            <a:ext cx="822960" cy="822960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13" name="Image 1" descr="/home/claude/work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546" y="339882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39414" y="4297680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85134" y="4709160"/>
            <a:ext cx="21678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Nettoyer, enrichir et structurer les données (Feature Engineering)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5868" y="2971800"/>
            <a:ext cx="2533574" cy="288036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11175" y="3291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work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159" y="3398825"/>
            <a:ext cx="608990" cy="6089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4297680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38748" y="4709160"/>
            <a:ext cx="21678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moteur de recommandation personnalisé « from scratch »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09481" y="2971800"/>
            <a:ext cx="2533574" cy="288036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64788" y="3291840"/>
            <a:ext cx="822960" cy="822960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23" name="Image 3" descr="/home/claude/work/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1773" y="3398825"/>
            <a:ext cx="608990" cy="60899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46641" y="4297680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292361" y="4709160"/>
            <a:ext cx="21678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un tableau de bord décisionnel et une application utilisateur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D'ACCUEIL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2Go Sunny Trip Tunisia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200939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2Go Sunny Trip Tunisia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de voyage tunisienne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3464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52"/>
              </a:spcAft>
              <a:buSzPct val="100000"/>
              <a:buChar char="–"/>
            </a:pPr>
            <a:r>
              <a:rPr lang="en-US" sz="13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spécialisée dans la vente de séjours, vols, hôtels, croisières et packages vacances à destination d'une clientèle tunisienne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52"/>
              </a:spcAft>
              <a:buSzPct val="100000"/>
              <a:buChar char="–"/>
            </a:pPr>
            <a:r>
              <a:rPr lang="en-US" sz="13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commerciale principalement digitale, animée via sa page Facebook officielle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52"/>
              </a:spcAft>
              <a:buSzPct val="100000"/>
              <a:buChar char="–"/>
            </a:pPr>
            <a:r>
              <a:rPr lang="en-US" sz="13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site web propre à ce jour : le besoin d'outils data / IA internes est fort pour accompagner la croissance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52"/>
              </a:spcAft>
              <a:buSzPct val="100000"/>
              <a:buChar char="–"/>
            </a:pPr>
            <a:r>
              <a:rPr lang="en-US" sz="13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idéal pour déployer un premier système décisionnel et de recommandation personnalisée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0B35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5554980"/>
            <a:ext cx="365760" cy="365760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12" name="Image 1" descr="/home/claude/work/icons/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7" y="5602529"/>
            <a:ext cx="270662" cy="2706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54864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facebook.com/people/2-Go-Sunny-Tunisia-Trip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0" y="1600200"/>
            <a:ext cx="4327855" cy="4389120"/>
          </a:xfrm>
          <a:prstGeom prst="roundRect">
            <a:avLst>
              <a:gd name="adj" fmla="val 2113"/>
            </a:avLst>
          </a:prstGeom>
          <a:solidFill>
            <a:srgbClr val="0B355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5895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BREF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2240280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C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589520" y="2459736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Tourisme &amp; voyage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589520" y="2862072"/>
            <a:ext cx="3779215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589520" y="3017520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C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PRINCIPAL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7589520" y="3236976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7589520" y="3639312"/>
            <a:ext cx="3779215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589520" y="3794760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C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7589520" y="4014216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Inexistant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7589520" y="4416552"/>
            <a:ext cx="3779215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89520" y="4572000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C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CLÉ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589520" y="4791456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→ Décision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L'EXISTANT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actuel de l'agence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réservations et de la relation client repose aujourd'hui essentiellement sur des échanges directs (Facebook, téléphone) et un suivi manuel, sans plateforme centralisée ni outil décisionnel.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33574" cy="342900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2507" y="26517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12507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522819" y="3840480"/>
            <a:ext cx="585216" cy="58521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9" name="Image 0" descr="/home/claude/work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897" y="3916558"/>
            <a:ext cx="433060" cy="4330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4544568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contact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910328"/>
            <a:ext cx="21678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contacte l'agence via Facebook ou téléphone pour exprimer ses envies de voyage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00502" y="3886200"/>
            <a:ext cx="274320" cy="201168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13" name="Shape 10"/>
          <p:cNvSpPr/>
          <p:nvPr/>
        </p:nvSpPr>
        <p:spPr>
          <a:xfrm>
            <a:off x="3402254" y="2331720"/>
            <a:ext cx="2533574" cy="342900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66121" y="26517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166121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376433" y="3840480"/>
            <a:ext cx="585216" cy="58521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17" name="Image 1" descr="/home/claude/work/icons/user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511" y="3916558"/>
            <a:ext cx="433060" cy="4330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539414" y="4544568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manuel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3585134" y="4910328"/>
            <a:ext cx="21678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propose des destinations « à l'instinct », selon son expérience personnelle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54116" y="3886200"/>
            <a:ext cx="274320" cy="201168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21" name="Shape 17"/>
          <p:cNvSpPr/>
          <p:nvPr/>
        </p:nvSpPr>
        <p:spPr>
          <a:xfrm>
            <a:off x="6255868" y="2331720"/>
            <a:ext cx="2533574" cy="342900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019735" y="26517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019735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7230047" y="3840480"/>
            <a:ext cx="585216" cy="58521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25" name="Image 2" descr="/home/claude/work/icons/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125" y="3916558"/>
            <a:ext cx="433060" cy="4330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393028" y="4544568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6438748" y="4910328"/>
            <a:ext cx="21678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réservation (vol, hôtel, package) est enregistrée sans historique exploitable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807729" y="3886200"/>
            <a:ext cx="274320" cy="201168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29" name="Shape 24"/>
          <p:cNvSpPr/>
          <p:nvPr/>
        </p:nvSpPr>
        <p:spPr>
          <a:xfrm>
            <a:off x="9109481" y="2331720"/>
            <a:ext cx="2533574" cy="342900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873348" y="2651760"/>
            <a:ext cx="1005840" cy="100584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873348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2" name="Shape 27"/>
          <p:cNvSpPr/>
          <p:nvPr/>
        </p:nvSpPr>
        <p:spPr>
          <a:xfrm>
            <a:off x="10083660" y="3840480"/>
            <a:ext cx="585216" cy="58521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33" name="Image 3" descr="/home/claude/work/icons/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9738" y="3916558"/>
            <a:ext cx="433060" cy="4330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246641" y="4544568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limité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9292361" y="4910328"/>
            <a:ext cx="21678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indicateur consolidé : chiffre d'affaires, annulations et tendances restent invisibles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DE L'EXISTANT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fonctionnement actuel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914400" cy="914400"/>
          </a:xfrm>
          <a:prstGeom prst="ellipse">
            <a:avLst/>
          </a:prstGeom>
          <a:solidFill>
            <a:srgbClr val="B04A3A"/>
          </a:solidFill>
          <a:ln/>
        </p:spPr>
      </p:sp>
      <p:pic>
        <p:nvPicPr>
          <p:cNvPr id="6" name="Image 0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94560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920240"/>
            <a:ext cx="371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client fragmentée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404872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vue consolidée du profil, de l'historique ou des préférences de chaque client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24448" y="1691640"/>
            <a:ext cx="531860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8768" y="2075688"/>
            <a:ext cx="914400" cy="914400"/>
          </a:xfrm>
          <a:prstGeom prst="ellipse">
            <a:avLst/>
          </a:prstGeom>
          <a:solidFill>
            <a:srgbClr val="B04A3A"/>
          </a:solidFill>
          <a:ln/>
        </p:spPr>
      </p:sp>
      <p:pic>
        <p:nvPicPr>
          <p:cNvPr id="11" name="Image 1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640" y="2194560"/>
            <a:ext cx="676656" cy="6766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96048" y="1920240"/>
            <a:ext cx="371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non personnalisées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696048" y="2404872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suggestions dépendent uniquement de l'expérience individuelle de l'agent, non reproductible ni scalable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1860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41648"/>
            <a:ext cx="914400" cy="914400"/>
          </a:xfrm>
          <a:prstGeom prst="ellipse">
            <a:avLst/>
          </a:prstGeom>
          <a:solidFill>
            <a:srgbClr val="B04A3A"/>
          </a:solidFill>
          <a:ln/>
        </p:spPr>
      </p:sp>
      <p:pic>
        <p:nvPicPr>
          <p:cNvPr id="16" name="Image 2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60520"/>
            <a:ext cx="676656" cy="6766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3886200"/>
            <a:ext cx="371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pilotage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4370832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d'indicateurs de performance (CA, taux d'annulation, saisonnalité) pour décider rapidement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24448" y="3657600"/>
            <a:ext cx="531860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8768" y="4041648"/>
            <a:ext cx="914400" cy="914400"/>
          </a:xfrm>
          <a:prstGeom prst="ellipse">
            <a:avLst/>
          </a:prstGeom>
          <a:solidFill>
            <a:srgbClr val="B04A3A"/>
          </a:solidFill>
          <a:ln/>
        </p:spPr>
      </p:sp>
      <p:pic>
        <p:nvPicPr>
          <p:cNvPr id="21" name="Image 3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640" y="4160520"/>
            <a:ext cx="676656" cy="6766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96048" y="3886200"/>
            <a:ext cx="371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manquées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696048" y="4370832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perte de ventes croisées, de fidélisation et de réactivité commerciale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474720"/>
            <a:ext cx="4754880" cy="4754880"/>
          </a:xfrm>
          <a:prstGeom prst="ellipse">
            <a:avLst/>
          </a:prstGeom>
          <a:solidFill>
            <a:srgbClr val="D99A3E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1502359"/>
            <a:ext cx="744322" cy="7443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743200"/>
            <a:ext cx="9631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exploiter les données de réservation pour personnaliser les recommandations de voyage et permettre à l'agence de piloter son activité en temps réel 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de bout en bout, données → décision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complète transformant les données brutes de l'agence en recommandations personnalisées et en pilotage décisionnel, sans dépendance à un service externe.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84797" cy="32004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5278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76" y="2746858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76237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566160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114800"/>
            <a:ext cx="171047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réservations, destinations, hôtels, vols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42581" y="3794760"/>
            <a:ext cx="274320" cy="237744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12" name="Shape 9"/>
          <p:cNvSpPr/>
          <p:nvPr/>
        </p:nvSpPr>
        <p:spPr>
          <a:xfrm>
            <a:off x="2826045" y="2331720"/>
            <a:ext cx="1984797" cy="32004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2683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work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781" y="274685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53641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935773" y="3566160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2963205" y="4114800"/>
            <a:ext cx="171047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anomalies, Feature Engineering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19985" y="3794760"/>
            <a:ext cx="274320" cy="237744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19" name="Shape 15"/>
          <p:cNvSpPr/>
          <p:nvPr/>
        </p:nvSpPr>
        <p:spPr>
          <a:xfrm>
            <a:off x="5103449" y="2331720"/>
            <a:ext cx="1984797" cy="32004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30088" y="2651760"/>
            <a:ext cx="731520" cy="731520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21" name="Image 2" descr="/home/claude/work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5185" y="2746858"/>
            <a:ext cx="541325" cy="54132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631046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213177" y="3566160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5240609" y="4114800"/>
            <a:ext cx="171047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moteurs de recommandation comparés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097390" y="3794760"/>
            <a:ext cx="274320" cy="237744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26" name="Shape 21"/>
          <p:cNvSpPr/>
          <p:nvPr/>
        </p:nvSpPr>
        <p:spPr>
          <a:xfrm>
            <a:off x="7380854" y="2331720"/>
            <a:ext cx="1984797" cy="32004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07492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/home/claude/work/icons/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90" y="2746858"/>
            <a:ext cx="541325" cy="54132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08451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490582" y="3566160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7518014" y="4114800"/>
            <a:ext cx="171047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 étoile + KPI Power BI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374795" y="3794760"/>
            <a:ext cx="274320" cy="237744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33" name="Shape 27"/>
          <p:cNvSpPr/>
          <p:nvPr/>
        </p:nvSpPr>
        <p:spPr>
          <a:xfrm>
            <a:off x="9658259" y="2331720"/>
            <a:ext cx="1984797" cy="32004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284897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/home/claude/work/icons/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9994" y="2746858"/>
            <a:ext cx="541325" cy="54132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1185855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767987" y="3566160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9795419" y="4114800"/>
            <a:ext cx="171047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+ Power BI Service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approches de recommandation (Content-Based, Filtrage collaboratif, Supervisé, Hybride) sont implémentées « from scratch » et comparées objectivement avant sélection automatique du meilleur modèle.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système doit faire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860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37944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57" y="1944929"/>
            <a:ext cx="608990" cy="6089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76479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une destination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30552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 catalogue par type de voyage, budget, saison, activités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24448" y="1600200"/>
            <a:ext cx="531860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0480" y="1837944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464" y="1944929"/>
            <a:ext cx="608990" cy="6089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58888" y="176479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558888" y="2130552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 Top-N de destinations personnalisées avec score de pertinence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531860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1927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ork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7" y="3426257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324612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3611880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chaque recommandation (budget, activités, popularité partagés)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24448" y="3081528"/>
            <a:ext cx="531860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0480" y="331927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ork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464" y="3426257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58888" y="324612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558888" y="3611880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automatiquement les clients par profil (RFM, âge, revenu)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562856"/>
            <a:ext cx="531860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800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work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657" y="4907585"/>
            <a:ext cx="608990" cy="6089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83080" y="4727448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783080" y="5093208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KPI clés : CA, réservations, taux d'annulation, top destinations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24448" y="4562856"/>
            <a:ext cx="531860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80480" y="4800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work/icons/deskt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7464" y="4907585"/>
            <a:ext cx="608990" cy="6089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558888" y="4727448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558888" y="5093208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 tableau de bord Power BI depuis l'application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NON FONCTIONNELS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qualités attendues du système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1741" y="196596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6" name="Image 0" descr="/home/claude/work/icons/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94" y="2065812"/>
            <a:ext cx="568391" cy="5683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3464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quasi instantanées, sans ré-entraînement à chaque requête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68698" y="1691640"/>
            <a:ext cx="345429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11" name="Image 1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52" y="2065812"/>
            <a:ext cx="568391" cy="5683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5858" y="283464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51578" y="315468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(modèles, embeddings) sauvegardés et rechargeables à froid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88757" y="1691640"/>
            <a:ext cx="345429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31858" y="196596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16" name="Image 2" descr="/home/claude/work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710" y="2065812"/>
            <a:ext cx="568391" cy="5683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5917" y="283464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71637" y="315468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épurée (Streamlit), accessible aux équipes non techniques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45429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91741" y="411480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21" name="Image 3" descr="/home/claude/work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594" y="4214652"/>
            <a:ext cx="568391" cy="5683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" y="49834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30352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conçu pour absorber la montée en charge des données réelles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68698" y="3840480"/>
            <a:ext cx="345429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11800" y="411480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26" name="Image 4" descr="/home/claude/work/icons/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1652" y="4214652"/>
            <a:ext cx="568391" cy="5683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05858" y="49834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51578" y="530352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recommandation est justifiée par des critères compréhensibles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88757" y="3840480"/>
            <a:ext cx="345429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531858" y="411480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31" name="Image 5" descr="/home/claude/work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1710" y="4214652"/>
            <a:ext cx="568391" cy="56839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5917" y="49834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71637" y="530352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données clients (RGPD-compatible, accès contrôlé)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travail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CRISP-DM pour la partie Data Science, combinée à un fonctionnement Agile / Scrum pour le suivi du projet et la restitution progressive.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6751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4871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CRISP-DM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83792" y="292608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work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644" y="3025932"/>
            <a:ext cx="568391" cy="5683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822192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31008" y="3182112"/>
            <a:ext cx="182880" cy="201168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11" name="Shape 8"/>
          <p:cNvSpPr/>
          <p:nvPr/>
        </p:nvSpPr>
        <p:spPr>
          <a:xfrm>
            <a:off x="3502152" y="292608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12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004" y="3025932"/>
            <a:ext cx="568391" cy="5683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1320" y="3822192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849368" y="3182112"/>
            <a:ext cx="182880" cy="201168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15" name="Shape 11"/>
          <p:cNvSpPr/>
          <p:nvPr/>
        </p:nvSpPr>
        <p:spPr>
          <a:xfrm>
            <a:off x="5620512" y="292608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ork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364" y="3025932"/>
            <a:ext cx="568391" cy="5683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59680" y="3822192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1383792" y="452628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19" name="Image 3" descr="/home/claude/work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3644" y="4626132"/>
            <a:ext cx="568391" cy="5683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" y="5422392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2731008" y="4782312"/>
            <a:ext cx="182880" cy="201168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22" name="Shape 16"/>
          <p:cNvSpPr/>
          <p:nvPr/>
        </p:nvSpPr>
        <p:spPr>
          <a:xfrm>
            <a:off x="3502152" y="452628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/home/claude/work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004" y="4626132"/>
            <a:ext cx="568391" cy="56839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941320" y="5422392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849368" y="4782312"/>
            <a:ext cx="182880" cy="201168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26" name="Shape 19"/>
          <p:cNvSpPr/>
          <p:nvPr/>
        </p:nvSpPr>
        <p:spPr>
          <a:xfrm>
            <a:off x="5620512" y="4526280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27" name="Image 5" descr="/home/claude/work/icons/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0364" y="4626132"/>
            <a:ext cx="568391" cy="56839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059680" y="5422392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589520" y="1965960"/>
            <a:ext cx="4053535" cy="4480560"/>
          </a:xfrm>
          <a:prstGeom prst="roundRect">
            <a:avLst>
              <a:gd name="adj" fmla="val 2256"/>
            </a:avLst>
          </a:prstGeom>
          <a:solidFill>
            <a:srgbClr val="0B3556"/>
          </a:solidFill>
          <a:ln/>
        </p:spPr>
      </p:sp>
      <p:sp>
        <p:nvSpPr>
          <p:cNvPr id="30" name="Shape 22"/>
          <p:cNvSpPr/>
          <p:nvPr/>
        </p:nvSpPr>
        <p:spPr>
          <a:xfrm>
            <a:off x="7863840" y="2240280"/>
            <a:ext cx="640080" cy="640080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31" name="Image 6" descr="/home/claude/work/icons/arrow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7050" y="2323490"/>
            <a:ext cx="473659" cy="473659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64108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Agile / Scrum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7863840" y="3063240"/>
            <a:ext cx="35048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du projet en sprints avec objectifs livrables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réguliers avec les encadrants ESPRIT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Restitutions intermédiaires (dont celle-ci) pour valider chaque étape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priorisant les 4 approches de recommandation puis la BI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3574" cy="443484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3947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32" y="21186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17520"/>
            <a:ext cx="2259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&amp; données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216781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1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</a:t>
            </a:r>
            <a:r>
              <a:rPr lang="en-US" sz="11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2254" y="1691640"/>
            <a:ext cx="2533574" cy="443484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7561" y="2011680"/>
            <a:ext cx="822960" cy="822960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11" name="Image 1" descr="/home/claude/work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546" y="211866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9414" y="3017520"/>
            <a:ext cx="2259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85134" y="3703320"/>
            <a:ext cx="216781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XGBoost · </a:t>
            </a:r>
            <a:r>
              <a:rPr lang="en-US" sz="11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5868" y="1691640"/>
            <a:ext cx="2533574" cy="443484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1175" y="2011680"/>
            <a:ext cx="822960" cy="822960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16" name="Image 2" descr="/home/claude/work/icons/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159" y="211866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3028" y="3017520"/>
            <a:ext cx="2259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38748" y="3703320"/>
            <a:ext cx="216781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(persistance modèles)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09481" y="1691640"/>
            <a:ext cx="2533574" cy="443484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4788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ork/icons/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1773" y="211866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46641" y="3017520"/>
            <a:ext cx="2259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292361" y="3703320"/>
            <a:ext cx="216781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1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1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 étoile (star schema)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3" y="1790761"/>
            <a:ext cx="460126" cy="4601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Données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673352"/>
            <a:ext cx="70710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réelles de l'agence (clients, réservations, destinations, hôtels, vols) + augmentation contrôlée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0100" y="2569464"/>
            <a:ext cx="1059149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28700" y="267919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533" y="2760025"/>
            <a:ext cx="460126" cy="4601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05940" y="2660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Traitement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40580" y="2642616"/>
            <a:ext cx="65681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encodage, RFM, vecteurs de préférence (Feature Engineering)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051560" y="3538728"/>
            <a:ext cx="10088575" cy="841248"/>
          </a:xfrm>
          <a:prstGeom prst="roundRect">
            <a:avLst>
              <a:gd name="adj" fmla="val 9783"/>
            </a:avLst>
          </a:prstGeom>
          <a:solidFill>
            <a:srgbClr val="0B3556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280160" y="3648456"/>
            <a:ext cx="621792" cy="621792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16" name="Image 2" descr="/home/claude/work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993" y="3729289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36301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Intelligence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3611880"/>
            <a:ext cx="60652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moteurs de recommandation + sélection automatique du meilleur modèle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303020" y="4507992"/>
            <a:ext cx="958565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531620" y="461772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ork/icons/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453" y="4698553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308860" y="45994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Restitution BI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143500" y="4581144"/>
            <a:ext cx="5562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 étoile, KPI pré-agrégés, exports Power BI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554480" y="5477256"/>
            <a:ext cx="908273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783080" y="558698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work/icons/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3913" y="5667817"/>
            <a:ext cx="460126" cy="46012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560320" y="556869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Présentation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394960" y="5550408"/>
            <a:ext cx="50593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Streamlit + rapport Power BI Service intégré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physique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84797" cy="31089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56990" y="2578608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6" name="Image 0" descr="/home/claude/work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43" y="2678460"/>
            <a:ext cx="568391" cy="5683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3456432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023360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des modèles IA (GPU/CPU cloud)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42581" y="3703320"/>
            <a:ext cx="274320" cy="219456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10" name="Shape 7"/>
          <p:cNvSpPr/>
          <p:nvPr/>
        </p:nvSpPr>
        <p:spPr>
          <a:xfrm>
            <a:off x="2826045" y="2286000"/>
            <a:ext cx="1984797" cy="31089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34395" y="2578608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7" y="2678460"/>
            <a:ext cx="568391" cy="5683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35773" y="3456432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sauvegardés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963205" y="4023360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(.joblib), embeddings (.npz), métadonnées (.json)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19985" y="3703320"/>
            <a:ext cx="274320" cy="219456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16" name="Shape 12"/>
          <p:cNvSpPr/>
          <p:nvPr/>
        </p:nvSpPr>
        <p:spPr>
          <a:xfrm>
            <a:off x="5103449" y="2286000"/>
            <a:ext cx="1984797" cy="31089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1800" y="2578608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18" name="Image 2" descr="/home/claude/work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652" y="2678460"/>
            <a:ext cx="568391" cy="56839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3177" y="3456432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applicatif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240609" y="4023360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de l'application Streamlit (app.py)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097390" y="3703320"/>
            <a:ext cx="274320" cy="219456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22" name="Shape 17"/>
          <p:cNvSpPr/>
          <p:nvPr/>
        </p:nvSpPr>
        <p:spPr>
          <a:xfrm>
            <a:off x="7380854" y="2286000"/>
            <a:ext cx="1984797" cy="31089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89204" y="2578608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work/icons/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057" y="2678460"/>
            <a:ext cx="568391" cy="5683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90582" y="3456432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→ Service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518014" y="4023360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puis publication cloud du rapport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374795" y="3703320"/>
            <a:ext cx="274320" cy="219456"/>
          </a:xfrm>
          <a:prstGeom prst="rightArrow">
            <a:avLst/>
          </a:prstGeom>
          <a:solidFill>
            <a:srgbClr val="D99A3E"/>
          </a:solidFill>
          <a:ln/>
        </p:spPr>
      </p:sp>
      <p:sp>
        <p:nvSpPr>
          <p:cNvPr id="28" name="Shape 22"/>
          <p:cNvSpPr/>
          <p:nvPr/>
        </p:nvSpPr>
        <p:spPr>
          <a:xfrm>
            <a:off x="9658259" y="2286000"/>
            <a:ext cx="1984797" cy="31089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66609" y="2578608"/>
            <a:ext cx="768096" cy="768096"/>
          </a:xfrm>
          <a:prstGeom prst="ellipse">
            <a:avLst/>
          </a:prstGeom>
          <a:solidFill>
            <a:srgbClr val="0B3556"/>
          </a:solidFill>
          <a:ln/>
        </p:spPr>
      </p:sp>
      <p:pic>
        <p:nvPicPr>
          <p:cNvPr id="30" name="Image 4" descr="/home/claude/work/icons/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6461" y="2678460"/>
            <a:ext cx="568391" cy="56839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67987" y="3456432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client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795419" y="4023360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: consultation de l'app et du rapport BI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6858000" cy="6858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931920"/>
            <a:ext cx="4206240" cy="4206240"/>
          </a:xfrm>
          <a:prstGeom prst="ellipse">
            <a:avLst/>
          </a:prstGeom>
          <a:solidFill>
            <a:srgbClr val="D99A3E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88720" cy="1188720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6" name="Image 0" descr="/home/claude/work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2669134"/>
            <a:ext cx="879653" cy="8796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886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&amp; fonctionnalités avancées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approches de recommandation comparées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33574" cy="448056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1379" y="1938528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231" y="2038380"/>
            <a:ext cx="568391" cy="5683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16352"/>
            <a:ext cx="225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Content-Based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37560"/>
            <a:ext cx="216781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cosinus entre préférences client et caractéristiques destination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4937760"/>
            <a:ext cx="1984934" cy="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074920"/>
            <a:ext cx="2167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dès le 1er contact (cold-start)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02254" y="1645920"/>
            <a:ext cx="2533574" cy="448056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4993" y="1938528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work/icons/arr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845" y="2038380"/>
            <a:ext cx="568391" cy="5683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39414" y="2816352"/>
            <a:ext cx="225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Filtrage collaboratif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585134" y="3337560"/>
            <a:ext cx="216781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avec biais, entraînée par SGD — implémentation NumPy maison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76574" y="4937760"/>
            <a:ext cx="1984934" cy="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85134" y="5074920"/>
            <a:ext cx="2167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les comportements collectifs latents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55868" y="1645920"/>
            <a:ext cx="2533574" cy="448056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38607" y="1938528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/home/claude/work/icons/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459" y="2038380"/>
            <a:ext cx="568391" cy="56839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93028" y="2816352"/>
            <a:ext cx="225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Supervisé (Ranking)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438748" y="3337560"/>
            <a:ext cx="216781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XGBoost et CatBoost comparés ; sélection automatique du meilleur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30188" y="4937760"/>
            <a:ext cx="1984934" cy="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38748" y="5074920"/>
            <a:ext cx="2167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native (importance des variables)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109481" y="1645920"/>
            <a:ext cx="2533574" cy="4480560"/>
          </a:xfrm>
          <a:prstGeom prst="roundRect">
            <a:avLst>
              <a:gd name="adj" fmla="val 3609"/>
            </a:avLst>
          </a:prstGeom>
          <a:solidFill>
            <a:srgbClr val="0B3556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92220" y="1938528"/>
            <a:ext cx="768096" cy="768096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27" name="Image 3" descr="/home/claude/work/icons/puzz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2073" y="2038380"/>
            <a:ext cx="568391" cy="56839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46641" y="2816352"/>
            <a:ext cx="225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Modèle Hybride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9292361" y="3337560"/>
            <a:ext cx="216781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pondérée des 3 signaux + a priori de popularité, poids optimisés sur NDCG@7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9383801" y="4937760"/>
            <a:ext cx="1984934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292361" y="5074920"/>
            <a:ext cx="2167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i="1" dirty="0">
                <a:solidFill>
                  <a:srgbClr val="F0C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performance globale — modèle retenu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— DONNÉES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traitement des anomalies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18608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37360"/>
            <a:ext cx="491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 par colonne</a:t>
            </a:r>
            <a:endParaRPr lang="en-US" sz="1200" dirty="0"/>
          </a:p>
        </p:txBody>
      </p:sp>
      <p:pic>
        <p:nvPicPr>
          <p:cNvPr id="6" name="Image 0" descr="/mnt/user-data/uploads/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28532"/>
            <a:ext cx="4916272" cy="2458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24448" y="1645920"/>
            <a:ext cx="5318608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25616" y="1737360"/>
            <a:ext cx="491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anomalies (méthode IQR)</a:t>
            </a:r>
            <a:endParaRPr lang="en-US" sz="1200" dirty="0"/>
          </a:p>
        </p:txBody>
      </p:sp>
      <p:pic>
        <p:nvPicPr>
          <p:cNvPr id="9" name="Image 1" descr="/mnt/user-data/uploads/anomalies_mont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616" y="2838221"/>
            <a:ext cx="4916272" cy="163875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486400"/>
            <a:ext cx="11094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576"/>
              </a:spcAft>
              <a:buSzPct val="100000"/>
              <a:buChar char="–"/>
            </a:pPr>
            <a:r>
              <a:rPr lang="en-US" sz="11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13,3 % de valeurs manquantes sur note_satisfaction : normal, une réservation annulée n'est pas notée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576"/>
              </a:spcAft>
              <a:buSzPct val="100000"/>
              <a:buChar char="–"/>
            </a:pPr>
            <a:r>
              <a:rPr lang="en-US" sz="11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par médiane / mode ; anomalies de montant écrêtées (clipping IQR) pour fiabiliser les modèles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— EDA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18608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37360"/>
            <a:ext cx="491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mensuel</a:t>
            </a:r>
            <a:endParaRPr lang="en-US" sz="1200" dirty="0"/>
          </a:p>
        </p:txBody>
      </p:sp>
      <p:pic>
        <p:nvPicPr>
          <p:cNvPr id="6" name="Image 0" descr="/mnt/user-data/uploads/ca_mensu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89681"/>
            <a:ext cx="4916272" cy="16387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24448" y="1645920"/>
            <a:ext cx="5318608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25616" y="1737360"/>
            <a:ext cx="491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destinations les plus réservées</a:t>
            </a:r>
            <a:endParaRPr lang="en-US" sz="1200" dirty="0"/>
          </a:p>
        </p:txBody>
      </p:sp>
      <p:pic>
        <p:nvPicPr>
          <p:cNvPr id="9" name="Image 1" descr="/mnt/user-data/uploads/top_destin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616" y="2434473"/>
            <a:ext cx="4916272" cy="29491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— EDA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client et corrélations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3736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du coude (choix de k)</a:t>
            </a:r>
            <a:endParaRPr lang="en-US" sz="1200" dirty="0"/>
          </a:p>
        </p:txBody>
      </p:sp>
      <p:pic>
        <p:nvPicPr>
          <p:cNvPr id="6" name="Image 0" descr="/mnt/user-data/uploads/elbow_kme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05110"/>
            <a:ext cx="3163824" cy="180789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89120" y="164592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90288" y="173736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KMeans (k=5)</a:t>
            </a:r>
            <a:endParaRPr lang="en-US" sz="1200" dirty="0"/>
          </a:p>
        </p:txBody>
      </p:sp>
      <p:pic>
        <p:nvPicPr>
          <p:cNvPr id="9" name="Image 1" descr="/mnt/user-data/uploads/segmentation_p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722329"/>
            <a:ext cx="3163824" cy="237346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0" y="1645920"/>
            <a:ext cx="3413455" cy="4206240"/>
          </a:xfrm>
          <a:prstGeom prst="roundRect">
            <a:avLst>
              <a:gd name="adj" fmla="val 241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430768" y="1737360"/>
            <a:ext cx="3011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client</a:t>
            </a:r>
            <a:endParaRPr lang="en-US" sz="1200" dirty="0"/>
          </a:p>
        </p:txBody>
      </p:sp>
      <p:pic>
        <p:nvPicPr>
          <p:cNvPr id="12" name="Image 2" descr="/mnt/user-data/uploads/correlat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779608"/>
            <a:ext cx="3011119" cy="22589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&amp; Filtrage collaboratif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93776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Content-Based Filtering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cosinus entre le vecteur de préférences du client et le vecteur de caractéristiques de chaque destination.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: fonctionne dès le premier contact (cold-start), sans historique.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Filtrage collaboratif (Matrix Factorization)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NumPy « from scratch » : prédiction = μ + b_u + b_i + p_u · q_i, entraînée par descente de gradient stochastique (SGD).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8"/>
              </a:spcAft>
              <a:buSzPct val="100000"/>
              <a:buChar char="–"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les préférences latentes à partir du comportement collectif des clients.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600200"/>
            <a:ext cx="5790895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053328" y="1691640"/>
            <a:ext cx="5388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 l'entraînement — RMSE (train)</a:t>
            </a:r>
            <a:endParaRPr lang="en-US" sz="1200" dirty="0"/>
          </a:p>
        </p:txBody>
      </p:sp>
      <p:pic>
        <p:nvPicPr>
          <p:cNvPr id="7" name="Image 0" descr="/mnt/user-data/uploads/mf_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539060"/>
            <a:ext cx="5388559" cy="2694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recommendation (Gradient Boosting)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5720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440"/>
              </a:spcAft>
              <a:buSzPct val="100000"/>
              <a:buChar char="–"/>
            </a:pPr>
            <a:r>
              <a:rPr lang="en-US" sz="12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supervisé (features client ⊕ features destination) → score_interaction, avec exemples négatifs générés.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440"/>
              </a:spcAft>
              <a:buSzPct val="100000"/>
              <a:buChar char="–"/>
            </a:pPr>
            <a:r>
              <a:rPr lang="en-US" sz="12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boosters comparés : LightGBM, XGBoost, CatBoost — recherche d'hyperparamètres par validation croisée.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440"/>
              </a:spcAft>
              <a:buSzPct val="100000"/>
              <a:buChar char="–"/>
            </a:pPr>
            <a:r>
              <a:rPr lang="en-US" sz="12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automatique du meilleur booster (RMSE + NDCG@7 sur le jeu de test).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440"/>
              </a:spcAft>
              <a:buSzPct val="100000"/>
              <a:buChar char="–"/>
            </a:pPr>
            <a:r>
              <a:rPr lang="en-US" sz="12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native : l'importance des variables guide aussi les explications fournies au client.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0" y="1645920"/>
            <a:ext cx="6156655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87568" y="1737360"/>
            <a:ext cx="5754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— LightGBM</a:t>
            </a:r>
            <a:endParaRPr lang="en-US" sz="1200" dirty="0"/>
          </a:p>
        </p:txBody>
      </p:sp>
      <p:pic>
        <p:nvPicPr>
          <p:cNvPr id="7" name="Image 0" descr="/mnt/user-data/uploads/lgbm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260" y="2167128"/>
            <a:ext cx="4704935" cy="35295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hybride et comparaison des performances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27000" dist="38100" dir="5400000" algn="bl" rotWithShape="0">
              <a:srgbClr val="0B355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de ranking (Precision, Recall, MAP, NDCG, HitRate) et RMSE par approche</a:t>
            </a:r>
            <a:endParaRPr lang="en-US" sz="1200" dirty="0"/>
          </a:p>
        </p:txBody>
      </p:sp>
      <p:pic>
        <p:nvPicPr>
          <p:cNvPr id="6" name="Image 0" descr="/mnt/user-data/uploads/comparaison_mode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121408"/>
            <a:ext cx="7962595" cy="28437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0B3556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5504688"/>
            <a:ext cx="548640" cy="548640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9" name="Image 1" descr="/home/claude/work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5576011"/>
            <a:ext cx="405994" cy="40599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5349240"/>
            <a:ext cx="9859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Hybride (Content-Based + Collaboratif + Booster + Popularité) obtient le meilleur NDCG@7 et le Hit Rate@7 le plus élevé : c'est le modèle retenu pour l'application.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28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— Système Décisionnel Agence de Voyage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377440"/>
            <a:ext cx="5943600" cy="59436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D99A3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1874520"/>
            <a:ext cx="1188720" cy="1188720"/>
          </a:xfrm>
          <a:prstGeom prst="ellipse">
            <a:avLst/>
          </a:prstGeom>
          <a:solidFill>
            <a:srgbClr val="D99A3E"/>
          </a:solidFill>
          <a:ln/>
        </p:spPr>
      </p:sp>
      <p:pic>
        <p:nvPicPr>
          <p:cNvPr id="5" name="Image 0" descr="/home/claude/work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021" y="2029054"/>
            <a:ext cx="879653" cy="8796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3832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C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Ranim Nabi  —  PFE ESPRIT 2025/2026  —  2Go Sunny Trip Tunisia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1726</Words>
  <Application>Microsoft Office PowerPoint</Application>
  <PresentationFormat>Widescreen</PresentationFormat>
  <Paragraphs>327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Anis Lahmer</cp:lastModifiedBy>
  <cp:revision>3</cp:revision>
  <dcterms:created xsi:type="dcterms:W3CDTF">2026-09-16T21:04:04Z</dcterms:created>
  <dcterms:modified xsi:type="dcterms:W3CDTF">2026-09-16T22:18:00Z</dcterms:modified>
</cp:coreProperties>
</file>