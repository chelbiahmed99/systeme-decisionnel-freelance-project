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78499" autoAdjust="0"/>
  </p:normalViewPr>
  <p:slideViewPr>
    <p:cSldViewPr snapToGrid="0" snapToObjects="1">
      <p:cViewPr varScale="1">
        <p:scale>
          <a:sx n="66" d="100"/>
          <a:sy n="66" d="100"/>
        </p:scale>
        <p:origin x="130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HitRate@7</c:v>
                </c:pt>
              </c:strCache>
            </c:strRef>
          </c:tx>
          <c:spPr>
            <a:solidFill>
              <a:srgbClr val="0B4F9E"/>
            </a:solidFill>
          </c:spPr>
          <c:invertIfNegative val="1"/>
          <c:dPt>
            <c:idx val="6"/>
            <c:invertIfNegative val="1"/>
            <c:bubble3D val="0"/>
            <c:spPr>
              <a:solidFill>
                <a:srgbClr val="F39A1E"/>
              </a:solidFill>
            </c:spPr>
            <c:extLst>
              <c:ext xmlns:c16="http://schemas.microsoft.com/office/drawing/2014/chart" uri="{C3380CC4-5D6E-409C-BE32-E72D297353CC}">
                <c16:uniqueId val="{00000001-4C7A-41B9-A29F-DACF0FB27523}"/>
              </c:ext>
            </c:extLst>
          </c:dPt>
          <c:dLbls>
            <c:numFmt formatCode="0.00" sourceLinked="0"/>
            <c:spPr>
              <a:noFill/>
              <a:ln>
                <a:noFill/>
              </a:ln>
              <a:effectLst/>
            </c:spPr>
            <c:txPr>
              <a:bodyPr/>
              <a:lstStyle/>
              <a:p>
                <a:pPr>
                  <a:defRPr sz="1100"/>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Contenu</c:v>
                </c:pt>
                <c:pt idx="1">
                  <c:v>Factorisation</c:v>
                </c:pt>
                <c:pt idx="2">
                  <c:v>LightGBM</c:v>
                </c:pt>
                <c:pt idx="3">
                  <c:v>XGBoost</c:v>
                </c:pt>
                <c:pt idx="4">
                  <c:v>CatBoost</c:v>
                </c:pt>
                <c:pt idx="5">
                  <c:v>Ensemble</c:v>
                </c:pt>
                <c:pt idx="6">
                  <c:v>Hybride</c:v>
                </c:pt>
              </c:strCache>
            </c:strRef>
          </c:cat>
          <c:val>
            <c:numRef>
              <c:f>Sheet1!$B$2:$B$8</c:f>
              <c:numCache>
                <c:formatCode>General</c:formatCode>
                <c:ptCount val="7"/>
                <c:pt idx="0">
                  <c:v>0.58520000000000005</c:v>
                </c:pt>
                <c:pt idx="1">
                  <c:v>0.22439999999999999</c:v>
                </c:pt>
                <c:pt idx="2">
                  <c:v>0.8196</c:v>
                </c:pt>
                <c:pt idx="3">
                  <c:v>0.81159999999999999</c:v>
                </c:pt>
                <c:pt idx="4">
                  <c:v>0.82569999999999999</c:v>
                </c:pt>
                <c:pt idx="5">
                  <c:v>0.80959999999999999</c:v>
                </c:pt>
                <c:pt idx="6">
                  <c:v>0.84970000000000001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C7A-41B9-A29F-DACF0FB27523}"/>
            </c:ext>
          </c:extLst>
        </c:ser>
        <c:ser>
          <c:idx val="1"/>
          <c:order val="1"/>
          <c:tx>
            <c:strRef>
              <c:f>Sheet1!$C$1</c:f>
              <c:strCache>
                <c:ptCount val="1"/>
                <c:pt idx="0">
                  <c:v>NDCG@7</c:v>
                </c:pt>
              </c:strCache>
            </c:strRef>
          </c:tx>
          <c:spPr>
            <a:solidFill>
              <a:srgbClr val="2A9FD8"/>
            </a:solidFill>
          </c:spPr>
          <c:invertIfNegative val="1"/>
          <c:dLbls>
            <c:numFmt formatCode="0.00" sourceLinked="0"/>
            <c:spPr>
              <a:noFill/>
              <a:ln>
                <a:noFill/>
              </a:ln>
              <a:effectLst/>
            </c:spPr>
            <c:txPr>
              <a:bodyPr/>
              <a:lstStyle/>
              <a:p>
                <a:pPr>
                  <a:defRPr sz="1100"/>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Contenu</c:v>
                </c:pt>
                <c:pt idx="1">
                  <c:v>Factorisation</c:v>
                </c:pt>
                <c:pt idx="2">
                  <c:v>LightGBM</c:v>
                </c:pt>
                <c:pt idx="3">
                  <c:v>XGBoost</c:v>
                </c:pt>
                <c:pt idx="4">
                  <c:v>CatBoost</c:v>
                </c:pt>
                <c:pt idx="5">
                  <c:v>Ensemble</c:v>
                </c:pt>
                <c:pt idx="6">
                  <c:v>Hybride</c:v>
                </c:pt>
              </c:strCache>
            </c:strRef>
          </c:cat>
          <c:val>
            <c:numRef>
              <c:f>Sheet1!$C$2:$C$8</c:f>
              <c:numCache>
                <c:formatCode>General</c:formatCode>
                <c:ptCount val="7"/>
                <c:pt idx="0">
                  <c:v>0.23430000000000001</c:v>
                </c:pt>
                <c:pt idx="1">
                  <c:v>7.6999999999999999E-2</c:v>
                </c:pt>
                <c:pt idx="2">
                  <c:v>0.44269999999999998</c:v>
                </c:pt>
                <c:pt idx="3">
                  <c:v>0.41</c:v>
                </c:pt>
                <c:pt idx="4">
                  <c:v>0.433</c:v>
                </c:pt>
                <c:pt idx="5">
                  <c:v>0.42530000000000001</c:v>
                </c:pt>
                <c:pt idx="6">
                  <c:v>0.4607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4C7A-41B9-A29F-DACF0FB27523}"/>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200"/>
            </a:pPr>
            <a:endParaRPr lang="fr-FR"/>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100"/>
            </a:pPr>
            <a:endParaRPr lang="fr-FR"/>
          </a:p>
        </c:txPr>
        <c:crossAx val="-2068027336"/>
        <c:crosses val="autoZero"/>
        <c:crossBetween val="between"/>
      </c:valAx>
    </c:plotArea>
    <c:legend>
      <c:legendPos val="b"/>
      <c:overlay val="0"/>
    </c:legend>
    <c:plotVisOnly val="1"/>
    <c:dispBlanksAs val="gap"/>
    <c:showDLblsOverMax val="1"/>
  </c:chart>
  <c:txPr>
    <a:bodyPr/>
    <a:lstStyle/>
    <a:p>
      <a:pPr>
        <a:defRPr sz="1800"/>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0468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Madame la </a:t>
            </a:r>
            <a:r>
              <a:rPr dirty="0" err="1"/>
              <a:t>présidente</a:t>
            </a:r>
            <a:r>
              <a:rPr dirty="0"/>
              <a:t>, Monsieur le </a:t>
            </a:r>
            <a:r>
              <a:rPr dirty="0" err="1"/>
              <a:t>président</a:t>
            </a:r>
            <a:r>
              <a:rPr dirty="0"/>
              <a:t>, mesdames et messieurs les </a:t>
            </a:r>
            <a:r>
              <a:rPr dirty="0" err="1"/>
              <a:t>membres</a:t>
            </a:r>
            <a:r>
              <a:rPr dirty="0"/>
              <a:t> du jury, bonjour. Je </a:t>
            </a:r>
            <a:r>
              <a:rPr dirty="0" err="1"/>
              <a:t>m'appelle</a:t>
            </a:r>
            <a:r>
              <a:rPr dirty="0"/>
              <a:t> </a:t>
            </a:r>
            <a:r>
              <a:rPr dirty="0" err="1"/>
              <a:t>Ranim</a:t>
            </a:r>
            <a:r>
              <a:rPr dirty="0"/>
              <a:t> Nabi, </a:t>
            </a:r>
            <a:r>
              <a:rPr dirty="0" err="1"/>
              <a:t>élève</a:t>
            </a:r>
            <a:r>
              <a:rPr dirty="0"/>
              <a:t> </a:t>
            </a:r>
            <a:r>
              <a:rPr dirty="0" err="1"/>
              <a:t>ingénieure</a:t>
            </a:r>
            <a:r>
              <a:rPr dirty="0"/>
              <a:t> </a:t>
            </a:r>
            <a:r>
              <a:rPr dirty="0" err="1"/>
              <a:t>en</a:t>
            </a:r>
            <a:r>
              <a:rPr dirty="0"/>
              <a:t> Data Science à ESPRIT. </a:t>
            </a:r>
            <a:r>
              <a:rPr dirty="0" err="1"/>
              <a:t>J'ai</a:t>
            </a:r>
            <a:r>
              <a:rPr dirty="0"/>
              <a:t> </a:t>
            </a:r>
            <a:r>
              <a:rPr dirty="0" err="1"/>
              <a:t>l'honneur</a:t>
            </a:r>
            <a:r>
              <a:rPr dirty="0"/>
              <a:t> de </a:t>
            </a:r>
            <a:r>
              <a:rPr dirty="0" err="1"/>
              <a:t>vous</a:t>
            </a:r>
            <a:r>
              <a:rPr dirty="0"/>
              <a:t> </a:t>
            </a:r>
            <a:r>
              <a:rPr dirty="0" err="1"/>
              <a:t>présenter</a:t>
            </a:r>
            <a:r>
              <a:rPr dirty="0"/>
              <a:t> </a:t>
            </a:r>
            <a:r>
              <a:rPr dirty="0" err="1"/>
              <a:t>mon</a:t>
            </a:r>
            <a:r>
              <a:rPr dirty="0"/>
              <a:t> </a:t>
            </a:r>
            <a:r>
              <a:rPr dirty="0" err="1"/>
              <a:t>projet</a:t>
            </a:r>
            <a:r>
              <a:rPr dirty="0"/>
              <a:t> de fin </a:t>
            </a:r>
            <a:r>
              <a:rPr dirty="0" err="1"/>
              <a:t>d'études</a:t>
            </a:r>
            <a:r>
              <a:rPr dirty="0"/>
              <a:t>, </a:t>
            </a:r>
            <a:r>
              <a:rPr dirty="0" err="1"/>
              <a:t>réalisé</a:t>
            </a:r>
            <a:r>
              <a:rPr dirty="0"/>
              <a:t> au sein de </a:t>
            </a:r>
            <a:r>
              <a:rPr dirty="0" err="1"/>
              <a:t>l'agence</a:t>
            </a:r>
            <a:r>
              <a:rPr dirty="0"/>
              <a:t> 2 Go Sunny Tunisia Trip, sous </a:t>
            </a:r>
            <a:r>
              <a:rPr dirty="0" err="1"/>
              <a:t>l'encadrement</a:t>
            </a:r>
            <a:r>
              <a:rPr dirty="0"/>
              <a:t> de M. </a:t>
            </a:r>
            <a:r>
              <a:rPr dirty="0" err="1"/>
              <a:t>Miladi</a:t>
            </a:r>
            <a:r>
              <a:rPr dirty="0"/>
              <a:t> et de M. </a:t>
            </a:r>
            <a:r>
              <a:rPr dirty="0" err="1"/>
              <a:t>Kharrat</a:t>
            </a:r>
            <a:r>
              <a:rPr dirty="0"/>
              <a:t>. »</a:t>
            </a:r>
          </a:p>
          <a:p>
            <a:r>
              <a:rPr dirty="0"/>
              <a:t>Transition : « </a:t>
            </a:r>
            <a:r>
              <a:rPr dirty="0" err="1"/>
              <a:t>Voici</a:t>
            </a:r>
            <a:r>
              <a:rPr dirty="0"/>
              <a:t> le fil </a:t>
            </a:r>
            <a:r>
              <a:rPr dirty="0" err="1"/>
              <a:t>conducteur</a:t>
            </a:r>
            <a:r>
              <a:rPr dirty="0"/>
              <a:t> de </a:t>
            </a:r>
            <a:r>
              <a:rPr dirty="0" err="1"/>
              <a:t>cette</a:t>
            </a:r>
            <a:r>
              <a:rPr dirty="0"/>
              <a:t> </a:t>
            </a:r>
            <a:r>
              <a:rPr dirty="0" err="1"/>
              <a:t>présentation</a:t>
            </a:r>
            <a:r>
              <a:rPr dirty="0"/>
              <a:t>. »</a:t>
            </a:r>
          </a:p>
          <a:p>
            <a:r>
              <a:rPr dirty="0"/>
              <a:t>Conseil : adapter la </a:t>
            </a:r>
            <a:r>
              <a:rPr dirty="0" err="1"/>
              <a:t>formule</a:t>
            </a:r>
            <a:r>
              <a:rPr dirty="0"/>
              <a:t> </a:t>
            </a:r>
            <a:r>
              <a:rPr dirty="0" err="1"/>
              <a:t>d'adresse</a:t>
            </a:r>
            <a:r>
              <a:rPr dirty="0"/>
              <a:t> au jury </a:t>
            </a:r>
            <a:r>
              <a:rPr dirty="0" err="1"/>
              <a:t>réel</a:t>
            </a:r>
            <a:r>
              <a:rPr dirty="0"/>
              <a:t>. </a:t>
            </a:r>
            <a:r>
              <a:rPr dirty="0" err="1"/>
              <a:t>Regarder</a:t>
            </a:r>
            <a:r>
              <a:rPr dirty="0"/>
              <a:t> le jury, pas </a:t>
            </a:r>
            <a:r>
              <a:rPr dirty="0" err="1"/>
              <a:t>l'écran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Je </a:t>
            </a:r>
            <a:r>
              <a:rPr dirty="0" err="1"/>
              <a:t>commencerai</a:t>
            </a:r>
            <a:r>
              <a:rPr dirty="0"/>
              <a:t> par le </a:t>
            </a:r>
            <a:r>
              <a:rPr dirty="0" err="1"/>
              <a:t>contexte</a:t>
            </a:r>
            <a:r>
              <a:rPr dirty="0"/>
              <a:t> et la </a:t>
            </a:r>
            <a:r>
              <a:rPr dirty="0" err="1"/>
              <a:t>problématique</a:t>
            </a:r>
            <a:r>
              <a:rPr dirty="0"/>
              <a:t>. Je </a:t>
            </a:r>
            <a:r>
              <a:rPr dirty="0" err="1"/>
              <a:t>présenterai</a:t>
            </a:r>
            <a:r>
              <a:rPr dirty="0"/>
              <a:t> </a:t>
            </a:r>
            <a:r>
              <a:rPr dirty="0" err="1"/>
              <a:t>ensuite</a:t>
            </a:r>
            <a:r>
              <a:rPr dirty="0"/>
              <a:t> </a:t>
            </a:r>
            <a:r>
              <a:rPr dirty="0" err="1"/>
              <a:t>l'analyse</a:t>
            </a:r>
            <a:r>
              <a:rPr dirty="0"/>
              <a:t> des </a:t>
            </a:r>
            <a:r>
              <a:rPr dirty="0" err="1"/>
              <a:t>besoins</a:t>
            </a:r>
            <a:r>
              <a:rPr dirty="0"/>
              <a:t> et la conception, </a:t>
            </a:r>
            <a:r>
              <a:rPr dirty="0" err="1"/>
              <a:t>puis</a:t>
            </a:r>
            <a:r>
              <a:rPr dirty="0"/>
              <a:t> les </a:t>
            </a:r>
            <a:r>
              <a:rPr dirty="0" err="1"/>
              <a:t>choix</a:t>
            </a:r>
            <a:r>
              <a:rPr dirty="0"/>
              <a:t> techniques et le </a:t>
            </a:r>
            <a:r>
              <a:rPr dirty="0" err="1"/>
              <a:t>moteur</a:t>
            </a:r>
            <a:r>
              <a:rPr dirty="0"/>
              <a:t> de </a:t>
            </a:r>
            <a:r>
              <a:rPr dirty="0" err="1"/>
              <a:t>recommandation</a:t>
            </a:r>
            <a:r>
              <a:rPr dirty="0"/>
              <a:t>. Une </a:t>
            </a:r>
            <a:r>
              <a:rPr dirty="0" err="1"/>
              <a:t>démonstration</a:t>
            </a:r>
            <a:r>
              <a:rPr dirty="0"/>
              <a:t> de </a:t>
            </a:r>
            <a:r>
              <a:rPr dirty="0" err="1"/>
              <a:t>l'application</a:t>
            </a:r>
            <a:r>
              <a:rPr dirty="0"/>
              <a:t> </a:t>
            </a:r>
            <a:r>
              <a:rPr dirty="0" err="1"/>
              <a:t>précédera</a:t>
            </a:r>
            <a:r>
              <a:rPr dirty="0"/>
              <a:t> le </a:t>
            </a:r>
            <a:r>
              <a:rPr dirty="0" err="1"/>
              <a:t>bilan</a:t>
            </a:r>
            <a:r>
              <a:rPr dirty="0"/>
              <a:t> et les perspectives. »</a:t>
            </a:r>
          </a:p>
          <a:p>
            <a:r>
              <a:rPr dirty="0"/>
              <a:t>Transition : « </a:t>
            </a:r>
            <a:r>
              <a:rPr dirty="0" err="1"/>
              <a:t>Commençons</a:t>
            </a:r>
            <a:r>
              <a:rPr dirty="0"/>
              <a:t> par le </a:t>
            </a:r>
            <a:r>
              <a:rPr dirty="0" err="1"/>
              <a:t>contexte</a:t>
            </a:r>
            <a:r>
              <a:rPr dirty="0"/>
              <a:t>. »</a:t>
            </a:r>
          </a:p>
          <a:p>
            <a:r>
              <a:rPr dirty="0"/>
              <a:t>Conseil : ne pas lire les dix-sept sections ; cinq temps </a:t>
            </a:r>
            <a:r>
              <a:rPr dirty="0" err="1"/>
              <a:t>suffisent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2 Go Sunny Tunisia Trip </a:t>
            </a:r>
            <a:r>
              <a:rPr dirty="0" err="1"/>
              <a:t>est</a:t>
            </a:r>
            <a:r>
              <a:rPr dirty="0"/>
              <a:t> </a:t>
            </a:r>
            <a:r>
              <a:rPr dirty="0" err="1"/>
              <a:t>une</a:t>
            </a:r>
            <a:r>
              <a:rPr dirty="0"/>
              <a:t> </a:t>
            </a:r>
            <a:r>
              <a:rPr dirty="0" err="1"/>
              <a:t>agence</a:t>
            </a:r>
            <a:r>
              <a:rPr dirty="0"/>
              <a:t> de voyages </a:t>
            </a:r>
            <a:r>
              <a:rPr dirty="0" err="1"/>
              <a:t>installée</a:t>
            </a:r>
            <a:r>
              <a:rPr dirty="0"/>
              <a:t> à Monastir et </a:t>
            </a:r>
            <a:r>
              <a:rPr dirty="0" err="1"/>
              <a:t>dirigée</a:t>
            </a:r>
            <a:r>
              <a:rPr dirty="0"/>
              <a:t> par M. Adel Nabi. Elle </a:t>
            </a:r>
            <a:r>
              <a:rPr dirty="0" err="1"/>
              <a:t>réserve</a:t>
            </a:r>
            <a:r>
              <a:rPr dirty="0"/>
              <a:t> des vols et des </a:t>
            </a:r>
            <a:r>
              <a:rPr dirty="0" err="1"/>
              <a:t>hôtels</a:t>
            </a:r>
            <a:r>
              <a:rPr dirty="0"/>
              <a:t>, vend des </a:t>
            </a:r>
            <a:r>
              <a:rPr dirty="0" err="1"/>
              <a:t>forfaits</a:t>
            </a:r>
            <a:r>
              <a:rPr dirty="0"/>
              <a:t> et </a:t>
            </a:r>
            <a:r>
              <a:rPr dirty="0" err="1"/>
              <a:t>conseille</a:t>
            </a:r>
            <a:r>
              <a:rPr dirty="0"/>
              <a:t> </a:t>
            </a:r>
            <a:r>
              <a:rPr dirty="0" err="1"/>
              <a:t>ses</a:t>
            </a:r>
            <a:r>
              <a:rPr dirty="0"/>
              <a:t> clients sur le </a:t>
            </a:r>
            <a:r>
              <a:rPr dirty="0" err="1"/>
              <a:t>choix</a:t>
            </a:r>
            <a:r>
              <a:rPr dirty="0"/>
              <a:t> de </a:t>
            </a:r>
            <a:r>
              <a:rPr dirty="0" err="1"/>
              <a:t>leur</a:t>
            </a:r>
            <a:r>
              <a:rPr dirty="0"/>
              <a:t> destination. </a:t>
            </a:r>
            <a:r>
              <a:rPr dirty="0" err="1"/>
              <a:t>Ses</a:t>
            </a:r>
            <a:r>
              <a:rPr dirty="0"/>
              <a:t> ventes </a:t>
            </a:r>
            <a:r>
              <a:rPr dirty="0" err="1"/>
              <a:t>passent</a:t>
            </a:r>
            <a:r>
              <a:rPr dirty="0"/>
              <a:t> par quatre </a:t>
            </a:r>
            <a:r>
              <a:rPr dirty="0" err="1"/>
              <a:t>canaux</a:t>
            </a:r>
            <a:r>
              <a:rPr dirty="0"/>
              <a:t>. Deux </a:t>
            </a:r>
            <a:r>
              <a:rPr dirty="0" err="1"/>
              <a:t>profils</a:t>
            </a:r>
            <a:r>
              <a:rPr dirty="0"/>
              <a:t> </a:t>
            </a:r>
            <a:r>
              <a:rPr dirty="0" err="1"/>
              <a:t>m'intéressent</a:t>
            </a:r>
            <a:r>
              <a:rPr dirty="0"/>
              <a:t> </a:t>
            </a:r>
            <a:r>
              <a:rPr dirty="0" err="1"/>
              <a:t>particulièrement</a:t>
            </a:r>
            <a:r>
              <a:rPr dirty="0"/>
              <a:t> : la direction, </a:t>
            </a:r>
            <a:r>
              <a:rPr dirty="0" err="1"/>
              <a:t>destinataire</a:t>
            </a:r>
            <a:r>
              <a:rPr dirty="0"/>
              <a:t> des </a:t>
            </a:r>
            <a:r>
              <a:rPr dirty="0" err="1"/>
              <a:t>indicateurs</a:t>
            </a:r>
            <a:r>
              <a:rPr dirty="0"/>
              <a:t>, et les </a:t>
            </a:r>
            <a:r>
              <a:rPr dirty="0" err="1"/>
              <a:t>conseillers</a:t>
            </a:r>
            <a:r>
              <a:rPr dirty="0"/>
              <a:t> </a:t>
            </a:r>
            <a:r>
              <a:rPr dirty="0" err="1"/>
              <a:t>commerciaux</a:t>
            </a:r>
            <a:r>
              <a:rPr dirty="0"/>
              <a:t>, qui </a:t>
            </a:r>
            <a:r>
              <a:rPr dirty="0" err="1"/>
              <a:t>utiliseront</a:t>
            </a:r>
            <a:r>
              <a:rPr dirty="0"/>
              <a:t> les </a:t>
            </a:r>
            <a:r>
              <a:rPr dirty="0" err="1"/>
              <a:t>recommandations</a:t>
            </a:r>
            <a:r>
              <a:rPr dirty="0"/>
              <a:t> face au client. »</a:t>
            </a:r>
          </a:p>
          <a:p>
            <a:r>
              <a:rPr dirty="0"/>
              <a:t>Transition : « Comment </a:t>
            </a:r>
            <a:r>
              <a:rPr dirty="0" err="1"/>
              <a:t>l'agence</a:t>
            </a:r>
            <a:r>
              <a:rPr dirty="0"/>
              <a:t> </a:t>
            </a:r>
            <a:r>
              <a:rPr dirty="0" err="1"/>
              <a:t>travaille</a:t>
            </a:r>
            <a:r>
              <a:rPr dirty="0"/>
              <a:t>-t-</a:t>
            </a:r>
            <a:r>
              <a:rPr dirty="0" err="1"/>
              <a:t>elle</a:t>
            </a:r>
            <a:r>
              <a:rPr dirty="0"/>
              <a:t> </a:t>
            </a:r>
            <a:r>
              <a:rPr dirty="0" err="1"/>
              <a:t>aujourd'hui</a:t>
            </a:r>
            <a:r>
              <a:rPr dirty="0"/>
              <a:t> avec </a:t>
            </a:r>
            <a:r>
              <a:rPr dirty="0" err="1"/>
              <a:t>ses</a:t>
            </a:r>
            <a:r>
              <a:rPr dirty="0"/>
              <a:t> </a:t>
            </a:r>
            <a:r>
              <a:rPr dirty="0" err="1"/>
              <a:t>données</a:t>
            </a:r>
            <a:r>
              <a:rPr dirty="0"/>
              <a:t> ?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L'agence</a:t>
            </a:r>
            <a:r>
              <a:rPr dirty="0"/>
              <a:t> </a:t>
            </a:r>
            <a:r>
              <a:rPr dirty="0" err="1"/>
              <a:t>possède</a:t>
            </a:r>
            <a:r>
              <a:rPr dirty="0"/>
              <a:t> des </a:t>
            </a:r>
            <a:r>
              <a:rPr dirty="0" err="1"/>
              <a:t>données</a:t>
            </a:r>
            <a:r>
              <a:rPr dirty="0"/>
              <a:t> sur </a:t>
            </a:r>
            <a:r>
              <a:rPr dirty="0" err="1"/>
              <a:t>ses</a:t>
            </a:r>
            <a:r>
              <a:rPr dirty="0"/>
              <a:t> clients, </a:t>
            </a:r>
            <a:r>
              <a:rPr dirty="0" err="1"/>
              <a:t>ses</a:t>
            </a:r>
            <a:r>
              <a:rPr dirty="0"/>
              <a:t> </a:t>
            </a:r>
            <a:r>
              <a:rPr dirty="0" err="1"/>
              <a:t>hôtels</a:t>
            </a:r>
            <a:r>
              <a:rPr dirty="0"/>
              <a:t>, </a:t>
            </a:r>
            <a:r>
              <a:rPr dirty="0" err="1"/>
              <a:t>ses</a:t>
            </a:r>
            <a:r>
              <a:rPr dirty="0"/>
              <a:t> vols, </a:t>
            </a:r>
            <a:r>
              <a:rPr dirty="0" err="1"/>
              <a:t>ses</a:t>
            </a:r>
            <a:r>
              <a:rPr dirty="0"/>
              <a:t> </a:t>
            </a:r>
            <a:r>
              <a:rPr dirty="0" err="1"/>
              <a:t>forfaits</a:t>
            </a:r>
            <a:r>
              <a:rPr dirty="0"/>
              <a:t> et </a:t>
            </a:r>
            <a:r>
              <a:rPr dirty="0" err="1"/>
              <a:t>ses</a:t>
            </a:r>
            <a:r>
              <a:rPr dirty="0"/>
              <a:t> </a:t>
            </a:r>
            <a:r>
              <a:rPr dirty="0" err="1"/>
              <a:t>réservations</a:t>
            </a:r>
            <a:r>
              <a:rPr dirty="0"/>
              <a:t>. </a:t>
            </a:r>
            <a:r>
              <a:rPr dirty="0" err="1"/>
              <a:t>Mais</a:t>
            </a:r>
            <a:r>
              <a:rPr dirty="0"/>
              <a:t> </a:t>
            </a:r>
            <a:r>
              <a:rPr dirty="0" err="1"/>
              <a:t>ces</a:t>
            </a:r>
            <a:r>
              <a:rPr dirty="0"/>
              <a:t> tables </a:t>
            </a:r>
            <a:r>
              <a:rPr dirty="0" err="1"/>
              <a:t>sont</a:t>
            </a:r>
            <a:r>
              <a:rPr dirty="0"/>
              <a:t> </a:t>
            </a:r>
            <a:r>
              <a:rPr dirty="0" err="1"/>
              <a:t>indépendantes</a:t>
            </a:r>
            <a:r>
              <a:rPr dirty="0"/>
              <a:t> : </a:t>
            </a:r>
            <a:r>
              <a:rPr dirty="0" err="1"/>
              <a:t>elles</a:t>
            </a:r>
            <a:r>
              <a:rPr dirty="0"/>
              <a:t> </a:t>
            </a:r>
            <a:r>
              <a:rPr dirty="0" err="1"/>
              <a:t>sont</a:t>
            </a:r>
            <a:r>
              <a:rPr dirty="0"/>
              <a:t> </a:t>
            </a:r>
            <a:r>
              <a:rPr dirty="0" err="1"/>
              <a:t>alimentées</a:t>
            </a:r>
            <a:r>
              <a:rPr dirty="0"/>
              <a:t> au fil de </a:t>
            </a:r>
            <a:r>
              <a:rPr dirty="0" err="1"/>
              <a:t>l'activité</a:t>
            </a:r>
            <a:r>
              <a:rPr dirty="0"/>
              <a:t>, sans </a:t>
            </a:r>
            <a:r>
              <a:rPr dirty="0" err="1"/>
              <a:t>être</a:t>
            </a:r>
            <a:r>
              <a:rPr dirty="0"/>
              <a:t> </a:t>
            </a:r>
            <a:r>
              <a:rPr dirty="0" err="1"/>
              <a:t>reliées</a:t>
            </a:r>
            <a:r>
              <a:rPr dirty="0"/>
              <a:t> </a:t>
            </a:r>
            <a:r>
              <a:rPr dirty="0" err="1"/>
              <a:t>ni</a:t>
            </a:r>
            <a:r>
              <a:rPr dirty="0"/>
              <a:t> </a:t>
            </a:r>
            <a:r>
              <a:rPr dirty="0" err="1"/>
              <a:t>exploitées</a:t>
            </a:r>
            <a:r>
              <a:rPr dirty="0"/>
              <a:t> de manière </a:t>
            </a:r>
            <a:r>
              <a:rPr dirty="0" err="1"/>
              <a:t>systématique</a:t>
            </a:r>
            <a:r>
              <a:rPr dirty="0"/>
              <a:t>. Le </a:t>
            </a:r>
            <a:r>
              <a:rPr dirty="0" err="1"/>
              <a:t>suivi</a:t>
            </a:r>
            <a:r>
              <a:rPr dirty="0"/>
              <a:t> de </a:t>
            </a:r>
            <a:r>
              <a:rPr dirty="0" err="1"/>
              <a:t>l'activité</a:t>
            </a:r>
            <a:r>
              <a:rPr dirty="0"/>
              <a:t> repose sur la consultation </a:t>
            </a:r>
            <a:r>
              <a:rPr dirty="0" err="1"/>
              <a:t>manuelle</a:t>
            </a:r>
            <a:r>
              <a:rPr dirty="0"/>
              <a:t> des </a:t>
            </a:r>
            <a:r>
              <a:rPr dirty="0" err="1"/>
              <a:t>fichiers</a:t>
            </a:r>
            <a:r>
              <a:rPr dirty="0"/>
              <a:t>, et le conseil sur la </a:t>
            </a:r>
            <a:r>
              <a:rPr dirty="0" err="1"/>
              <a:t>mémoire</a:t>
            </a:r>
            <a:r>
              <a:rPr dirty="0"/>
              <a:t> et </a:t>
            </a:r>
            <a:r>
              <a:rPr dirty="0" err="1"/>
              <a:t>l'expérience</a:t>
            </a:r>
            <a:r>
              <a:rPr dirty="0"/>
              <a:t> de </a:t>
            </a:r>
            <a:r>
              <a:rPr dirty="0" err="1"/>
              <a:t>chaque</a:t>
            </a:r>
            <a:r>
              <a:rPr dirty="0"/>
              <a:t> </a:t>
            </a:r>
            <a:r>
              <a:rPr dirty="0" err="1"/>
              <a:t>conseiller</a:t>
            </a:r>
            <a:r>
              <a:rPr dirty="0"/>
              <a:t>. »</a:t>
            </a:r>
          </a:p>
          <a:p>
            <a:r>
              <a:rPr dirty="0"/>
              <a:t>Transition : « </a:t>
            </a:r>
            <a:r>
              <a:rPr dirty="0" err="1"/>
              <a:t>Cette</a:t>
            </a:r>
            <a:r>
              <a:rPr dirty="0"/>
              <a:t> </a:t>
            </a:r>
            <a:r>
              <a:rPr dirty="0" err="1"/>
              <a:t>organisation</a:t>
            </a:r>
            <a:r>
              <a:rPr dirty="0"/>
              <a:t> a des </a:t>
            </a:r>
            <a:r>
              <a:rPr dirty="0" err="1"/>
              <a:t>conséquences</a:t>
            </a:r>
            <a:r>
              <a:rPr dirty="0"/>
              <a:t> </a:t>
            </a:r>
            <a:r>
              <a:rPr dirty="0" err="1"/>
              <a:t>directes</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J'ai</a:t>
            </a:r>
            <a:r>
              <a:rPr dirty="0"/>
              <a:t> </a:t>
            </a:r>
            <a:r>
              <a:rPr dirty="0" err="1"/>
              <a:t>relevé</a:t>
            </a:r>
            <a:r>
              <a:rPr dirty="0"/>
              <a:t> cinq </a:t>
            </a:r>
            <a:r>
              <a:rPr dirty="0" err="1"/>
              <a:t>limites</a:t>
            </a:r>
            <a:r>
              <a:rPr dirty="0"/>
              <a:t>. Le chiffre </a:t>
            </a:r>
            <a:r>
              <a:rPr dirty="0" err="1"/>
              <a:t>d'affaires</a:t>
            </a:r>
            <a:r>
              <a:rPr dirty="0"/>
              <a:t>, le panier </a:t>
            </a:r>
            <a:r>
              <a:rPr dirty="0" err="1"/>
              <a:t>moyen</a:t>
            </a:r>
            <a:r>
              <a:rPr dirty="0"/>
              <a:t> </a:t>
            </a:r>
            <a:r>
              <a:rPr dirty="0" err="1"/>
              <a:t>ou</a:t>
            </a:r>
            <a:r>
              <a:rPr dirty="0"/>
              <a:t> le </a:t>
            </a:r>
            <a:r>
              <a:rPr dirty="0" err="1"/>
              <a:t>taux</a:t>
            </a:r>
            <a:r>
              <a:rPr dirty="0"/>
              <a:t> </a:t>
            </a:r>
            <a:r>
              <a:rPr dirty="0" err="1"/>
              <a:t>d'annulation</a:t>
            </a:r>
            <a:r>
              <a:rPr dirty="0"/>
              <a:t> ne </a:t>
            </a:r>
            <a:r>
              <a:rPr dirty="0" err="1"/>
              <a:t>sont</a:t>
            </a:r>
            <a:r>
              <a:rPr dirty="0"/>
              <a:t> </a:t>
            </a:r>
            <a:r>
              <a:rPr dirty="0" err="1"/>
              <a:t>suivis</a:t>
            </a:r>
            <a:r>
              <a:rPr dirty="0"/>
              <a:t> </a:t>
            </a:r>
            <a:r>
              <a:rPr dirty="0" err="1"/>
              <a:t>ni</a:t>
            </a:r>
            <a:r>
              <a:rPr dirty="0"/>
              <a:t> dans le temps </a:t>
            </a:r>
            <a:r>
              <a:rPr dirty="0" err="1"/>
              <a:t>ni</a:t>
            </a:r>
            <a:r>
              <a:rPr dirty="0"/>
              <a:t> par canal. La </a:t>
            </a:r>
            <a:r>
              <a:rPr dirty="0" err="1"/>
              <a:t>saisonnalité</a:t>
            </a:r>
            <a:r>
              <a:rPr dirty="0"/>
              <a:t> et les destinations </a:t>
            </a:r>
            <a:r>
              <a:rPr dirty="0" err="1"/>
              <a:t>rentables</a:t>
            </a:r>
            <a:r>
              <a:rPr dirty="0"/>
              <a:t> </a:t>
            </a:r>
            <a:r>
              <a:rPr dirty="0" err="1"/>
              <a:t>sont</a:t>
            </a:r>
            <a:r>
              <a:rPr dirty="0"/>
              <a:t> </a:t>
            </a:r>
            <a:r>
              <a:rPr dirty="0" err="1"/>
              <a:t>difficiles</a:t>
            </a:r>
            <a:r>
              <a:rPr dirty="0"/>
              <a:t> à identifier. La </a:t>
            </a:r>
            <a:r>
              <a:rPr dirty="0" err="1"/>
              <a:t>connaissance</a:t>
            </a:r>
            <a:r>
              <a:rPr dirty="0"/>
              <a:t> client </a:t>
            </a:r>
            <a:r>
              <a:rPr dirty="0" err="1"/>
              <a:t>n'est</a:t>
            </a:r>
            <a:r>
              <a:rPr dirty="0"/>
              <a:t> pas </a:t>
            </a:r>
            <a:r>
              <a:rPr dirty="0" err="1"/>
              <a:t>formalisée</a:t>
            </a:r>
            <a:r>
              <a:rPr dirty="0"/>
              <a:t>. Les propositions ne </a:t>
            </a:r>
            <a:r>
              <a:rPr dirty="0" err="1"/>
              <a:t>s'appuient</a:t>
            </a:r>
            <a:r>
              <a:rPr dirty="0"/>
              <a:t> pas sur </a:t>
            </a:r>
            <a:r>
              <a:rPr dirty="0" err="1"/>
              <a:t>l'historique</a:t>
            </a:r>
            <a:r>
              <a:rPr dirty="0"/>
              <a:t>. </a:t>
            </a:r>
            <a:r>
              <a:rPr dirty="0" err="1"/>
              <a:t>Enfin</a:t>
            </a:r>
            <a:r>
              <a:rPr dirty="0"/>
              <a:t>, et </a:t>
            </a:r>
            <a:r>
              <a:rPr dirty="0" err="1"/>
              <a:t>c'est</a:t>
            </a:r>
            <a:r>
              <a:rPr dirty="0"/>
              <a:t> un point que </a:t>
            </a:r>
            <a:r>
              <a:rPr dirty="0" err="1"/>
              <a:t>j'assume</a:t>
            </a:r>
            <a:r>
              <a:rPr dirty="0"/>
              <a:t> tout au long de </a:t>
            </a:r>
            <a:r>
              <a:rPr dirty="0" err="1"/>
              <a:t>ce</a:t>
            </a:r>
            <a:r>
              <a:rPr dirty="0"/>
              <a:t> travail, </a:t>
            </a:r>
            <a:r>
              <a:rPr dirty="0" err="1"/>
              <a:t>l'historique</a:t>
            </a:r>
            <a:r>
              <a:rPr dirty="0"/>
              <a:t> </a:t>
            </a:r>
            <a:r>
              <a:rPr dirty="0" err="1"/>
              <a:t>réel</a:t>
            </a:r>
            <a:r>
              <a:rPr dirty="0"/>
              <a:t> </a:t>
            </a:r>
            <a:r>
              <a:rPr dirty="0" err="1"/>
              <a:t>est</a:t>
            </a:r>
            <a:r>
              <a:rPr dirty="0"/>
              <a:t> </a:t>
            </a:r>
            <a:r>
              <a:rPr dirty="0" err="1"/>
              <a:t>très</a:t>
            </a:r>
            <a:r>
              <a:rPr dirty="0"/>
              <a:t> </a:t>
            </a:r>
            <a:r>
              <a:rPr dirty="0" err="1"/>
              <a:t>réduit</a:t>
            </a:r>
            <a:r>
              <a:rPr dirty="0"/>
              <a:t>, </a:t>
            </a:r>
            <a:r>
              <a:rPr dirty="0" err="1"/>
              <a:t>ce</a:t>
            </a:r>
            <a:r>
              <a:rPr dirty="0"/>
              <a:t> qui </a:t>
            </a:r>
            <a:r>
              <a:rPr dirty="0" err="1"/>
              <a:t>limite</a:t>
            </a:r>
            <a:r>
              <a:rPr dirty="0"/>
              <a:t> </a:t>
            </a:r>
            <a:r>
              <a:rPr dirty="0" err="1"/>
              <a:t>toute</a:t>
            </a:r>
            <a:r>
              <a:rPr dirty="0"/>
              <a:t> </a:t>
            </a:r>
            <a:r>
              <a:rPr dirty="0" err="1"/>
              <a:t>analyse</a:t>
            </a:r>
            <a:r>
              <a:rPr dirty="0"/>
              <a:t> </a:t>
            </a:r>
            <a:r>
              <a:rPr dirty="0" err="1"/>
              <a:t>statistique</a:t>
            </a:r>
            <a:r>
              <a:rPr dirty="0"/>
              <a:t> </a:t>
            </a:r>
            <a:r>
              <a:rPr dirty="0" err="1"/>
              <a:t>directe</a:t>
            </a:r>
            <a:r>
              <a:rPr dirty="0"/>
              <a:t>. »</a:t>
            </a:r>
          </a:p>
          <a:p>
            <a:r>
              <a:rPr dirty="0"/>
              <a:t>Transition : « Tout </a:t>
            </a:r>
            <a:r>
              <a:rPr dirty="0" err="1"/>
              <a:t>cela</a:t>
            </a:r>
            <a:r>
              <a:rPr dirty="0"/>
              <a:t> se </a:t>
            </a:r>
            <a:r>
              <a:rPr dirty="0" err="1"/>
              <a:t>résume</a:t>
            </a:r>
            <a:r>
              <a:rPr dirty="0"/>
              <a:t> </a:t>
            </a:r>
            <a:r>
              <a:rPr dirty="0" err="1"/>
              <a:t>en</a:t>
            </a:r>
            <a:r>
              <a:rPr dirty="0"/>
              <a:t> </a:t>
            </a:r>
            <a:r>
              <a:rPr dirty="0" err="1"/>
              <a:t>une</a:t>
            </a:r>
            <a:r>
              <a:rPr dirty="0"/>
              <a:t> question. »</a:t>
            </a:r>
          </a:p>
          <a:p>
            <a:r>
              <a:rPr dirty="0"/>
              <a:t>Conseil : insister sur la </a:t>
            </a:r>
            <a:r>
              <a:rPr dirty="0" err="1"/>
              <a:t>cinquième</a:t>
            </a:r>
            <a:r>
              <a:rPr dirty="0"/>
              <a:t> </a:t>
            </a:r>
            <a:r>
              <a:rPr dirty="0" err="1"/>
              <a:t>limite</a:t>
            </a:r>
            <a:r>
              <a:rPr dirty="0"/>
              <a:t> : </a:t>
            </a:r>
            <a:r>
              <a:rPr dirty="0" err="1"/>
              <a:t>elle</a:t>
            </a:r>
            <a:r>
              <a:rPr dirty="0"/>
              <a:t> </a:t>
            </a:r>
            <a:r>
              <a:rPr dirty="0" err="1"/>
              <a:t>prépare</a:t>
            </a:r>
            <a:r>
              <a:rPr dirty="0"/>
              <a:t> la diapositive sur </a:t>
            </a:r>
            <a:r>
              <a:rPr dirty="0" err="1"/>
              <a:t>l'augmentation</a:t>
            </a:r>
            <a:r>
              <a:rPr dirty="0"/>
              <a:t> des </a:t>
            </a:r>
            <a:r>
              <a:rPr dirty="0" err="1"/>
              <a:t>données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Diapositive d'appui : laisser les chiffres parler quelques secondes, puis enchaîner sur la problématique.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L'agence</a:t>
            </a:r>
            <a:r>
              <a:rPr dirty="0"/>
              <a:t> dispose de </a:t>
            </a:r>
            <a:r>
              <a:rPr dirty="0" err="1"/>
              <a:t>données</a:t>
            </a:r>
            <a:r>
              <a:rPr dirty="0"/>
              <a:t> </a:t>
            </a:r>
            <a:r>
              <a:rPr dirty="0" err="1"/>
              <a:t>précieuses</a:t>
            </a:r>
            <a:r>
              <a:rPr dirty="0"/>
              <a:t>, </a:t>
            </a:r>
            <a:r>
              <a:rPr dirty="0" err="1"/>
              <a:t>mais</a:t>
            </a:r>
            <a:r>
              <a:rPr dirty="0"/>
              <a:t> </a:t>
            </a:r>
            <a:r>
              <a:rPr dirty="0" err="1"/>
              <a:t>elle</a:t>
            </a:r>
            <a:r>
              <a:rPr dirty="0"/>
              <a:t> ne </a:t>
            </a:r>
            <a:r>
              <a:rPr dirty="0" err="1"/>
              <a:t>peut</a:t>
            </a:r>
            <a:r>
              <a:rPr dirty="0"/>
              <a:t> </a:t>
            </a:r>
            <a:r>
              <a:rPr dirty="0" err="1"/>
              <a:t>ni</a:t>
            </a:r>
            <a:r>
              <a:rPr dirty="0"/>
              <a:t> </a:t>
            </a:r>
            <a:r>
              <a:rPr dirty="0" err="1"/>
              <a:t>piloter</a:t>
            </a:r>
            <a:r>
              <a:rPr dirty="0"/>
              <a:t> son </a:t>
            </a:r>
            <a:r>
              <a:rPr dirty="0" err="1"/>
              <a:t>activité</a:t>
            </a:r>
            <a:r>
              <a:rPr dirty="0"/>
              <a:t> à </a:t>
            </a:r>
            <a:r>
              <a:rPr dirty="0" err="1"/>
              <a:t>partir</a:t>
            </a:r>
            <a:r>
              <a:rPr dirty="0"/>
              <a:t> </a:t>
            </a:r>
            <a:r>
              <a:rPr dirty="0" err="1"/>
              <a:t>d'indicateurs</a:t>
            </a:r>
            <a:r>
              <a:rPr dirty="0"/>
              <a:t> </a:t>
            </a:r>
            <a:r>
              <a:rPr dirty="0" err="1"/>
              <a:t>fiables</a:t>
            </a:r>
            <a:r>
              <a:rPr dirty="0"/>
              <a:t>, </a:t>
            </a:r>
            <a:r>
              <a:rPr dirty="0" err="1"/>
              <a:t>ni</a:t>
            </a:r>
            <a:r>
              <a:rPr dirty="0"/>
              <a:t> </a:t>
            </a:r>
            <a:r>
              <a:rPr dirty="0" err="1"/>
              <a:t>s'en</a:t>
            </a:r>
            <a:r>
              <a:rPr dirty="0"/>
              <a:t> </a:t>
            </a:r>
            <a:r>
              <a:rPr dirty="0" err="1"/>
              <a:t>servir</a:t>
            </a:r>
            <a:r>
              <a:rPr dirty="0"/>
              <a:t> pour </a:t>
            </a:r>
            <a:r>
              <a:rPr dirty="0" err="1"/>
              <a:t>conseiller</a:t>
            </a:r>
            <a:r>
              <a:rPr dirty="0"/>
              <a:t> </a:t>
            </a:r>
            <a:r>
              <a:rPr dirty="0" err="1"/>
              <a:t>chaque</a:t>
            </a:r>
            <a:r>
              <a:rPr dirty="0"/>
              <a:t> client. Le pilotage </a:t>
            </a:r>
            <a:r>
              <a:rPr dirty="0" err="1"/>
              <a:t>comme</a:t>
            </a:r>
            <a:r>
              <a:rPr dirty="0"/>
              <a:t> le conseil </a:t>
            </a:r>
            <a:r>
              <a:rPr dirty="0" err="1"/>
              <a:t>dépendent</a:t>
            </a:r>
            <a:r>
              <a:rPr dirty="0"/>
              <a:t> des </a:t>
            </a:r>
            <a:r>
              <a:rPr dirty="0" err="1"/>
              <a:t>personnes</a:t>
            </a:r>
            <a:r>
              <a:rPr dirty="0"/>
              <a:t>, et non des </a:t>
            </a:r>
            <a:r>
              <a:rPr dirty="0" err="1"/>
              <a:t>données</a:t>
            </a:r>
            <a:r>
              <a:rPr dirty="0"/>
              <a:t>. »</a:t>
            </a:r>
          </a:p>
          <a:p>
            <a:r>
              <a:rPr dirty="0"/>
              <a:t>Transition : « Ma </a:t>
            </a:r>
            <a:r>
              <a:rPr dirty="0" err="1"/>
              <a:t>réponse</a:t>
            </a:r>
            <a:r>
              <a:rPr dirty="0"/>
              <a:t> </a:t>
            </a:r>
            <a:r>
              <a:rPr dirty="0" err="1"/>
              <a:t>tient</a:t>
            </a:r>
            <a:r>
              <a:rPr dirty="0"/>
              <a:t> </a:t>
            </a:r>
            <a:r>
              <a:rPr dirty="0" err="1"/>
              <a:t>en</a:t>
            </a:r>
            <a:r>
              <a:rPr dirty="0"/>
              <a:t> un nom : </a:t>
            </a:r>
            <a:r>
              <a:rPr dirty="0" err="1"/>
              <a:t>TravelBI</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a:t>
            </a:r>
            <a:r>
              <a:rPr dirty="0" err="1"/>
              <a:t>J'ai</a:t>
            </a:r>
            <a:r>
              <a:rPr dirty="0"/>
              <a:t> </a:t>
            </a:r>
            <a:r>
              <a:rPr dirty="0" err="1"/>
              <a:t>conçu</a:t>
            </a:r>
            <a:r>
              <a:rPr dirty="0"/>
              <a:t> et </a:t>
            </a:r>
            <a:r>
              <a:rPr dirty="0" err="1"/>
              <a:t>réalisé</a:t>
            </a:r>
            <a:r>
              <a:rPr dirty="0"/>
              <a:t> un </a:t>
            </a:r>
            <a:r>
              <a:rPr dirty="0" err="1"/>
              <a:t>système</a:t>
            </a:r>
            <a:r>
              <a:rPr dirty="0"/>
              <a:t> </a:t>
            </a:r>
            <a:r>
              <a:rPr dirty="0" err="1"/>
              <a:t>décisionnel</a:t>
            </a:r>
            <a:r>
              <a:rPr dirty="0"/>
              <a:t> </a:t>
            </a:r>
            <a:r>
              <a:rPr dirty="0" err="1"/>
              <a:t>en</a:t>
            </a:r>
            <a:r>
              <a:rPr dirty="0"/>
              <a:t> trois volets. Un volet </a:t>
            </a:r>
            <a:r>
              <a:rPr dirty="0" err="1"/>
              <a:t>données</a:t>
            </a:r>
            <a:r>
              <a:rPr dirty="0"/>
              <a:t> : un pipeline Python qui charge, </a:t>
            </a:r>
            <a:r>
              <a:rPr dirty="0" err="1"/>
              <a:t>nettoie</a:t>
            </a:r>
            <a:r>
              <a:rPr dirty="0"/>
              <a:t>, </a:t>
            </a:r>
            <a:r>
              <a:rPr dirty="0" err="1"/>
              <a:t>enrichit</a:t>
            </a:r>
            <a:r>
              <a:rPr dirty="0"/>
              <a:t> et structure les </a:t>
            </a:r>
            <a:r>
              <a:rPr dirty="0" err="1"/>
              <a:t>données</a:t>
            </a:r>
            <a:r>
              <a:rPr dirty="0"/>
              <a:t> </a:t>
            </a:r>
            <a:r>
              <a:rPr dirty="0" err="1"/>
              <a:t>en</a:t>
            </a:r>
            <a:r>
              <a:rPr dirty="0"/>
              <a:t> </a:t>
            </a:r>
            <a:r>
              <a:rPr dirty="0" err="1"/>
              <a:t>modèle</a:t>
            </a:r>
            <a:r>
              <a:rPr dirty="0"/>
              <a:t> </a:t>
            </a:r>
            <a:r>
              <a:rPr dirty="0" err="1"/>
              <a:t>en</a:t>
            </a:r>
            <a:r>
              <a:rPr dirty="0"/>
              <a:t> étoile. Un volet </a:t>
            </a:r>
            <a:r>
              <a:rPr dirty="0" err="1"/>
              <a:t>décisionnel</a:t>
            </a:r>
            <a:r>
              <a:rPr dirty="0"/>
              <a:t> : un rapport Power BI de cinq pages. Un volet intelligent : un </a:t>
            </a:r>
            <a:r>
              <a:rPr dirty="0" err="1"/>
              <a:t>moteur</a:t>
            </a:r>
            <a:r>
              <a:rPr dirty="0"/>
              <a:t> de </a:t>
            </a:r>
            <a:r>
              <a:rPr dirty="0" err="1"/>
              <a:t>recommandation</a:t>
            </a:r>
            <a:r>
              <a:rPr dirty="0"/>
              <a:t> </a:t>
            </a:r>
            <a:r>
              <a:rPr dirty="0" err="1"/>
              <a:t>hybride</a:t>
            </a:r>
            <a:r>
              <a:rPr dirty="0"/>
              <a:t>. </a:t>
            </a:r>
            <a:r>
              <a:rPr dirty="0" err="1"/>
              <a:t>Ces</a:t>
            </a:r>
            <a:r>
              <a:rPr dirty="0"/>
              <a:t> trois volets </a:t>
            </a:r>
            <a:r>
              <a:rPr dirty="0" err="1"/>
              <a:t>sont</a:t>
            </a:r>
            <a:r>
              <a:rPr dirty="0"/>
              <a:t> </a:t>
            </a:r>
            <a:r>
              <a:rPr dirty="0" err="1"/>
              <a:t>réunis</a:t>
            </a:r>
            <a:r>
              <a:rPr dirty="0"/>
              <a:t> dans </a:t>
            </a:r>
            <a:r>
              <a:rPr dirty="0" err="1"/>
              <a:t>une</a:t>
            </a:r>
            <a:r>
              <a:rPr dirty="0"/>
              <a:t> application de bureau, </a:t>
            </a:r>
            <a:r>
              <a:rPr dirty="0" err="1"/>
              <a:t>TravelBI</a:t>
            </a:r>
            <a:r>
              <a:rPr dirty="0"/>
              <a:t>, qui affiche les </a:t>
            </a:r>
            <a:r>
              <a:rPr dirty="0" err="1"/>
              <a:t>indicateurs</a:t>
            </a:r>
            <a:r>
              <a:rPr dirty="0"/>
              <a:t>, </a:t>
            </a:r>
            <a:r>
              <a:rPr dirty="0" err="1"/>
              <a:t>intègre</a:t>
            </a:r>
            <a:r>
              <a:rPr dirty="0"/>
              <a:t> les rapports Power BI et </a:t>
            </a:r>
            <a:r>
              <a:rPr dirty="0" err="1"/>
              <a:t>calcule</a:t>
            </a:r>
            <a:r>
              <a:rPr dirty="0"/>
              <a:t> les </a:t>
            </a:r>
            <a:r>
              <a:rPr dirty="0" err="1"/>
              <a:t>recommandations</a:t>
            </a:r>
            <a:r>
              <a:rPr dirty="0"/>
              <a:t> </a:t>
            </a:r>
            <a:r>
              <a:rPr dirty="0" err="1"/>
              <a:t>localement</a:t>
            </a:r>
            <a:r>
              <a:rPr dirty="0"/>
              <a:t>, pour un client </a:t>
            </a:r>
            <a:r>
              <a:rPr dirty="0" err="1"/>
              <a:t>existant</a:t>
            </a:r>
            <a:r>
              <a:rPr dirty="0"/>
              <a:t> </a:t>
            </a:r>
            <a:r>
              <a:rPr dirty="0" err="1"/>
              <a:t>comme</a:t>
            </a:r>
            <a:r>
              <a:rPr dirty="0"/>
              <a:t> pour un nouveau client. »</a:t>
            </a:r>
          </a:p>
          <a:p>
            <a:r>
              <a:rPr dirty="0"/>
              <a:t>Transition : « Pour arriver à </a:t>
            </a:r>
            <a:r>
              <a:rPr dirty="0" err="1"/>
              <a:t>cette</a:t>
            </a:r>
            <a:r>
              <a:rPr dirty="0"/>
              <a:t> solution, je </a:t>
            </a:r>
            <a:r>
              <a:rPr dirty="0" err="1"/>
              <a:t>suis</a:t>
            </a:r>
            <a:r>
              <a:rPr dirty="0"/>
              <a:t> </a:t>
            </a:r>
            <a:r>
              <a:rPr dirty="0" err="1"/>
              <a:t>partie</a:t>
            </a:r>
            <a:r>
              <a:rPr dirty="0"/>
              <a:t> des </a:t>
            </a:r>
            <a:r>
              <a:rPr dirty="0" err="1"/>
              <a:t>besoins</a:t>
            </a:r>
            <a:r>
              <a:rPr dirty="0"/>
              <a:t>. »</a:t>
            </a:r>
          </a:p>
          <a:p>
            <a:r>
              <a:rPr dirty="0"/>
              <a:t>Conseil : </a:t>
            </a:r>
            <a:r>
              <a:rPr dirty="0" err="1"/>
              <a:t>c'est</a:t>
            </a:r>
            <a:r>
              <a:rPr dirty="0"/>
              <a:t> la diapositive que le jury </a:t>
            </a:r>
            <a:r>
              <a:rPr dirty="0" err="1"/>
              <a:t>retiendra</a:t>
            </a:r>
            <a:r>
              <a:rPr dirty="0"/>
              <a:t> ; </a:t>
            </a:r>
            <a:r>
              <a:rPr dirty="0" err="1"/>
              <a:t>ralentir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J'ai</a:t>
            </a:r>
            <a:r>
              <a:rPr dirty="0"/>
              <a:t> </a:t>
            </a:r>
            <a:r>
              <a:rPr dirty="0" err="1"/>
              <a:t>identifié</a:t>
            </a:r>
            <a:r>
              <a:rPr dirty="0"/>
              <a:t> dix </a:t>
            </a:r>
            <a:r>
              <a:rPr dirty="0" err="1"/>
              <a:t>besoins</a:t>
            </a:r>
            <a:r>
              <a:rPr dirty="0"/>
              <a:t> </a:t>
            </a:r>
            <a:r>
              <a:rPr dirty="0" err="1"/>
              <a:t>fonctionnels</a:t>
            </a:r>
            <a:r>
              <a:rPr dirty="0"/>
              <a:t>, </a:t>
            </a:r>
            <a:r>
              <a:rPr dirty="0" err="1"/>
              <a:t>regroupés</a:t>
            </a:r>
            <a:r>
              <a:rPr dirty="0"/>
              <a:t> </a:t>
            </a:r>
            <a:r>
              <a:rPr dirty="0" err="1"/>
              <a:t>en</a:t>
            </a:r>
            <a:r>
              <a:rPr dirty="0"/>
              <a:t> quatre </a:t>
            </a:r>
            <a:r>
              <a:rPr dirty="0" err="1"/>
              <a:t>familles</a:t>
            </a:r>
            <a:r>
              <a:rPr dirty="0"/>
              <a:t> qui correspondent à </a:t>
            </a:r>
            <a:r>
              <a:rPr dirty="0" err="1"/>
              <a:t>mes</a:t>
            </a:r>
            <a:r>
              <a:rPr dirty="0"/>
              <a:t> quatre sprints. </a:t>
            </a:r>
            <a:r>
              <a:rPr dirty="0" err="1"/>
              <a:t>Préparer</a:t>
            </a:r>
            <a:r>
              <a:rPr dirty="0"/>
              <a:t> les </a:t>
            </a:r>
            <a:r>
              <a:rPr dirty="0" err="1"/>
              <a:t>données</a:t>
            </a:r>
            <a:r>
              <a:rPr dirty="0"/>
              <a:t> : les charger, </a:t>
            </a:r>
            <a:r>
              <a:rPr dirty="0" err="1"/>
              <a:t>en</a:t>
            </a:r>
            <a:r>
              <a:rPr dirty="0"/>
              <a:t> </a:t>
            </a:r>
            <a:r>
              <a:rPr dirty="0" err="1"/>
              <a:t>décrire</a:t>
            </a:r>
            <a:r>
              <a:rPr dirty="0"/>
              <a:t> la </a:t>
            </a:r>
            <a:r>
              <a:rPr dirty="0" err="1"/>
              <a:t>qualité</a:t>
            </a:r>
            <a:r>
              <a:rPr dirty="0"/>
              <a:t>, les </a:t>
            </a:r>
            <a:r>
              <a:rPr dirty="0" err="1"/>
              <a:t>nettoyer</a:t>
            </a:r>
            <a:r>
              <a:rPr dirty="0"/>
              <a:t>, </a:t>
            </a:r>
            <a:r>
              <a:rPr dirty="0" err="1"/>
              <a:t>calculer</a:t>
            </a:r>
            <a:r>
              <a:rPr dirty="0"/>
              <a:t> les </a:t>
            </a:r>
            <a:r>
              <a:rPr dirty="0" err="1"/>
              <a:t>indicateurs</a:t>
            </a:r>
            <a:r>
              <a:rPr dirty="0"/>
              <a:t> par client et par destination, </a:t>
            </a:r>
            <a:r>
              <a:rPr dirty="0" err="1"/>
              <a:t>puis</a:t>
            </a:r>
            <a:r>
              <a:rPr dirty="0"/>
              <a:t> </a:t>
            </a:r>
            <a:r>
              <a:rPr dirty="0" err="1"/>
              <a:t>segmenter</a:t>
            </a:r>
            <a:r>
              <a:rPr dirty="0"/>
              <a:t> la </a:t>
            </a:r>
            <a:r>
              <a:rPr dirty="0" err="1"/>
              <a:t>clientèle</a:t>
            </a:r>
            <a:r>
              <a:rPr dirty="0"/>
              <a:t>. </a:t>
            </a:r>
            <a:r>
              <a:rPr dirty="0" err="1"/>
              <a:t>Restituer</a:t>
            </a:r>
            <a:r>
              <a:rPr dirty="0"/>
              <a:t> : exporter un </a:t>
            </a:r>
            <a:r>
              <a:rPr dirty="0" err="1"/>
              <a:t>modèle</a:t>
            </a:r>
            <a:r>
              <a:rPr dirty="0"/>
              <a:t> </a:t>
            </a:r>
            <a:r>
              <a:rPr dirty="0" err="1"/>
              <a:t>en</a:t>
            </a:r>
            <a:r>
              <a:rPr dirty="0"/>
              <a:t> étoile et proposer des tableaux de bord </a:t>
            </a:r>
            <a:r>
              <a:rPr dirty="0" err="1"/>
              <a:t>filtrables</a:t>
            </a:r>
            <a:r>
              <a:rPr dirty="0"/>
              <a:t>. </a:t>
            </a:r>
            <a:r>
              <a:rPr dirty="0" err="1"/>
              <a:t>Recommander</a:t>
            </a:r>
            <a:r>
              <a:rPr dirty="0"/>
              <a:t> : pour un client </a:t>
            </a:r>
            <a:r>
              <a:rPr dirty="0" err="1"/>
              <a:t>existant</a:t>
            </a:r>
            <a:r>
              <a:rPr dirty="0"/>
              <a:t>, les destinations les plus </a:t>
            </a:r>
            <a:r>
              <a:rPr dirty="0" err="1"/>
              <a:t>pertinentes</a:t>
            </a:r>
            <a:r>
              <a:rPr dirty="0"/>
              <a:t> </a:t>
            </a:r>
            <a:r>
              <a:rPr dirty="0" err="1"/>
              <a:t>qu'il</a:t>
            </a:r>
            <a:r>
              <a:rPr dirty="0"/>
              <a:t> </a:t>
            </a:r>
            <a:r>
              <a:rPr dirty="0" err="1"/>
              <a:t>n'a</a:t>
            </a:r>
            <a:r>
              <a:rPr dirty="0"/>
              <a:t> pas encore </a:t>
            </a:r>
            <a:r>
              <a:rPr dirty="0" err="1"/>
              <a:t>réservées</a:t>
            </a:r>
            <a:r>
              <a:rPr dirty="0"/>
              <a:t>, avec un score et </a:t>
            </a:r>
            <a:r>
              <a:rPr dirty="0" err="1"/>
              <a:t>une</a:t>
            </a:r>
            <a:r>
              <a:rPr dirty="0"/>
              <a:t> explication, et </a:t>
            </a:r>
            <a:r>
              <a:rPr dirty="0" err="1"/>
              <a:t>aussi</a:t>
            </a:r>
            <a:r>
              <a:rPr dirty="0"/>
              <a:t> pour un nouveau client à </a:t>
            </a:r>
            <a:r>
              <a:rPr dirty="0" err="1"/>
              <a:t>partir</a:t>
            </a:r>
            <a:r>
              <a:rPr dirty="0"/>
              <a:t> de son </a:t>
            </a:r>
            <a:r>
              <a:rPr dirty="0" err="1"/>
              <a:t>seul</a:t>
            </a:r>
            <a:r>
              <a:rPr dirty="0"/>
              <a:t> </a:t>
            </a:r>
            <a:r>
              <a:rPr dirty="0" err="1"/>
              <a:t>profil</a:t>
            </a:r>
            <a:r>
              <a:rPr dirty="0"/>
              <a:t>. </a:t>
            </a:r>
            <a:r>
              <a:rPr dirty="0" err="1"/>
              <a:t>Enfin</a:t>
            </a:r>
            <a:r>
              <a:rPr dirty="0"/>
              <a:t>, </a:t>
            </a:r>
            <a:r>
              <a:rPr dirty="0" err="1"/>
              <a:t>réunir</a:t>
            </a:r>
            <a:r>
              <a:rPr dirty="0"/>
              <a:t> le tout dans </a:t>
            </a:r>
            <a:r>
              <a:rPr dirty="0" err="1"/>
              <a:t>une</a:t>
            </a:r>
            <a:r>
              <a:rPr dirty="0"/>
              <a:t> application de bureau. »</a:t>
            </a:r>
          </a:p>
          <a:p>
            <a:r>
              <a:rPr dirty="0"/>
              <a:t>Transition : « À </a:t>
            </a:r>
            <a:r>
              <a:rPr dirty="0" err="1"/>
              <a:t>ces</a:t>
            </a:r>
            <a:r>
              <a:rPr dirty="0"/>
              <a:t> </a:t>
            </a:r>
            <a:r>
              <a:rPr dirty="0" err="1"/>
              <a:t>fonctions</a:t>
            </a:r>
            <a:r>
              <a:rPr dirty="0"/>
              <a:t> </a:t>
            </a:r>
            <a:r>
              <a:rPr dirty="0" err="1"/>
              <a:t>s'ajoutent</a:t>
            </a:r>
            <a:r>
              <a:rPr dirty="0"/>
              <a:t> des exigences de </a:t>
            </a:r>
            <a:r>
              <a:rPr dirty="0" err="1"/>
              <a:t>qualité</a:t>
            </a:r>
            <a:r>
              <a:rPr dirty="0"/>
              <a:t>. »</a:t>
            </a:r>
          </a:p>
          <a:p>
            <a:r>
              <a:rPr dirty="0"/>
              <a:t>Conseil : ne pas </a:t>
            </a:r>
            <a:r>
              <a:rPr dirty="0" err="1"/>
              <a:t>énumérer</a:t>
            </a:r>
            <a:r>
              <a:rPr dirty="0"/>
              <a:t> BF1 à BF10 ; </a:t>
            </a:r>
            <a:r>
              <a:rPr dirty="0" err="1"/>
              <a:t>parler</a:t>
            </a:r>
            <a:r>
              <a:rPr dirty="0"/>
              <a:t> par </a:t>
            </a:r>
            <a:r>
              <a:rPr dirty="0" err="1"/>
              <a:t>famille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huit pictogrammes sur deux lignes : fiabilité, reproductibilité, cohérence, explicabilité, performance (moins d'une seconde), autonomie (hors ligne, sans Python), ergonomie (français), confidentialité.</a:t>
            </a:r>
          </a:p>
          <a:p>
            <a:r>
              <a:t>Discours : « Huit exigences encadrent la solution. J'en souligne trois, qui ont guidé l'architecture. La cohérence : l'application doit reproduire exactement les recommandations du notebook. L'explicabilité : chaque recommandation doit être justifiée dans des termes compréhensibles par le client. L'autonomie : l'application doit fonctionner hors ligne, sans installation de Python sur les postes de l'agence. »</a:t>
            </a:r>
          </a:p>
          <a:p>
            <a:r>
              <a:t>Transition : « Voyons qui utilise le système, et pour quoi faire. »</a:t>
            </a:r>
          </a:p>
          <a:p>
            <a:r>
              <a:t>Conseil : mettre les trois exigences citées en orange, les cinq autres en bleu. Si le jury interroge sur la performance : le temps de réponse n'a pas été mesuré (limite L12).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diagramme UML, système « TravelBI », quatre acteurs, neuf cas d'utilisation (voir la spécification plus bas).</a:t>
            </a:r>
          </a:p>
          <a:p>
            <a:r>
              <a:t>Discours : « Le système compte trois acteurs humains et un acteur système. Le directeur consulte le tableau de bord, les rapports Power BI et la performance des modèles. Le conseiller commercial obtient des recommandations pour un client existant ou pour un nouveau client, et peut les exporter. L'analyste de données prépare les données, entraîne les modèles, publie le rapport et vérifie la cohérence de l'application. Enfin, Power BI Service intervient comme acteur secondaire : il héberge le rapport publié, que l'application affiche. »</a:t>
            </a:r>
          </a:p>
          <a:p>
            <a:r>
              <a:t>Transition : « Ces cas d'utilisation se traduisent dans la structure de l'application. »</a:t>
            </a:r>
          </a:p>
          <a:p>
            <a:r>
              <a:t>Conseil : faire apparaître acteur par acteur avec ses cas ; suivre du pointeur.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diagramme UML de l'application : FenetrePrincipale, cinq pages, module indicateurs, RecommenderEngine.</a:t>
            </a:r>
          </a:p>
          <a:p>
            <a:r>
              <a:t>Discours : « L'application repose sur un principe simple : séparer le calcul de l'interface. La fenêtre principale est composée de cinq pages : tableau de bord, rapports, recommandations, modèles et à propos. Le tableau de bord s'appuie sur le module indicateurs. Les pages de recommandation et à propos utilisent la classe RecommenderEngine, qui charge les artefacts, recommande pour un client existant ou nouveau, construit l'explication et expose une méthode selfcheck. Ni le moteur ni les indicateurs ne dépendent d'une bibliothèque graphique : ils peuvent être testés seuls, ce qui a rendu possible le contrôle automatique de cohérence. »</a:t>
            </a:r>
          </a:p>
          <a:p>
            <a:r>
              <a:t>Transition : « Pour construire tout cela, il fallait une méthode adaptée à un projet à la fois logiciel et data. »</a:t>
            </a:r>
          </a:p>
          <a:p>
            <a:r>
              <a:t>Conseil : montrer d'abord la composition, puis les deux dépendances « use ». Nommer selfcheck : il revient dans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frise de 26 semaines : cadrage (S1 à S4), sprint 1 données (S5 à S9), sprint 2 décisionnel (S10 à S14), sprint 3 recommandation (S15 à S20), sprint 4 application (S21 à S24). Sous la frise, les phases CRISP-DM correspondantes. À droite, rôles : Product Owner (direction et encadrant professionnel), Scrum Master (encadrant académique), équipe (l'étudiante).</a:t>
            </a:r>
          </a:p>
          <a:p>
            <a:r>
              <a:t>Discours : « Mon projet mêle de l'ingénierie logicielle, qui se livre par incréments, et de la science des données, dont le résultat n'est connu qu'après expérimentation. Aucune méthode ne couvrait seule les deux. J'ai donc retenu une approche hybride : Scrum pilote le projet en quatre sprints, et CRISP-DM structure le travail sur les données, de la compréhension du métier au déploiement. Chaque sprint avait un critère de validation explicite. Par exemple, pour le sprint 3 : un HitRate au rang 7 d'au moins 0,70. »</a:t>
            </a:r>
          </a:p>
          <a:p>
            <a:r>
              <a:t>Transition : « Côté outils, j'ai cherché la continuité plutôt que l'accumulation. »</a:t>
            </a:r>
          </a:p>
          <a:p>
            <a:r>
              <a:t>Conseil : montrer que le sprint 3 est le plus long (six semaines) et dire pourquoi : sept approches comparées.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frise de 26 semaines : cadrage (S1 à S4), sprint 1 données (S5 à S9), sprint 2 décisionnel (S10 à S14), sprint 3 recommandation (S15 à S20), sprint 4 application (S21 à S24). Sous la frise, les phases CRISP-DM correspondantes. À droite, rôles : Product Owner (direction et encadrant professionnel), Scrum Master (encadrant académique), équipe (l'étudiante).</a:t>
            </a:r>
          </a:p>
          <a:p>
            <a:r>
              <a:t>Discours : « Mon projet mêle de l'ingénierie logicielle, qui se livre par incréments, et de la science des données, dont le résultat n'est connu qu'après expérimentation. Aucune méthode ne couvrait seule les deux. J'ai donc retenu une approche hybride : Scrum pilote le projet en quatre sprints, et CRISP-DM structure le travail sur les données, de la compréhension du métier au déploiement. Chaque sprint avait un critère de validation explicite. Par exemple, pour le sprint 3 : un HitRate au rang 7 d'au moins 0,70. »</a:t>
            </a:r>
          </a:p>
          <a:p>
            <a:r>
              <a:t>Transition : « Côté outils, j'ai cherché la continuité plutôt que l'accumulation. »</a:t>
            </a:r>
          </a:p>
          <a:p>
            <a:r>
              <a:t>Conseil : montrer que le sprint 3 est le plus long (six semaines) et dire pourquoi : sept approches comparées.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quatre rangées avec logos. Données et modèles : Python, Jupyter sur Google Colab, pandas, NumPy, scikit-learn, LightGBM, XGBoost, CatBoost, Matplotlib, Seaborn. Stockage : fichiers CSV en modèle en étoile. Restitution : Power BI Desktop, Power BI Service, DAX. Application : PyQt6, Qt WebEngine, PyInstaller.</a:t>
            </a:r>
          </a:p>
          <a:p>
            <a:r>
              <a:t>Discours : « Un seul langage, Python, couvre toute la chaîne : préparation, modèles, interface et distribution. Cela évite toute rupture entre la préparation des données et la modélisation. Le modèle en étoile est exporté en fichiers CSV : avec quelques milliers de réservations et aucun serveur à l'agence, c'est le choix proportionné, et le passage à un SGBD reste possible sans changer le modèle. Power BI a été retenu pour sa version Desktop gratuite, son import direct des CSV et la possibilité d'intégrer le rapport publié dans une application tierce. »</a:t>
            </a:r>
          </a:p>
          <a:p>
            <a:r>
              <a:t>Transition : « Voyons comment ces briques s'assemblent. »</a:t>
            </a:r>
          </a:p>
          <a:p>
            <a:r>
              <a:t>Conseil : anticiper la question « pourquoi pas une base de données ? » : la réponse est dans le discours.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cinq couches de gauche à droite : sources (tables de l'agence) → préparation (notebook : nettoyage, RFM, profils, interactions, segmentation) → stockage (modèle en étoile et KPI en CSV ; artefacts des modèles) → modèles (contenu, LightGBM, popularité ; factorisation en grisé, poids nul) → restitution (rapport Power BI ; application TravelBI avec indicateurs.py, moteur\_reco.py, app.py). Bandeau : « Le notebook, source unique ».</a:t>
            </a:r>
          </a:p>
          <a:p>
            <a:r>
              <a:t>Discours : « L'architecture logique s'organise en cinq couches. Les tables de l'agence alimentent un pipeline de préparation, écrit dans un notebook. Ce pipeline produit deux ensembles : le modèle en étoile et les tables d'indicateurs destinés à Power BI, et les artefacts des modèles destinés à l'application. Le principe directeur est celui de la source unique : Power BI et l'application consomment les fichiers issus de la même exécution du notebook. La table de faits est la même pour les deux outils, et les recommandations de l'application sont calculées avec les modèles exportés. C'est ce qui garantit la fiabilité des indicateurs et la cohérence des recommandations. »</a:t>
            </a:r>
          </a:p>
          <a:p>
            <a:r>
              <a:t>Transition : « Physiquement, cette architecture se déploie sur trois nœuds. »</a:t>
            </a:r>
          </a:p>
          <a:p>
            <a:r>
              <a:t>Conseil : faire apparaître les couches dans l'ordre du flux ; terminer par le bandeau « source unique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cinq couches de gauche à droite : sources (tables de l'agence) → préparation (notebook : nettoyage, RFM, profils, interactions, segmentation) → stockage (modèle en étoile et KPI en CSV ; artefacts des modèles) → modèles (contenu, LightGBM, popularité ; factorisation en grisé, poids nul) → restitution (rapport Power BI ; application TravelBI avec indicateurs.py, moteur\_reco.py, app.py). Bandeau : « Le notebook, source unique ».</a:t>
            </a:r>
          </a:p>
          <a:p>
            <a:r>
              <a:t>Discours : « L'architecture logique s'organise en cinq couches. Les tables de l'agence alimentent un pipeline de préparation, écrit dans un notebook. Ce pipeline produit deux ensembles : le modèle en étoile et les tables d'indicateurs destinés à Power BI, et les artefacts des modèles destinés à l'application. Le principe directeur est celui de la source unique : Power BI et l'application consomment les fichiers issus de la même exécution du notebook. La table de faits est la même pour les deux outils, et les recommandations de l'application sont calculées avec les modèles exportés. C'est ce qui garantit la fiabilité des indicateurs et la cohérence des recommandations. »</a:t>
            </a:r>
          </a:p>
          <a:p>
            <a:r>
              <a:t>Transition : « Physiquement, cette architecture se déploie sur trois nœuds. »</a:t>
            </a:r>
          </a:p>
          <a:p>
            <a:r>
              <a:t>Conseil : faire apparaître les couches dans l'ordre du flux ; terminer par le bandeau « source unique ».</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cinq couches de gauche à droite : sources (tables de l'agence) → préparation (notebook : nettoyage, RFM, profils, interactions, segmentation) → stockage (modèle en étoile et KPI en CSV ; artefacts des modèles) → modèles (contenu, LightGBM, popularité ; factorisation en grisé, poids nul) → restitution (rapport Power BI ; application TravelBI avec indicateurs.py, moteur\_reco.py, app.py). Bandeau : « Le notebook, source unique ».</a:t>
            </a:r>
          </a:p>
          <a:p>
            <a:r>
              <a:t>Discours : « L'architecture logique s'organise en cinq couches. Les tables de l'agence alimentent un pipeline de préparation, écrit dans un notebook. Ce pipeline produit deux ensembles : le modèle en étoile et les tables d'indicateurs destinés à Power BI, et les artefacts des modèles destinés à l'application. Le principe directeur est celui de la source unique : Power BI et l'application consomment les fichiers issus de la même exécution du notebook. La table de faits est la même pour les deux outils, et les recommandations de l'application sont calculées avec les modèles exportés. C'est ce qui garantit la fiabilité des indicateurs et la cohérence des recommandations. »</a:t>
            </a:r>
          </a:p>
          <a:p>
            <a:r>
              <a:t>Transition : « Physiquement, cette architecture se déploie sur trois nœuds. »</a:t>
            </a:r>
          </a:p>
          <a:p>
            <a:r>
              <a:t>Conseil : faire apparaître les couches dans l'ordre du flux ; terminer par le bandeau « source unique ».</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diagramme de déploiement à trois nœuds : poste d'analyse (notebook Jupyter/Colab, powerbi\_exports, Power BI Desktop, dossier TravelBI\_App) ; Power BI Service (rapport publié) ; poste de l'agence (TravelBI.exe ; models, data, config.json). Liens : publication, copie, HTTPS.</a:t>
            </a:r>
          </a:p>
          <a:p>
            <a:r>
              <a:t>Discours : « Sur le poste d'analyse, le notebook exporte les fichiers CSV, importés dans Power BI Desktop, ainsi que le dossier de l'application. Le rapport est publié sur Power BI Service. Sur le poste de l'agence, l'exécutable TravelBI lit localement ses modèles, ses données et son fichier de configuration : les indicateurs et les recommandations sont donc calculés hors ligne, et les données clients restent sur le poste. Seul l'affichage du rapport publié passe par le réseau, en HTTPS et après authentification. Il n'y a ni serveur applicatif ni base de données : c'est un choix assumé pour une agence sans infrastructure. »</a:t>
            </a:r>
          </a:p>
          <a:p>
            <a:r>
              <a:t>Transition : « Entrons maintenant dans le cœur intelligent du système, en commençant par les données. »</a:t>
            </a:r>
          </a:p>
          <a:p>
            <a:r>
              <a:t>Conseil : l'alimentation est manuelle (limite L11) : le dire si la question vient.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entonnoir chiffré : 11 clients et 16 réservations réels → augmentation (bootstrap, perturbation, génération par segment) → 500 clients, 45 destinations, 9 944 réservations → nettoyage → 9 916 réservations (28 doublons retirés, 444 montants écrêtés par IQR) → 4 802 interactions client–destination. Encadré : segmentation KMeans, k = 5, sur six variables.</a:t>
            </a:r>
          </a:p>
          <a:p>
            <a:r>
              <a:t>Discours : « L'historique réel de l'agence se limite à 11 clients et 16 réservations. C'est insuffisant pour apprendre un modèle. J'ai donc augmenté les données par un script dédié qui combine rééchantillonnage, perturbation contrôlée et génération conditionnée par segment, en restant ancrée dans la réalité de l'agence : mêmes villes, mêmes hôtels, mêmes tarifs. Une colonne source garde l'origine de chaque ligne. Après nettoyage, j'obtiens 9 916 réservations. Comme il n'existe pas de note explicite d'une destination par un client, j'ai construit un score d'interaction implicite de 0 à 5, qui pondère la satisfaction, la récence et le montant. Il donne 4 802 interactions. En parallèle, KMeans segmente la clientèle en cinq groupes. »</a:t>
            </a:r>
          </a:p>
          <a:p>
            <a:r>
              <a:t>Transition : « C'est sur ces interactions que le moteur apprend. »</a:t>
            </a:r>
          </a:p>
          <a:p>
            <a:r>
              <a:t>Conseil : dire « données générées » sans détour. La transparence ici protège tout le reste de la présentation.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flux de gauche à droite : profil client et destination → quatre signaux en parallèle → combinaison pondérée → exclusion des destinations déjà réservées → Top-N avec explication. Poids affichés : contenu 0,2 · factorisation matricielle 0 · LightGBM 0,5 · popularité 0,3.</a:t>
            </a:r>
          </a:p>
          <a:p>
            <a:r>
              <a:t>Discours : « Le moteur combine quatre signaux, chacun ramené sur une échelle de 0 à 5. Le filtrage par contenu mesure la similarité cosinus entre le profil du client et celui de la destination, décrits dans un même espace de vingt dimensions : type de voyage, activités et budget. La factorisation matricielle, que j'ai implémentée avec NumPy, capture le comportement collectif. Un modèle supervisé de gradient boosting prédit la pertinence d'un couple client–destination à partir de quinze variables. Enfin, la popularité sert d'a priori. Les poids ont été cherchés sur une grille de 286 combinaisons. Résultat : 0,2 pour le contenu, 0,5 pour LightGBM, 0,3 pour la popularité, et zéro pour la factorisation, dont le signal est redondant sur ces données. Pour un nouveau client, le profil déclaré remplace l'historique. Et chaque recommandation est accompagnée d'une explication en langage naturel, construite par règles : type de voyage, activités communes, budget, popularité, satisfaction. »</a:t>
            </a:r>
          </a:p>
          <a:p>
            <a:r>
              <a:t>Transition : « Reste à savoir si ce modèle hybride fait réellement mieux que ses composantes. »</a:t>
            </a:r>
          </a:p>
          <a:p>
            <a:r>
              <a:t>Conseil : animer signal par signal. Le poids nul est un résultat, pas un échec : le présenter ainsi.</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flux de gauche à droite : profil client et destination → quatre signaux en parallèle → combinaison pondérée → exclusion des destinations déjà réservées → Top-N avec explication. Poids affichés : contenu 0,2 · factorisation matricielle 0 · LightGBM 0,5 · popularité 0,3.</a:t>
            </a:r>
          </a:p>
          <a:p>
            <a:r>
              <a:t>Discours : « Le moteur combine quatre signaux, chacun ramené sur une échelle de 0 à 5. Le filtrage par contenu mesure la similarité cosinus entre le profil du client et celui de la destination, décrits dans un même espace de vingt dimensions : type de voyage, activités et budget. La factorisation matricielle, que j'ai implémentée avec NumPy, capture le comportement collectif. Un modèle supervisé de gradient boosting prédit la pertinence d'un couple client–destination à partir de quinze variables. Enfin, la popularité sert d'a priori. Les poids ont été cherchés sur une grille de 286 combinaisons. Résultat : 0,2 pour le contenu, 0,5 pour LightGBM, 0,3 pour la popularité, et zéro pour la factorisation, dont le signal est redondant sur ces données. Pour un nouveau client, le profil déclaré remplace l'historique. Et chaque recommandation est accompagnée d'une explication en langage naturel, construite par règles : type de voyage, activités communes, budget, popularité, satisfaction. »</a:t>
            </a:r>
          </a:p>
          <a:p>
            <a:r>
              <a:t>Transition : « Reste à savoir si ce modèle hybride fait réellement mieux que ses composantes. »</a:t>
            </a:r>
          </a:p>
          <a:p>
            <a:r>
              <a:t>Conseil : animer signal par signal. Le poids nul est un résultat, pas un échec : le présenter ainsi.</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flux de gauche à droite : profil client et destination → quatre signaux en parallèle → combinaison pondérée → exclusion des destinations déjà réservées → Top-N avec explication. Poids affichés : contenu 0,2 · factorisation matricielle 0 · LightGBM 0,5 · popularité 0,3.</a:t>
            </a:r>
          </a:p>
          <a:p>
            <a:r>
              <a:t>Discours : « Le moteur combine quatre signaux, chacun ramené sur une échelle de 0 à 5. Le filtrage par contenu mesure la similarité cosinus entre le profil du client et celui de la destination, décrits dans un même espace de vingt dimensions : type de voyage, activités et budget. La factorisation matricielle, que j'ai implémentée avec NumPy, capture le comportement collectif. Un modèle supervisé de gradient boosting prédit la pertinence d'un couple client–destination à partir de quinze variables. Enfin, la popularité sert d'a priori. Les poids ont été cherchés sur une grille de 286 combinaisons. Résultat : 0,2 pour le contenu, 0,5 pour LightGBM, 0,3 pour la popularité, et zéro pour la factorisation, dont le signal est redondant sur ces données. Pour un nouveau client, le profil déclaré remplace l'historique. Et chaque recommandation est accompagnée d'une explication en langage naturel, construite par règles : type de voyage, activités communes, budget, popularité, satisfaction. »</a:t>
            </a:r>
          </a:p>
          <a:p>
            <a:r>
              <a:t>Transition : « Reste à savoir si ce modèle hybride fait réellement mieux que ses composantes. »</a:t>
            </a:r>
          </a:p>
          <a:p>
            <a:r>
              <a:t>Conseil : animer signal par signal. Le poids nul est un résultat, pas un échec : le présenter ainsi.</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flux de gauche à droite : profil client et destination → quatre signaux en parallèle → combinaison pondérée → exclusion des destinations déjà réservées → Top-N avec explication. Poids affichés : contenu 0,2 · factorisation matricielle 0 · LightGBM 0,5 · popularité 0,3.</a:t>
            </a:r>
          </a:p>
          <a:p>
            <a:r>
              <a:t>Discours : « Le moteur combine quatre signaux, chacun ramené sur une échelle de 0 à 5. Le filtrage par contenu mesure la similarité cosinus entre le profil du client et celui de la destination, décrits dans un même espace de vingt dimensions : type de voyage, activités et budget. La factorisation matricielle, que j'ai implémentée avec NumPy, capture le comportement collectif. Un modèle supervisé de gradient boosting prédit la pertinence d'un couple client–destination à partir de quinze variables. Enfin, la popularité sert d'a priori. Les poids ont été cherchés sur une grille de 286 combinaisons. Résultat : 0,2 pour le contenu, 0,5 pour LightGBM, 0,3 pour la popularité, et zéro pour la factorisation, dont le signal est redondant sur ces données. Pour un nouveau client, le profil déclaré remplace l'historique. Et chaque recommandation est accompagnée d'une explication en langage naturel, construite par règles : type de voyage, activités communes, budget, popularité, satisfaction. »</a:t>
            </a:r>
          </a:p>
          <a:p>
            <a:r>
              <a:t>Transition : « Reste à savoir si ce modèle hybride fait réellement mieux que ses composantes. »</a:t>
            </a:r>
          </a:p>
          <a:p>
            <a:r>
              <a:t>Conseil : animer signal par signal. Le poids nul est un résultat, pas un échec : le présenter ainsi.</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flux de gauche à droite : profil client et destination → quatre signaux en parallèle → combinaison pondérée → exclusion des destinations déjà réservées → Top-N avec explication. Poids affichés : contenu 0,2 · factorisation matricielle 0 · LightGBM 0,5 · popularité 0,3.</a:t>
            </a:r>
          </a:p>
          <a:p>
            <a:r>
              <a:t>Discours : « Le moteur combine quatre signaux, chacun ramené sur une échelle de 0 à 5. Le filtrage par contenu mesure la similarité cosinus entre le profil du client et celui de la destination, décrits dans un même espace de vingt dimensions : type de voyage, activités et budget. La factorisation matricielle, que j'ai implémentée avec NumPy, capture le comportement collectif. Un modèle supervisé de gradient boosting prédit la pertinence d'un couple client–destination à partir de quinze variables. Enfin, la popularité sert d'a priori. Les poids ont été cherchés sur une grille de 286 combinaisons. Résultat : 0,2 pour le contenu, 0,5 pour LightGBM, 0,3 pour la popularité, et zéro pour la factorisation, dont le signal est redondant sur ces données. Pour un nouveau client, le profil déclaré remplace l'historique. Et chaque recommandation est accompagnée d'une explication en langage naturel, construite par règles : type de voyage, activités communes, budget, popularité, satisfaction. »</a:t>
            </a:r>
          </a:p>
          <a:p>
            <a:r>
              <a:t>Transition : « Reste à savoir si ce modèle hybride fait réellement mieux que ses composantes. »</a:t>
            </a:r>
          </a:p>
          <a:p>
            <a:r>
              <a:t>Conseil : animer signal par signal. Le poids nul est un résultat, pas un échec : le présenter ainsi.</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Affiché : histogramme groupé HitRate@7 et NDCG@7 pour les sept approches, barre « Hybride » en orange. Chiffre clé : HitRate@7 = 85 %, seuil visé 70 %. Petit encadré : « RMSE le plus bas (0,354) : factorisation, pourtant dernière au classement ».</a:t>
            </a:r>
          </a:p>
          <a:p>
            <a:r>
              <a:t>| Approche | NDCG@7 | HitRate@7 |</a:t>
            </a:r>
          </a:p>
          <a:p>
            <a:r>
              <a:t>| --- | --- | --- |</a:t>
            </a:r>
          </a:p>
          <a:p>
            <a:r>
              <a:t>| Contenu | 0,234 | 0,585 |</a:t>
            </a:r>
          </a:p>
          <a:p>
            <a:r>
              <a:t>| Factorisation matricielle | 0,077 | 0,224 |</a:t>
            </a:r>
          </a:p>
          <a:p>
            <a:r>
              <a:t>| LightGBM | 0,443 | 0,820 |</a:t>
            </a:r>
          </a:p>
          <a:p>
            <a:r>
              <a:t>| XGBoost | 0,410 | 0,812 |</a:t>
            </a:r>
          </a:p>
          <a:p>
            <a:r>
              <a:t>| CatBoost | 0,433 | 0,826 |</a:t>
            </a:r>
          </a:p>
          <a:p>
            <a:r>
              <a:t>| Ensemble GBM | 0,425 | 0,810 |</a:t>
            </a:r>
          </a:p>
          <a:p>
            <a:r>
              <a:t>| Hybride | 0,461 | 0,850 |</a:t>
            </a:r>
          </a:p>
          <a:p>
            <a:r>
              <a:t>Discours : « J'ai comparé sept approches sur un jeu de test, au rang 7, c'est-à-dire la longueur d'une liste qu'un conseiller peut présenter en entretien. Le modèle hybride arrive en tête sur les cinq métriques de classement. Son HitRate atteint 85 % : pour 85 clients sur 100, la liste contient au moins une destination pertinente. Le seuil de 70 % fixé au départ est dépassé. Un enseignement intéressant : la factorisation matricielle a la meilleure erreur quadratique, et le plus mauvais classement. Cela confirme ce que montre la littérature : le RMSE ne mesure pas la qualité d'un Top-N. C'est pourquoi j'ai décidé sur le NDCG et le HitRate. »</a:t>
            </a:r>
          </a:p>
          <a:p>
            <a:r>
              <a:t>Transition : « Ce chiffre de 85 %, je tiens à le lire avec vous de façon critique. »</a:t>
            </a:r>
          </a:p>
          <a:p>
            <a:r>
              <a:t>Conseil : sur la diapositive, ne garder que le graphique et le chiffre clé ; le tableau reste dans les notes.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En</a:t>
            </a:r>
            <a:r>
              <a:rPr dirty="0"/>
              <a:t> examinant </a:t>
            </a:r>
            <a:r>
              <a:rPr dirty="0" err="1"/>
              <a:t>mon</a:t>
            </a:r>
            <a:r>
              <a:rPr dirty="0"/>
              <a:t> propre </a:t>
            </a:r>
            <a:r>
              <a:rPr dirty="0" err="1"/>
              <a:t>protocole</a:t>
            </a:r>
            <a:r>
              <a:rPr dirty="0"/>
              <a:t>, </a:t>
            </a:r>
            <a:r>
              <a:rPr dirty="0" err="1"/>
              <a:t>j'ai</a:t>
            </a:r>
            <a:r>
              <a:rPr dirty="0"/>
              <a:t> </a:t>
            </a:r>
            <a:r>
              <a:rPr dirty="0" err="1"/>
              <a:t>identifié</a:t>
            </a:r>
            <a:r>
              <a:rPr dirty="0"/>
              <a:t> trois </a:t>
            </a:r>
            <a:r>
              <a:rPr dirty="0" err="1"/>
              <a:t>biais</a:t>
            </a:r>
            <a:r>
              <a:rPr dirty="0"/>
              <a:t>. Les </a:t>
            </a:r>
            <a:r>
              <a:rPr dirty="0" err="1"/>
              <a:t>poids</a:t>
            </a:r>
            <a:r>
              <a:rPr dirty="0"/>
              <a:t> du </a:t>
            </a:r>
            <a:r>
              <a:rPr dirty="0" err="1"/>
              <a:t>modèle</a:t>
            </a:r>
            <a:r>
              <a:rPr dirty="0"/>
              <a:t> </a:t>
            </a:r>
            <a:r>
              <a:rPr dirty="0" err="1"/>
              <a:t>hybride</a:t>
            </a:r>
            <a:r>
              <a:rPr dirty="0"/>
              <a:t> et le </a:t>
            </a:r>
            <a:r>
              <a:rPr dirty="0" err="1"/>
              <a:t>choix</a:t>
            </a:r>
            <a:r>
              <a:rPr dirty="0"/>
              <a:t> du booster </a:t>
            </a:r>
            <a:r>
              <a:rPr dirty="0" err="1"/>
              <a:t>ont</a:t>
            </a:r>
            <a:r>
              <a:rPr dirty="0"/>
              <a:t> </a:t>
            </a:r>
            <a:r>
              <a:rPr dirty="0" err="1"/>
              <a:t>été</a:t>
            </a:r>
            <a:r>
              <a:rPr dirty="0"/>
              <a:t> </a:t>
            </a:r>
            <a:r>
              <a:rPr dirty="0" err="1"/>
              <a:t>réglés</a:t>
            </a:r>
            <a:r>
              <a:rPr dirty="0"/>
              <a:t> sur le jeu de test. </a:t>
            </a:r>
            <a:r>
              <a:rPr dirty="0" err="1"/>
              <a:t>Certaines</a:t>
            </a:r>
            <a:r>
              <a:rPr dirty="0"/>
              <a:t> variables </a:t>
            </a:r>
            <a:r>
              <a:rPr dirty="0" err="1"/>
              <a:t>ont</a:t>
            </a:r>
            <a:r>
              <a:rPr dirty="0"/>
              <a:t> </a:t>
            </a:r>
            <a:r>
              <a:rPr dirty="0" err="1"/>
              <a:t>été</a:t>
            </a:r>
            <a:r>
              <a:rPr dirty="0"/>
              <a:t> </a:t>
            </a:r>
            <a:r>
              <a:rPr dirty="0" err="1"/>
              <a:t>calculées</a:t>
            </a:r>
            <a:r>
              <a:rPr dirty="0"/>
              <a:t> </a:t>
            </a:r>
            <a:r>
              <a:rPr dirty="0" err="1"/>
              <a:t>avant</a:t>
            </a:r>
            <a:r>
              <a:rPr dirty="0"/>
              <a:t> le </a:t>
            </a:r>
            <a:r>
              <a:rPr dirty="0" err="1"/>
              <a:t>découpage</a:t>
            </a:r>
            <a:r>
              <a:rPr dirty="0"/>
              <a:t> entre </a:t>
            </a:r>
            <a:r>
              <a:rPr dirty="0" err="1"/>
              <a:t>entraînement</a:t>
            </a:r>
            <a:r>
              <a:rPr dirty="0"/>
              <a:t> et test, </a:t>
            </a:r>
            <a:r>
              <a:rPr dirty="0" err="1"/>
              <a:t>ce</a:t>
            </a:r>
            <a:r>
              <a:rPr dirty="0"/>
              <a:t> qui </a:t>
            </a:r>
            <a:r>
              <a:rPr dirty="0" err="1"/>
              <a:t>constitue</a:t>
            </a:r>
            <a:r>
              <a:rPr dirty="0"/>
              <a:t> </a:t>
            </a:r>
            <a:r>
              <a:rPr dirty="0" err="1"/>
              <a:t>une</a:t>
            </a:r>
            <a:r>
              <a:rPr dirty="0"/>
              <a:t> </a:t>
            </a:r>
            <a:r>
              <a:rPr dirty="0" err="1"/>
              <a:t>fuite</a:t>
            </a:r>
            <a:r>
              <a:rPr dirty="0"/>
              <a:t> </a:t>
            </a:r>
            <a:r>
              <a:rPr dirty="0" err="1"/>
              <a:t>d'information</a:t>
            </a:r>
            <a:r>
              <a:rPr dirty="0"/>
              <a:t>. Et le </a:t>
            </a:r>
            <a:r>
              <a:rPr dirty="0" err="1"/>
              <a:t>seuil</a:t>
            </a:r>
            <a:r>
              <a:rPr dirty="0"/>
              <a:t> de pertinence </a:t>
            </a:r>
            <a:r>
              <a:rPr dirty="0" err="1"/>
              <a:t>est</a:t>
            </a:r>
            <a:r>
              <a:rPr dirty="0"/>
              <a:t> </a:t>
            </a:r>
            <a:r>
              <a:rPr dirty="0" err="1"/>
              <a:t>peu</a:t>
            </a:r>
            <a:r>
              <a:rPr dirty="0"/>
              <a:t> </a:t>
            </a:r>
            <a:r>
              <a:rPr dirty="0" err="1"/>
              <a:t>sélectif</a:t>
            </a:r>
            <a:r>
              <a:rPr dirty="0"/>
              <a:t>. </a:t>
            </a:r>
            <a:r>
              <a:rPr dirty="0" err="1"/>
              <a:t>S'y</a:t>
            </a:r>
            <a:r>
              <a:rPr dirty="0"/>
              <a:t> </a:t>
            </a:r>
            <a:r>
              <a:rPr dirty="0" err="1"/>
              <a:t>ajoute</a:t>
            </a:r>
            <a:r>
              <a:rPr dirty="0"/>
              <a:t> le </a:t>
            </a:r>
            <a:r>
              <a:rPr dirty="0" err="1"/>
              <a:t>caractère</a:t>
            </a:r>
            <a:r>
              <a:rPr dirty="0"/>
              <a:t> </a:t>
            </a:r>
            <a:r>
              <a:rPr dirty="0" err="1"/>
              <a:t>majoritairement</a:t>
            </a:r>
            <a:r>
              <a:rPr dirty="0"/>
              <a:t> </a:t>
            </a:r>
            <a:r>
              <a:rPr dirty="0" err="1"/>
              <a:t>généré</a:t>
            </a:r>
            <a:r>
              <a:rPr dirty="0"/>
              <a:t> des </a:t>
            </a:r>
            <a:r>
              <a:rPr dirty="0" err="1"/>
              <a:t>données</a:t>
            </a:r>
            <a:r>
              <a:rPr dirty="0"/>
              <a:t>. Je </a:t>
            </a:r>
            <a:r>
              <a:rPr dirty="0" err="1"/>
              <a:t>présente</a:t>
            </a:r>
            <a:r>
              <a:rPr dirty="0"/>
              <a:t> </a:t>
            </a:r>
            <a:r>
              <a:rPr dirty="0" err="1"/>
              <a:t>donc</a:t>
            </a:r>
            <a:r>
              <a:rPr dirty="0"/>
              <a:t> </a:t>
            </a:r>
            <a:r>
              <a:rPr dirty="0" err="1"/>
              <a:t>ces</a:t>
            </a:r>
            <a:r>
              <a:rPr dirty="0"/>
              <a:t> 85 % </a:t>
            </a:r>
            <a:r>
              <a:rPr dirty="0" err="1"/>
              <a:t>comme</a:t>
            </a:r>
            <a:r>
              <a:rPr dirty="0"/>
              <a:t> </a:t>
            </a:r>
            <a:r>
              <a:rPr dirty="0" err="1"/>
              <a:t>une</a:t>
            </a:r>
            <a:r>
              <a:rPr dirty="0"/>
              <a:t> borne haute, et non </a:t>
            </a:r>
            <a:r>
              <a:rPr dirty="0" err="1"/>
              <a:t>comme</a:t>
            </a:r>
            <a:r>
              <a:rPr dirty="0"/>
              <a:t> </a:t>
            </a:r>
            <a:r>
              <a:rPr dirty="0" err="1"/>
              <a:t>une</a:t>
            </a:r>
            <a:r>
              <a:rPr dirty="0"/>
              <a:t> performance </a:t>
            </a:r>
            <a:r>
              <a:rPr dirty="0" err="1"/>
              <a:t>garantie</a:t>
            </a:r>
            <a:r>
              <a:rPr dirty="0"/>
              <a:t> </a:t>
            </a:r>
            <a:r>
              <a:rPr dirty="0" err="1"/>
              <a:t>en</a:t>
            </a:r>
            <a:r>
              <a:rPr dirty="0"/>
              <a:t> production. Ce que </a:t>
            </a:r>
            <a:r>
              <a:rPr dirty="0" err="1"/>
              <a:t>ce</a:t>
            </a:r>
            <a:r>
              <a:rPr dirty="0"/>
              <a:t> travail </a:t>
            </a:r>
            <a:r>
              <a:rPr dirty="0" err="1"/>
              <a:t>valide</a:t>
            </a:r>
            <a:r>
              <a:rPr dirty="0"/>
              <a:t>, </a:t>
            </a:r>
            <a:r>
              <a:rPr dirty="0" err="1"/>
              <a:t>c'est</a:t>
            </a:r>
            <a:r>
              <a:rPr dirty="0"/>
              <a:t> la démarche et la </a:t>
            </a:r>
            <a:r>
              <a:rPr dirty="0" err="1"/>
              <a:t>chaîne</a:t>
            </a:r>
            <a:r>
              <a:rPr dirty="0"/>
              <a:t> technique, qui </a:t>
            </a:r>
            <a:r>
              <a:rPr dirty="0" err="1"/>
              <a:t>peut</a:t>
            </a:r>
            <a:r>
              <a:rPr dirty="0"/>
              <a:t> </a:t>
            </a:r>
            <a:r>
              <a:rPr dirty="0" err="1"/>
              <a:t>être</a:t>
            </a:r>
            <a:r>
              <a:rPr dirty="0"/>
              <a:t> </a:t>
            </a:r>
            <a:r>
              <a:rPr dirty="0" err="1"/>
              <a:t>rejouée</a:t>
            </a:r>
            <a:r>
              <a:rPr dirty="0"/>
              <a:t> sur des </a:t>
            </a:r>
            <a:r>
              <a:rPr dirty="0" err="1"/>
              <a:t>données</a:t>
            </a:r>
            <a:r>
              <a:rPr dirty="0"/>
              <a:t> </a:t>
            </a:r>
            <a:r>
              <a:rPr dirty="0" err="1"/>
              <a:t>réelles</a:t>
            </a:r>
            <a:r>
              <a:rPr dirty="0"/>
              <a:t> sans modifier le code de </a:t>
            </a:r>
            <a:r>
              <a:rPr dirty="0" err="1"/>
              <a:t>l'application</a:t>
            </a:r>
            <a:r>
              <a:rPr dirty="0"/>
              <a:t>. »</a:t>
            </a:r>
          </a:p>
          <a:p>
            <a:r>
              <a:rPr dirty="0"/>
              <a:t>Transition : « Je </a:t>
            </a:r>
            <a:r>
              <a:rPr dirty="0" err="1"/>
              <a:t>vous</a:t>
            </a:r>
            <a:r>
              <a:rPr dirty="0"/>
              <a:t> propose </a:t>
            </a:r>
            <a:r>
              <a:rPr dirty="0" err="1"/>
              <a:t>maintenant</a:t>
            </a:r>
            <a:r>
              <a:rPr dirty="0"/>
              <a:t> de </a:t>
            </a:r>
            <a:r>
              <a:rPr dirty="0" err="1"/>
              <a:t>voir</a:t>
            </a:r>
            <a:r>
              <a:rPr dirty="0"/>
              <a:t> </a:t>
            </a:r>
            <a:r>
              <a:rPr dirty="0" err="1"/>
              <a:t>cette</a:t>
            </a:r>
            <a:r>
              <a:rPr dirty="0"/>
              <a:t> </a:t>
            </a:r>
            <a:r>
              <a:rPr dirty="0" err="1"/>
              <a:t>chaîne</a:t>
            </a:r>
            <a:r>
              <a:rPr dirty="0"/>
              <a:t> </a:t>
            </a:r>
            <a:r>
              <a:rPr dirty="0" err="1"/>
              <a:t>fonctionner</a:t>
            </a:r>
            <a:r>
              <a:rPr dirty="0"/>
              <a:t>. »</a:t>
            </a:r>
          </a:p>
          <a:p>
            <a:r>
              <a:rPr dirty="0"/>
              <a:t>Conseil : ton </a:t>
            </a:r>
            <a:r>
              <a:rPr dirty="0" err="1"/>
              <a:t>posé</a:t>
            </a:r>
            <a:r>
              <a:rPr dirty="0"/>
              <a:t>, sans </a:t>
            </a:r>
            <a:r>
              <a:rPr dirty="0" err="1"/>
              <a:t>s'excuser</a:t>
            </a:r>
            <a:r>
              <a:rPr dirty="0"/>
              <a:t>. Un jury </a:t>
            </a:r>
            <a:r>
              <a:rPr dirty="0" err="1"/>
              <a:t>apprécie</a:t>
            </a:r>
            <a:r>
              <a:rPr dirty="0"/>
              <a:t> </a:t>
            </a:r>
            <a:r>
              <a:rPr dirty="0" err="1"/>
              <a:t>qu'une</a:t>
            </a:r>
            <a:r>
              <a:rPr dirty="0"/>
              <a:t> candidate </a:t>
            </a:r>
            <a:r>
              <a:rPr dirty="0" err="1"/>
              <a:t>nomme</a:t>
            </a:r>
            <a:r>
              <a:rPr dirty="0"/>
              <a:t> </a:t>
            </a:r>
            <a:r>
              <a:rPr dirty="0" err="1"/>
              <a:t>elle-même</a:t>
            </a:r>
            <a:r>
              <a:rPr dirty="0"/>
              <a:t> </a:t>
            </a:r>
            <a:r>
              <a:rPr dirty="0" err="1"/>
              <a:t>ses</a:t>
            </a:r>
            <a:r>
              <a:rPr dirty="0"/>
              <a:t> </a:t>
            </a:r>
            <a:r>
              <a:rPr dirty="0" err="1"/>
              <a:t>limites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Pour ne pas </a:t>
            </a:r>
            <a:r>
              <a:rPr dirty="0" err="1"/>
              <a:t>perdre</a:t>
            </a:r>
            <a:r>
              <a:rPr dirty="0"/>
              <a:t> de temps, je </a:t>
            </a:r>
            <a:r>
              <a:rPr dirty="0" err="1"/>
              <a:t>vous</a:t>
            </a:r>
            <a:r>
              <a:rPr dirty="0"/>
              <a:t> </a:t>
            </a:r>
            <a:r>
              <a:rPr dirty="0" err="1"/>
              <a:t>présente</a:t>
            </a:r>
            <a:r>
              <a:rPr dirty="0"/>
              <a:t> les </a:t>
            </a:r>
            <a:r>
              <a:rPr dirty="0" err="1"/>
              <a:t>mêmes</a:t>
            </a:r>
            <a:r>
              <a:rPr dirty="0"/>
              <a:t> </a:t>
            </a:r>
            <a:r>
              <a:rPr dirty="0" err="1"/>
              <a:t>écrans</a:t>
            </a:r>
            <a:r>
              <a:rPr dirty="0"/>
              <a:t> sous </a:t>
            </a:r>
            <a:r>
              <a:rPr dirty="0" err="1"/>
              <a:t>forme</a:t>
            </a:r>
            <a:r>
              <a:rPr dirty="0"/>
              <a:t> de captures. » </a:t>
            </a:r>
            <a:r>
              <a:rPr dirty="0" err="1"/>
              <a:t>Puis</a:t>
            </a:r>
            <a:r>
              <a:rPr dirty="0"/>
              <a:t> </a:t>
            </a:r>
            <a:r>
              <a:rPr dirty="0" err="1"/>
              <a:t>reprendre</a:t>
            </a:r>
            <a:r>
              <a:rPr dirty="0"/>
              <a:t> le </a:t>
            </a:r>
            <a:r>
              <a:rPr dirty="0" err="1"/>
              <a:t>discours</a:t>
            </a:r>
            <a:r>
              <a:rPr dirty="0"/>
              <a:t> des étapes 1, 3, 2 et 5 sur </a:t>
            </a:r>
            <a:r>
              <a:rPr dirty="0" err="1"/>
              <a:t>chaque</a:t>
            </a:r>
            <a:r>
              <a:rPr dirty="0"/>
              <a:t> capture.</a:t>
            </a:r>
          </a:p>
          <a:p>
            <a:r>
              <a:rPr dirty="0"/>
              <a:t>Conseil : </a:t>
            </a:r>
            <a:r>
              <a:rPr dirty="0" err="1"/>
              <a:t>si</a:t>
            </a:r>
            <a:r>
              <a:rPr dirty="0"/>
              <a:t> </a:t>
            </a:r>
            <a:r>
              <a:rPr dirty="0" err="1"/>
              <a:t>seul</a:t>
            </a:r>
            <a:r>
              <a:rPr dirty="0"/>
              <a:t> Power BI ne charge pas, ne </a:t>
            </a:r>
            <a:r>
              <a:rPr dirty="0" err="1"/>
              <a:t>basculer</a:t>
            </a:r>
            <a:r>
              <a:rPr dirty="0"/>
              <a:t> que pour </a:t>
            </a:r>
            <a:r>
              <a:rPr dirty="0" err="1"/>
              <a:t>l'étape</a:t>
            </a:r>
            <a:r>
              <a:rPr dirty="0"/>
              <a:t> 2 ; le </a:t>
            </a:r>
            <a:r>
              <a:rPr dirty="0" err="1"/>
              <a:t>reste</a:t>
            </a:r>
            <a:r>
              <a:rPr dirty="0"/>
              <a:t> </a:t>
            </a:r>
            <a:r>
              <a:rPr dirty="0" err="1"/>
              <a:t>fonctionne</a:t>
            </a:r>
            <a:r>
              <a:rPr dirty="0"/>
              <a:t> hors </a:t>
            </a:r>
            <a:r>
              <a:rPr dirty="0" err="1"/>
              <a:t>ligne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 </a:t>
            </a:r>
            <a:r>
              <a:rPr dirty="0" err="1"/>
              <a:t>projet</a:t>
            </a:r>
            <a:r>
              <a:rPr dirty="0"/>
              <a:t> </a:t>
            </a:r>
            <a:r>
              <a:rPr dirty="0" err="1"/>
              <a:t>répondait</a:t>
            </a:r>
            <a:r>
              <a:rPr dirty="0"/>
              <a:t> à un </a:t>
            </a:r>
            <a:r>
              <a:rPr dirty="0" err="1"/>
              <a:t>besoin</a:t>
            </a:r>
            <a:r>
              <a:rPr dirty="0"/>
              <a:t> </a:t>
            </a:r>
            <a:r>
              <a:rPr dirty="0" err="1"/>
              <a:t>concret</a:t>
            </a:r>
            <a:r>
              <a:rPr dirty="0"/>
              <a:t> : transformer des </a:t>
            </a:r>
            <a:r>
              <a:rPr dirty="0" err="1"/>
              <a:t>données</a:t>
            </a:r>
            <a:r>
              <a:rPr dirty="0"/>
              <a:t> </a:t>
            </a:r>
            <a:r>
              <a:rPr dirty="0" err="1"/>
              <a:t>dispersées</a:t>
            </a:r>
            <a:r>
              <a:rPr dirty="0"/>
              <a:t> </a:t>
            </a:r>
            <a:r>
              <a:rPr dirty="0" err="1"/>
              <a:t>en</a:t>
            </a:r>
            <a:r>
              <a:rPr dirty="0"/>
              <a:t> un </a:t>
            </a:r>
            <a:r>
              <a:rPr dirty="0" err="1"/>
              <a:t>outil</a:t>
            </a:r>
            <a:r>
              <a:rPr dirty="0"/>
              <a:t> </a:t>
            </a:r>
            <a:r>
              <a:rPr dirty="0" err="1"/>
              <a:t>d'aide</a:t>
            </a:r>
            <a:r>
              <a:rPr dirty="0"/>
              <a:t> à la </a:t>
            </a:r>
            <a:r>
              <a:rPr dirty="0" err="1"/>
              <a:t>décision</a:t>
            </a:r>
            <a:r>
              <a:rPr dirty="0"/>
              <a:t>. Les quatre sprints </a:t>
            </a:r>
            <a:r>
              <a:rPr dirty="0" err="1"/>
              <a:t>ont</a:t>
            </a:r>
            <a:r>
              <a:rPr dirty="0"/>
              <a:t> </a:t>
            </a:r>
            <a:r>
              <a:rPr dirty="0" err="1"/>
              <a:t>livré</a:t>
            </a:r>
            <a:r>
              <a:rPr dirty="0"/>
              <a:t> quatre </a:t>
            </a:r>
            <a:r>
              <a:rPr dirty="0" err="1"/>
              <a:t>résultats</a:t>
            </a:r>
            <a:r>
              <a:rPr dirty="0"/>
              <a:t> : des </a:t>
            </a:r>
            <a:r>
              <a:rPr dirty="0" err="1"/>
              <a:t>données</a:t>
            </a:r>
            <a:r>
              <a:rPr dirty="0"/>
              <a:t> </a:t>
            </a:r>
            <a:r>
              <a:rPr dirty="0" err="1"/>
              <a:t>fiabilisées</a:t>
            </a:r>
            <a:r>
              <a:rPr dirty="0"/>
              <a:t> et </a:t>
            </a:r>
            <a:r>
              <a:rPr dirty="0" err="1"/>
              <a:t>une</a:t>
            </a:r>
            <a:r>
              <a:rPr dirty="0"/>
              <a:t> </a:t>
            </a:r>
            <a:r>
              <a:rPr dirty="0" err="1"/>
              <a:t>clientèle</a:t>
            </a:r>
            <a:r>
              <a:rPr dirty="0"/>
              <a:t> </a:t>
            </a:r>
            <a:r>
              <a:rPr dirty="0" err="1"/>
              <a:t>segmentée</a:t>
            </a:r>
            <a:r>
              <a:rPr dirty="0"/>
              <a:t> ; un </a:t>
            </a:r>
            <a:r>
              <a:rPr dirty="0" err="1"/>
              <a:t>modèle</a:t>
            </a:r>
            <a:r>
              <a:rPr dirty="0"/>
              <a:t> </a:t>
            </a:r>
            <a:r>
              <a:rPr dirty="0" err="1"/>
              <a:t>en</a:t>
            </a:r>
            <a:r>
              <a:rPr dirty="0"/>
              <a:t> étoile </a:t>
            </a:r>
            <a:r>
              <a:rPr dirty="0" err="1"/>
              <a:t>restitué</a:t>
            </a:r>
            <a:r>
              <a:rPr dirty="0"/>
              <a:t> dans Power BI ; un </a:t>
            </a:r>
            <a:r>
              <a:rPr dirty="0" err="1"/>
              <a:t>moteur</a:t>
            </a:r>
            <a:r>
              <a:rPr dirty="0"/>
              <a:t> </a:t>
            </a:r>
            <a:r>
              <a:rPr dirty="0" err="1"/>
              <a:t>hybride</a:t>
            </a:r>
            <a:r>
              <a:rPr dirty="0"/>
              <a:t> </a:t>
            </a:r>
            <a:r>
              <a:rPr dirty="0" err="1"/>
              <a:t>retenu</a:t>
            </a:r>
            <a:r>
              <a:rPr dirty="0"/>
              <a:t> après </a:t>
            </a:r>
            <a:r>
              <a:rPr dirty="0" err="1"/>
              <a:t>comparaison</a:t>
            </a:r>
            <a:r>
              <a:rPr dirty="0"/>
              <a:t> de sept </a:t>
            </a:r>
            <a:r>
              <a:rPr dirty="0" err="1"/>
              <a:t>approches</a:t>
            </a:r>
            <a:r>
              <a:rPr dirty="0"/>
              <a:t> ; et </a:t>
            </a:r>
            <a:r>
              <a:rPr dirty="0" err="1"/>
              <a:t>une</a:t>
            </a:r>
            <a:r>
              <a:rPr dirty="0"/>
              <a:t> application qui </a:t>
            </a:r>
            <a:r>
              <a:rPr dirty="0" err="1"/>
              <a:t>réunit</a:t>
            </a:r>
            <a:r>
              <a:rPr dirty="0"/>
              <a:t> </a:t>
            </a:r>
            <a:r>
              <a:rPr dirty="0" err="1"/>
              <a:t>l'ensemble</a:t>
            </a:r>
            <a:r>
              <a:rPr dirty="0"/>
              <a:t>, et </a:t>
            </a:r>
            <a:r>
              <a:rPr dirty="0" err="1"/>
              <a:t>dont</a:t>
            </a:r>
            <a:r>
              <a:rPr dirty="0"/>
              <a:t> la </a:t>
            </a:r>
            <a:r>
              <a:rPr dirty="0" err="1"/>
              <a:t>cohérence</a:t>
            </a:r>
            <a:r>
              <a:rPr dirty="0"/>
              <a:t> avec le notebook </a:t>
            </a:r>
            <a:r>
              <a:rPr dirty="0" err="1"/>
              <a:t>est</a:t>
            </a:r>
            <a:r>
              <a:rPr dirty="0"/>
              <a:t> </a:t>
            </a:r>
            <a:r>
              <a:rPr dirty="0" err="1"/>
              <a:t>vérifiée</a:t>
            </a:r>
            <a:r>
              <a:rPr dirty="0"/>
              <a:t> </a:t>
            </a:r>
            <a:r>
              <a:rPr dirty="0" err="1"/>
              <a:t>automatiquement</a:t>
            </a:r>
            <a:r>
              <a:rPr dirty="0"/>
              <a:t>. Sur le plan personnel, </a:t>
            </a:r>
            <a:r>
              <a:rPr dirty="0" err="1"/>
              <a:t>j'ai</a:t>
            </a:r>
            <a:r>
              <a:rPr dirty="0"/>
              <a:t> </a:t>
            </a:r>
            <a:r>
              <a:rPr dirty="0" err="1"/>
              <a:t>mené</a:t>
            </a:r>
            <a:r>
              <a:rPr dirty="0"/>
              <a:t> un </a:t>
            </a:r>
            <a:r>
              <a:rPr dirty="0" err="1"/>
              <a:t>projet</a:t>
            </a:r>
            <a:r>
              <a:rPr dirty="0"/>
              <a:t> de science des </a:t>
            </a:r>
            <a:r>
              <a:rPr dirty="0" err="1"/>
              <a:t>données</a:t>
            </a:r>
            <a:r>
              <a:rPr dirty="0"/>
              <a:t> de bout </a:t>
            </a:r>
            <a:r>
              <a:rPr dirty="0" err="1"/>
              <a:t>en</a:t>
            </a:r>
            <a:r>
              <a:rPr dirty="0"/>
              <a:t> bout, et </a:t>
            </a:r>
            <a:r>
              <a:rPr dirty="0" err="1"/>
              <a:t>j'en</a:t>
            </a:r>
            <a:r>
              <a:rPr dirty="0"/>
              <a:t> </a:t>
            </a:r>
            <a:r>
              <a:rPr dirty="0" err="1"/>
              <a:t>retiens</a:t>
            </a:r>
            <a:r>
              <a:rPr dirty="0"/>
              <a:t> surtout </a:t>
            </a:r>
            <a:r>
              <a:rPr dirty="0" err="1"/>
              <a:t>une</a:t>
            </a:r>
            <a:r>
              <a:rPr dirty="0"/>
              <a:t> exigence : </a:t>
            </a:r>
            <a:r>
              <a:rPr dirty="0" err="1"/>
              <a:t>vérifier</a:t>
            </a:r>
            <a:r>
              <a:rPr dirty="0"/>
              <a:t> </a:t>
            </a:r>
            <a:r>
              <a:rPr dirty="0" err="1"/>
              <a:t>ses</a:t>
            </a:r>
            <a:r>
              <a:rPr dirty="0"/>
              <a:t> </a:t>
            </a:r>
            <a:r>
              <a:rPr dirty="0" err="1"/>
              <a:t>résultats</a:t>
            </a:r>
            <a:r>
              <a:rPr dirty="0"/>
              <a:t> et savoir </a:t>
            </a:r>
            <a:r>
              <a:rPr dirty="0" err="1"/>
              <a:t>en</a:t>
            </a:r>
            <a:r>
              <a:rPr dirty="0"/>
              <a:t> exposer les </a:t>
            </a:r>
            <a:r>
              <a:rPr dirty="0" err="1"/>
              <a:t>limites</a:t>
            </a:r>
            <a:r>
              <a:rPr dirty="0"/>
              <a:t>. »</a:t>
            </a:r>
          </a:p>
          <a:p>
            <a:r>
              <a:rPr dirty="0"/>
              <a:t>Transition : « </a:t>
            </a:r>
            <a:r>
              <a:rPr dirty="0" err="1"/>
              <a:t>Ces</a:t>
            </a:r>
            <a:r>
              <a:rPr dirty="0"/>
              <a:t> </a:t>
            </a:r>
            <a:r>
              <a:rPr dirty="0" err="1"/>
              <a:t>limites</a:t>
            </a:r>
            <a:r>
              <a:rPr dirty="0"/>
              <a:t> </a:t>
            </a:r>
            <a:r>
              <a:rPr dirty="0" err="1"/>
              <a:t>dessinent</a:t>
            </a:r>
            <a:r>
              <a:rPr dirty="0"/>
              <a:t> </a:t>
            </a:r>
            <a:r>
              <a:rPr dirty="0" err="1"/>
              <a:t>naturellement</a:t>
            </a:r>
            <a:r>
              <a:rPr dirty="0"/>
              <a:t> la suite. »</a:t>
            </a:r>
          </a:p>
          <a:p>
            <a:r>
              <a:rPr dirty="0"/>
              <a:t>Conseil : faire </a:t>
            </a:r>
            <a:r>
              <a:rPr dirty="0" err="1"/>
              <a:t>apparaître</a:t>
            </a:r>
            <a:r>
              <a:rPr dirty="0"/>
              <a:t> les quatre </a:t>
            </a:r>
            <a:r>
              <a:rPr dirty="0" err="1"/>
              <a:t>jalons</a:t>
            </a:r>
            <a:r>
              <a:rPr dirty="0"/>
              <a:t> un à un.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À court </a:t>
            </a:r>
            <a:r>
              <a:rPr dirty="0" err="1"/>
              <a:t>terme</a:t>
            </a:r>
            <a:r>
              <a:rPr dirty="0"/>
              <a:t>, il </a:t>
            </a:r>
            <a:r>
              <a:rPr dirty="0" err="1"/>
              <a:t>s'agit</a:t>
            </a:r>
            <a:r>
              <a:rPr dirty="0"/>
              <a:t> de </a:t>
            </a:r>
            <a:r>
              <a:rPr dirty="0" err="1"/>
              <a:t>corriger</a:t>
            </a:r>
            <a:r>
              <a:rPr dirty="0"/>
              <a:t> le </a:t>
            </a:r>
            <a:r>
              <a:rPr dirty="0" err="1"/>
              <a:t>protocole</a:t>
            </a:r>
            <a:r>
              <a:rPr dirty="0"/>
              <a:t> </a:t>
            </a:r>
            <a:r>
              <a:rPr dirty="0" err="1"/>
              <a:t>d'évaluation</a:t>
            </a:r>
            <a:r>
              <a:rPr dirty="0"/>
              <a:t>, </a:t>
            </a:r>
            <a:r>
              <a:rPr dirty="0" err="1"/>
              <a:t>d'harmoniser</a:t>
            </a:r>
            <a:r>
              <a:rPr dirty="0"/>
              <a:t> les </a:t>
            </a:r>
            <a:r>
              <a:rPr dirty="0" err="1"/>
              <a:t>définitions</a:t>
            </a:r>
            <a:r>
              <a:rPr dirty="0"/>
              <a:t> </a:t>
            </a:r>
            <a:r>
              <a:rPr dirty="0" err="1"/>
              <a:t>d'indicateurs</a:t>
            </a:r>
            <a:r>
              <a:rPr dirty="0"/>
              <a:t> entre Power BI et </a:t>
            </a:r>
            <a:r>
              <a:rPr dirty="0" err="1"/>
              <a:t>l'application</a:t>
            </a:r>
            <a:r>
              <a:rPr dirty="0"/>
              <a:t>, et de </a:t>
            </a:r>
            <a:r>
              <a:rPr dirty="0" err="1"/>
              <a:t>mesurer</a:t>
            </a:r>
            <a:r>
              <a:rPr dirty="0"/>
              <a:t> la </a:t>
            </a:r>
            <a:r>
              <a:rPr dirty="0" err="1"/>
              <a:t>diversité</a:t>
            </a:r>
            <a:r>
              <a:rPr dirty="0"/>
              <a:t> des </a:t>
            </a:r>
            <a:r>
              <a:rPr dirty="0" err="1"/>
              <a:t>listes</a:t>
            </a:r>
            <a:r>
              <a:rPr dirty="0"/>
              <a:t>. À plus long </a:t>
            </a:r>
            <a:r>
              <a:rPr dirty="0" err="1"/>
              <a:t>terme</a:t>
            </a:r>
            <a:r>
              <a:rPr dirty="0"/>
              <a:t>, la </a:t>
            </a:r>
            <a:r>
              <a:rPr dirty="0" err="1"/>
              <a:t>collecte</a:t>
            </a:r>
            <a:r>
              <a:rPr dirty="0"/>
              <a:t> de </a:t>
            </a:r>
            <a:r>
              <a:rPr dirty="0" err="1"/>
              <a:t>l'historique</a:t>
            </a:r>
            <a:r>
              <a:rPr dirty="0"/>
              <a:t> </a:t>
            </a:r>
            <a:r>
              <a:rPr dirty="0" err="1"/>
              <a:t>réel</a:t>
            </a:r>
            <a:r>
              <a:rPr dirty="0"/>
              <a:t> </a:t>
            </a:r>
            <a:r>
              <a:rPr dirty="0" err="1"/>
              <a:t>permettra</a:t>
            </a:r>
            <a:r>
              <a:rPr dirty="0"/>
              <a:t> de </a:t>
            </a:r>
            <a:r>
              <a:rPr dirty="0" err="1"/>
              <a:t>réentraîner</a:t>
            </a:r>
            <a:r>
              <a:rPr dirty="0"/>
              <a:t> les </a:t>
            </a:r>
            <a:r>
              <a:rPr dirty="0" err="1"/>
              <a:t>modèles</a:t>
            </a:r>
            <a:r>
              <a:rPr dirty="0"/>
              <a:t>, et </a:t>
            </a:r>
            <a:r>
              <a:rPr dirty="0" err="1"/>
              <a:t>une</a:t>
            </a:r>
            <a:r>
              <a:rPr dirty="0"/>
              <a:t> </a:t>
            </a:r>
            <a:r>
              <a:rPr dirty="0" err="1"/>
              <a:t>expérimentation</a:t>
            </a:r>
            <a:r>
              <a:rPr dirty="0"/>
              <a:t> contrôlée </a:t>
            </a:r>
            <a:r>
              <a:rPr dirty="0" err="1"/>
              <a:t>auprès</a:t>
            </a:r>
            <a:r>
              <a:rPr dirty="0"/>
              <a:t> des clients </a:t>
            </a:r>
            <a:r>
              <a:rPr dirty="0" err="1"/>
              <a:t>mesurera</a:t>
            </a:r>
            <a:r>
              <a:rPr dirty="0"/>
              <a:t> </a:t>
            </a:r>
            <a:r>
              <a:rPr dirty="0" err="1"/>
              <a:t>l'apport</a:t>
            </a:r>
            <a:r>
              <a:rPr dirty="0"/>
              <a:t> commercial </a:t>
            </a:r>
            <a:r>
              <a:rPr dirty="0" err="1"/>
              <a:t>réel</a:t>
            </a:r>
            <a:r>
              <a:rPr dirty="0"/>
              <a:t> du </a:t>
            </a:r>
            <a:r>
              <a:rPr dirty="0" err="1"/>
              <a:t>moteur</a:t>
            </a:r>
            <a:r>
              <a:rPr dirty="0"/>
              <a:t>, </a:t>
            </a:r>
            <a:r>
              <a:rPr dirty="0" err="1"/>
              <a:t>ce</a:t>
            </a:r>
            <a:r>
              <a:rPr dirty="0"/>
              <a:t> </a:t>
            </a:r>
            <a:r>
              <a:rPr dirty="0" err="1"/>
              <a:t>qu'aucune</a:t>
            </a:r>
            <a:r>
              <a:rPr dirty="0"/>
              <a:t> </a:t>
            </a:r>
            <a:r>
              <a:rPr dirty="0" err="1"/>
              <a:t>métrique</a:t>
            </a:r>
            <a:r>
              <a:rPr dirty="0"/>
              <a:t> hors </a:t>
            </a:r>
            <a:r>
              <a:rPr dirty="0" err="1"/>
              <a:t>ligne</a:t>
            </a:r>
            <a:r>
              <a:rPr dirty="0"/>
              <a:t> ne </a:t>
            </a:r>
            <a:r>
              <a:rPr dirty="0" err="1"/>
              <a:t>peut</a:t>
            </a:r>
            <a:r>
              <a:rPr dirty="0"/>
              <a:t> </a:t>
            </a:r>
            <a:r>
              <a:rPr dirty="0" err="1"/>
              <a:t>garantir</a:t>
            </a:r>
            <a:r>
              <a:rPr dirty="0"/>
              <a:t>. »</a:t>
            </a:r>
          </a:p>
          <a:p>
            <a:r>
              <a:rPr dirty="0"/>
              <a:t>Transition : « Je </a:t>
            </a:r>
            <a:r>
              <a:rPr dirty="0" err="1"/>
              <a:t>vous</a:t>
            </a:r>
            <a:r>
              <a:rPr dirty="0"/>
              <a:t> </a:t>
            </a:r>
            <a:r>
              <a:rPr dirty="0" err="1"/>
              <a:t>remercie</a:t>
            </a:r>
            <a:r>
              <a:rPr dirty="0"/>
              <a:t> de </a:t>
            </a:r>
            <a:r>
              <a:rPr dirty="0" err="1"/>
              <a:t>votre</a:t>
            </a:r>
            <a:r>
              <a:rPr dirty="0"/>
              <a:t> attention. »</a:t>
            </a:r>
          </a:p>
          <a:p>
            <a:r>
              <a:rPr dirty="0"/>
              <a:t>Conseil : </a:t>
            </a:r>
            <a:r>
              <a:rPr dirty="0" err="1"/>
              <a:t>finir</a:t>
            </a:r>
            <a:r>
              <a:rPr dirty="0"/>
              <a:t> </a:t>
            </a:r>
            <a:r>
              <a:rPr dirty="0" err="1"/>
              <a:t>en</a:t>
            </a:r>
            <a:r>
              <a:rPr dirty="0"/>
              <a:t> regardant le jury, sans </a:t>
            </a:r>
            <a:r>
              <a:rPr dirty="0" err="1"/>
              <a:t>relire</a:t>
            </a:r>
            <a:r>
              <a:rPr dirty="0"/>
              <a:t> la diapositive.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Je </a:t>
            </a:r>
            <a:r>
              <a:rPr dirty="0" err="1"/>
              <a:t>remercie</a:t>
            </a:r>
            <a:r>
              <a:rPr dirty="0"/>
              <a:t> </a:t>
            </a:r>
            <a:r>
              <a:rPr dirty="0" err="1"/>
              <a:t>mes</a:t>
            </a:r>
            <a:r>
              <a:rPr dirty="0"/>
              <a:t> </a:t>
            </a:r>
            <a:r>
              <a:rPr dirty="0" err="1"/>
              <a:t>encadrants</a:t>
            </a:r>
            <a:r>
              <a:rPr dirty="0"/>
              <a:t>, M. </a:t>
            </a:r>
            <a:r>
              <a:rPr dirty="0" err="1"/>
              <a:t>Miladi</a:t>
            </a:r>
            <a:r>
              <a:rPr dirty="0"/>
              <a:t> et M. </a:t>
            </a:r>
            <a:r>
              <a:rPr dirty="0" err="1"/>
              <a:t>Kharrat</a:t>
            </a:r>
            <a:r>
              <a:rPr dirty="0"/>
              <a:t>, </a:t>
            </a:r>
            <a:r>
              <a:rPr dirty="0" err="1"/>
              <a:t>ainsi</a:t>
            </a:r>
            <a:r>
              <a:rPr dirty="0"/>
              <a:t> que M. Adel Nabi et </a:t>
            </a:r>
            <a:r>
              <a:rPr dirty="0" err="1"/>
              <a:t>l'équipe</a:t>
            </a:r>
            <a:r>
              <a:rPr dirty="0"/>
              <a:t> de </a:t>
            </a:r>
            <a:r>
              <a:rPr dirty="0" err="1"/>
              <a:t>l'agence</a:t>
            </a:r>
            <a:r>
              <a:rPr dirty="0"/>
              <a:t>. Je </a:t>
            </a:r>
            <a:r>
              <a:rPr dirty="0" err="1"/>
              <a:t>suis</a:t>
            </a:r>
            <a:r>
              <a:rPr dirty="0"/>
              <a:t> à </a:t>
            </a:r>
            <a:r>
              <a:rPr dirty="0" err="1"/>
              <a:t>votre</a:t>
            </a:r>
            <a:r>
              <a:rPr dirty="0"/>
              <a:t> disposition pour </a:t>
            </a:r>
            <a:r>
              <a:rPr dirty="0" err="1"/>
              <a:t>vos</a:t>
            </a:r>
            <a:r>
              <a:rPr dirty="0"/>
              <a:t> questions. »</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sprit.png"/>
          <p:cNvPicPr>
            <a:picLocks noChangeAspect="1"/>
          </p:cNvPicPr>
          <p:nvPr/>
        </p:nvPicPr>
        <p:blipFill>
          <a:blip r:embed="rId3"/>
          <a:stretch>
            <a:fillRect/>
          </a:stretch>
        </p:blipFill>
        <p:spPr>
          <a:xfrm>
            <a:off x="5029200" y="182880"/>
            <a:ext cx="2347352" cy="868680"/>
          </a:xfrm>
          <a:prstGeom prst="rect">
            <a:avLst/>
          </a:prstGeom>
        </p:spPr>
      </p:pic>
      <p:sp>
        <p:nvSpPr>
          <p:cNvPr id="3" name="TextBox 2"/>
          <p:cNvSpPr txBox="1"/>
          <p:nvPr/>
        </p:nvSpPr>
        <p:spPr>
          <a:xfrm>
            <a:off x="457200" y="1097280"/>
            <a:ext cx="11274552" cy="685800"/>
          </a:xfrm>
          <a:prstGeom prst="rect">
            <a:avLst/>
          </a:prstGeom>
          <a:noFill/>
        </p:spPr>
        <p:txBody>
          <a:bodyPr wrap="square" anchor="t">
            <a:spAutoFit/>
          </a:bodyPr>
          <a:lstStyle/>
          <a:p>
            <a:pPr algn="ctr"/>
            <a:r>
              <a:rPr sz="1500" b="1">
                <a:solidFill>
                  <a:srgbClr val="595959"/>
                </a:solidFill>
                <a:latin typeface="Calibri"/>
              </a:rPr>
              <a:t>Projet de fin d'études</a:t>
            </a:r>
          </a:p>
          <a:p>
            <a:pPr algn="ctr"/>
            <a:r>
              <a:rPr sz="1500" b="1">
                <a:solidFill>
                  <a:srgbClr val="595959"/>
                </a:solidFill>
                <a:latin typeface="Calibri"/>
              </a:rPr>
              <a:t>Pour l'obtention du Diplôme National d'Ingénieur · Spécialité : Data Science</a:t>
            </a:r>
          </a:p>
        </p:txBody>
      </p:sp>
      <p:sp>
        <p:nvSpPr>
          <p:cNvPr id="4" name="TextBox 3"/>
          <p:cNvSpPr txBox="1"/>
          <p:nvPr/>
        </p:nvSpPr>
        <p:spPr>
          <a:xfrm>
            <a:off x="731520" y="1828800"/>
            <a:ext cx="10698480" cy="1280160"/>
          </a:xfrm>
          <a:prstGeom prst="rect">
            <a:avLst/>
          </a:prstGeom>
          <a:noFill/>
        </p:spPr>
        <p:txBody>
          <a:bodyPr wrap="square" anchor="t">
            <a:spAutoFit/>
          </a:bodyPr>
          <a:lstStyle/>
          <a:p>
            <a:pPr algn="ctr"/>
            <a:r>
              <a:rPr sz="2800" b="1">
                <a:solidFill>
                  <a:srgbClr val="1F2A37"/>
                </a:solidFill>
                <a:latin typeface="Arial"/>
              </a:rPr>
              <a:t>Conception et réalisation d'un système décisionnel intégrant un moteur de recommandation de destinations pour une agence de voyages</a:t>
            </a:r>
          </a:p>
        </p:txBody>
      </p:sp>
      <p:sp>
        <p:nvSpPr>
          <p:cNvPr id="5" name="Freeform 4"/>
          <p:cNvSpPr/>
          <p:nvPr/>
        </p:nvSpPr>
        <p:spPr>
          <a:xfrm>
            <a:off x="2926080" y="3291840"/>
            <a:ext cx="9265615" cy="1737360"/>
          </a:xfrm>
          <a:custGeom>
            <a:avLst/>
            <a:gdLst/>
            <a:ahLst/>
            <a:cxnLst/>
            <a:rect l="l" t="t" r="r" b="b"/>
            <a:pathLst>
              <a:path w="9265615" h="1737360">
                <a:moveTo>
                  <a:pt x="0" y="1737360"/>
                </a:moveTo>
                <a:lnTo>
                  <a:pt x="9265615" y="0"/>
                </a:lnTo>
                <a:lnTo>
                  <a:pt x="9265615" y="1188720"/>
                </a:lnTo>
                <a:close/>
              </a:path>
            </a:pathLst>
          </a:cu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566160"/>
            <a:ext cx="5486400" cy="457200"/>
          </a:xfrm>
          <a:prstGeom prst="rect">
            <a:avLst/>
          </a:prstGeom>
          <a:noFill/>
        </p:spPr>
        <p:txBody>
          <a:bodyPr wrap="square" anchor="t">
            <a:spAutoFit/>
          </a:bodyPr>
          <a:lstStyle/>
          <a:p>
            <a:pPr algn="l"/>
            <a:r>
              <a:rPr sz="2000" b="1">
                <a:solidFill>
                  <a:srgbClr val="595959"/>
                </a:solidFill>
                <a:latin typeface="Calibri"/>
              </a:rPr>
              <a:t>Présenté par : Ranim Nabi</a:t>
            </a:r>
          </a:p>
        </p:txBody>
      </p:sp>
      <p:pic>
        <p:nvPicPr>
          <p:cNvPr id="7" name="Picture 6" descr="logo.png"/>
          <p:cNvPicPr>
            <a:picLocks noChangeAspect="1"/>
          </p:cNvPicPr>
          <p:nvPr/>
        </p:nvPicPr>
        <p:blipFill>
          <a:blip r:embed="rId4"/>
          <a:stretch>
            <a:fillRect/>
          </a:stretch>
        </p:blipFill>
        <p:spPr>
          <a:xfrm>
            <a:off x="640080" y="5394960"/>
            <a:ext cx="2744916" cy="914400"/>
          </a:xfrm>
          <a:prstGeom prst="rect">
            <a:avLst/>
          </a:prstGeom>
        </p:spPr>
      </p:pic>
      <p:sp>
        <p:nvSpPr>
          <p:cNvPr id="8" name="TextBox 7"/>
          <p:cNvSpPr txBox="1"/>
          <p:nvPr/>
        </p:nvSpPr>
        <p:spPr>
          <a:xfrm>
            <a:off x="4206240" y="5440680"/>
            <a:ext cx="4023360" cy="731520"/>
          </a:xfrm>
          <a:prstGeom prst="rect">
            <a:avLst/>
          </a:prstGeom>
          <a:noFill/>
        </p:spPr>
        <p:txBody>
          <a:bodyPr wrap="square" anchor="t">
            <a:spAutoFit/>
          </a:bodyPr>
          <a:lstStyle/>
          <a:p>
            <a:pPr algn="l"/>
            <a:r>
              <a:rPr sz="1300" b="0">
                <a:solidFill>
                  <a:srgbClr val="595959"/>
                </a:solidFill>
                <a:latin typeface="Calibri"/>
              </a:rPr>
              <a:t>Encadrant académique : M. Sirajeddine Miladi</a:t>
            </a:r>
          </a:p>
          <a:p>
            <a:pPr algn="l"/>
            <a:r>
              <a:rPr sz="1300" b="0">
                <a:solidFill>
                  <a:srgbClr val="595959"/>
                </a:solidFill>
                <a:latin typeface="Calibri"/>
              </a:rPr>
              <a:t>Encadrant professionnel : M. Kamel Kharrat</a:t>
            </a:r>
          </a:p>
        </p:txBody>
      </p:sp>
      <p:sp>
        <p:nvSpPr>
          <p:cNvPr id="9" name="TextBox 8"/>
          <p:cNvSpPr txBox="1"/>
          <p:nvPr/>
        </p:nvSpPr>
        <p:spPr>
          <a:xfrm>
            <a:off x="8412480" y="5440680"/>
            <a:ext cx="3474720" cy="731520"/>
          </a:xfrm>
          <a:prstGeom prst="rect">
            <a:avLst/>
          </a:prstGeom>
          <a:noFill/>
        </p:spPr>
        <p:txBody>
          <a:bodyPr wrap="square" anchor="t">
            <a:spAutoFit/>
          </a:bodyPr>
          <a:lstStyle/>
          <a:p>
            <a:pPr algn="l"/>
            <a:r>
              <a:rPr sz="1300" b="0">
                <a:solidFill>
                  <a:srgbClr val="595959"/>
                </a:solidFill>
                <a:latin typeface="Calibri"/>
              </a:rPr>
              <a:t>Président : à compléter</a:t>
            </a:r>
          </a:p>
          <a:p>
            <a:pPr algn="l"/>
            <a:r>
              <a:rPr sz="1300" b="0">
                <a:solidFill>
                  <a:srgbClr val="595959"/>
                </a:solidFill>
                <a:latin typeface="Calibri"/>
              </a:rPr>
              <a:t>Examinateur : à compléter</a:t>
            </a:r>
          </a:p>
        </p:txBody>
      </p:sp>
      <p:sp>
        <p:nvSpPr>
          <p:cNvPr id="10" name="TextBox 9"/>
          <p:cNvSpPr txBox="1"/>
          <p:nvPr/>
        </p:nvSpPr>
        <p:spPr>
          <a:xfrm>
            <a:off x="8412480" y="6355080"/>
            <a:ext cx="3474720" cy="320040"/>
          </a:xfrm>
          <a:prstGeom prst="rect">
            <a:avLst/>
          </a:prstGeom>
          <a:noFill/>
        </p:spPr>
        <p:txBody>
          <a:bodyPr wrap="square" anchor="t">
            <a:spAutoFit/>
          </a:bodyPr>
          <a:lstStyle/>
          <a:p>
            <a:pPr algn="r"/>
            <a:r>
              <a:rPr sz="1300" b="0">
                <a:solidFill>
                  <a:srgbClr val="595959"/>
                </a:solidFill>
                <a:latin typeface="Calibri"/>
              </a:rPr>
              <a:t>Soutenu le : à compléter</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Plan</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1005840" y="1463040"/>
            <a:ext cx="10241280" cy="566928"/>
          </a:xfrm>
          <a:prstGeom prst="rect">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0">
                <a:solidFill>
                  <a:srgbClr val="1F2A37"/>
                </a:solidFill>
                <a:latin typeface="Calibri"/>
              </a:rPr>
              <a:t>Contexte</a:t>
            </a:r>
          </a:p>
        </p:txBody>
      </p:sp>
      <p:sp>
        <p:nvSpPr>
          <p:cNvPr id="14" name="Oval 13"/>
          <p:cNvSpPr/>
          <p:nvPr/>
        </p:nvSpPr>
        <p:spPr>
          <a:xfrm>
            <a:off x="457200" y="1408176"/>
            <a:ext cx="676656" cy="676656"/>
          </a:xfrm>
          <a:prstGeom prst="ellipse">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1</a:t>
            </a:r>
          </a:p>
        </p:txBody>
      </p:sp>
      <p:sp>
        <p:nvSpPr>
          <p:cNvPr id="15" name="Rectangle 14"/>
          <p:cNvSpPr/>
          <p:nvPr/>
        </p:nvSpPr>
        <p:spPr>
          <a:xfrm>
            <a:off x="1005840" y="2240280"/>
            <a:ext cx="10241280" cy="566928"/>
          </a:xfrm>
          <a:prstGeom prst="rect">
            <a:avLst/>
          </a:prstGeom>
          <a:solidFill>
            <a:srgbClr val="FBF3E2"/>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0">
                <a:solidFill>
                  <a:srgbClr val="1F2A37"/>
                </a:solidFill>
                <a:latin typeface="Calibri"/>
              </a:rPr>
              <a:t>Analyse et conception</a:t>
            </a:r>
          </a:p>
        </p:txBody>
      </p:sp>
      <p:sp>
        <p:nvSpPr>
          <p:cNvPr id="16" name="Oval 15"/>
          <p:cNvSpPr/>
          <p:nvPr/>
        </p:nvSpPr>
        <p:spPr>
          <a:xfrm>
            <a:off x="457200" y="2185416"/>
            <a:ext cx="676656" cy="676656"/>
          </a:xfrm>
          <a:prstGeom prst="ellipse">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2</a:t>
            </a:r>
          </a:p>
        </p:txBody>
      </p:sp>
      <p:sp>
        <p:nvSpPr>
          <p:cNvPr id="17" name="Rectangle 16"/>
          <p:cNvSpPr/>
          <p:nvPr/>
        </p:nvSpPr>
        <p:spPr>
          <a:xfrm>
            <a:off x="1005840" y="3017520"/>
            <a:ext cx="10241280" cy="566928"/>
          </a:xfrm>
          <a:prstGeom prst="rect">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0">
                <a:solidFill>
                  <a:srgbClr val="1F2A37"/>
                </a:solidFill>
                <a:latin typeface="Calibri"/>
              </a:rPr>
              <a:t>Réalisation</a:t>
            </a:r>
          </a:p>
        </p:txBody>
      </p:sp>
      <p:sp>
        <p:nvSpPr>
          <p:cNvPr id="18" name="Oval 17"/>
          <p:cNvSpPr/>
          <p:nvPr/>
        </p:nvSpPr>
        <p:spPr>
          <a:xfrm>
            <a:off x="457200" y="2962656"/>
            <a:ext cx="676656" cy="676656"/>
          </a:xfrm>
          <a:prstGeom prst="ellipse">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3</a:t>
            </a:r>
          </a:p>
        </p:txBody>
      </p:sp>
      <p:sp>
        <p:nvSpPr>
          <p:cNvPr id="19" name="Rectangle 18"/>
          <p:cNvSpPr/>
          <p:nvPr/>
        </p:nvSpPr>
        <p:spPr>
          <a:xfrm>
            <a:off x="1005840" y="3794760"/>
            <a:ext cx="10241280" cy="566928"/>
          </a:xfrm>
          <a:prstGeom prst="rect">
            <a:avLst/>
          </a:prstGeom>
          <a:solidFill>
            <a:srgbClr val="FBF3E2"/>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0">
                <a:solidFill>
                  <a:srgbClr val="1F2A37"/>
                </a:solidFill>
                <a:latin typeface="Calibri"/>
              </a:rPr>
              <a:t>Moteur de recommandation</a:t>
            </a:r>
          </a:p>
        </p:txBody>
      </p:sp>
      <p:sp>
        <p:nvSpPr>
          <p:cNvPr id="20" name="Oval 19"/>
          <p:cNvSpPr/>
          <p:nvPr/>
        </p:nvSpPr>
        <p:spPr>
          <a:xfrm>
            <a:off x="457200" y="3739896"/>
            <a:ext cx="676656" cy="676656"/>
          </a:xfrm>
          <a:prstGeom prst="ellipse">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4</a:t>
            </a:r>
          </a:p>
        </p:txBody>
      </p:sp>
      <p:sp>
        <p:nvSpPr>
          <p:cNvPr id="21" name="Rectangle 20"/>
          <p:cNvSpPr/>
          <p:nvPr/>
        </p:nvSpPr>
        <p:spPr>
          <a:xfrm>
            <a:off x="1005840" y="4572000"/>
            <a:ext cx="10241280" cy="566928"/>
          </a:xfrm>
          <a:prstGeom prst="rect">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0">
                <a:solidFill>
                  <a:srgbClr val="1F2A37"/>
                </a:solidFill>
                <a:latin typeface="Calibri"/>
              </a:rPr>
              <a:t>Démonstration</a:t>
            </a:r>
          </a:p>
        </p:txBody>
      </p:sp>
      <p:sp>
        <p:nvSpPr>
          <p:cNvPr id="22" name="Oval 21"/>
          <p:cNvSpPr/>
          <p:nvPr/>
        </p:nvSpPr>
        <p:spPr>
          <a:xfrm>
            <a:off x="457200" y="4517136"/>
            <a:ext cx="676656" cy="676656"/>
          </a:xfrm>
          <a:prstGeom prst="ellipse">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5</a:t>
            </a:r>
          </a:p>
        </p:txBody>
      </p:sp>
      <p:sp>
        <p:nvSpPr>
          <p:cNvPr id="23" name="Rectangle 22"/>
          <p:cNvSpPr/>
          <p:nvPr/>
        </p:nvSpPr>
        <p:spPr>
          <a:xfrm>
            <a:off x="1005840" y="5349240"/>
            <a:ext cx="10241280" cy="566928"/>
          </a:xfrm>
          <a:prstGeom prst="rect">
            <a:avLst/>
          </a:prstGeom>
          <a:solidFill>
            <a:srgbClr val="FBF3E2"/>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0">
                <a:solidFill>
                  <a:srgbClr val="1F2A37"/>
                </a:solidFill>
                <a:latin typeface="Calibri"/>
              </a:rPr>
              <a:t>Conclusion</a:t>
            </a:r>
          </a:p>
        </p:txBody>
      </p:sp>
      <p:sp>
        <p:nvSpPr>
          <p:cNvPr id="24" name="Oval 23"/>
          <p:cNvSpPr/>
          <p:nvPr/>
        </p:nvSpPr>
        <p:spPr>
          <a:xfrm>
            <a:off x="457200" y="5294376"/>
            <a:ext cx="676656" cy="676656"/>
          </a:xfrm>
          <a:prstGeom prst="ellipse">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6</a:t>
            </a:r>
          </a:p>
        </p:txBody>
      </p:sp>
      <p:sp>
        <p:nvSpPr>
          <p:cNvPr id="25" name="TextBox 24"/>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26" name="TextBox 25"/>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4</a:t>
            </a:r>
          </a:p>
        </p:txBody>
      </p:sp>
      <p:sp>
        <p:nvSpPr>
          <p:cNvPr id="62" name="Shape 5">
            <a:extLst>
              <a:ext uri="{FF2B5EF4-FFF2-40B4-BE49-F238E27FC236}">
                <a16:creationId xmlns:a16="http://schemas.microsoft.com/office/drawing/2014/main" id="{EA4A69FB-4C67-4E93-800A-4F6FE15DF64E}"/>
              </a:ext>
            </a:extLst>
          </p:cNvPr>
          <p:cNvSpPr/>
          <p:nvPr/>
        </p:nvSpPr>
        <p:spPr>
          <a:xfrm>
            <a:off x="548640" y="1508760"/>
            <a:ext cx="5577840" cy="4526280"/>
          </a:xfrm>
          <a:prstGeom prst="roundRect">
            <a:avLst>
              <a:gd name="adj" fmla="val 2424"/>
            </a:avLst>
          </a:prstGeom>
          <a:solidFill>
            <a:srgbClr val="FFFFFF"/>
          </a:solidFill>
          <a:ln w="12700">
            <a:solidFill>
              <a:srgbClr val="D5E3F0"/>
            </a:solidFill>
            <a:prstDash val="solid"/>
          </a:ln>
          <a:effectLst>
            <a:outerShdw blurRad="101600" dist="25400" dir="5400000" algn="bl" rotWithShape="0">
              <a:srgbClr val="0A2540">
                <a:alpha val="12000"/>
              </a:srgbClr>
            </a:outerShdw>
          </a:effectLst>
        </p:spPr>
      </p:sp>
      <p:pic>
        <p:nvPicPr>
          <p:cNvPr id="63" name="Image 1" descr="assets/logo_sunny.png">
            <a:extLst>
              <a:ext uri="{FF2B5EF4-FFF2-40B4-BE49-F238E27FC236}">
                <a16:creationId xmlns:a16="http://schemas.microsoft.com/office/drawing/2014/main" id="{DB83D51B-8753-4E58-AF11-560E4F613756}"/>
              </a:ext>
            </a:extLst>
          </p:cNvPr>
          <p:cNvPicPr>
            <a:picLocks noChangeAspect="1"/>
          </p:cNvPicPr>
          <p:nvPr/>
        </p:nvPicPr>
        <p:blipFill>
          <a:blip r:embed="rId4"/>
          <a:stretch>
            <a:fillRect/>
          </a:stretch>
        </p:blipFill>
        <p:spPr>
          <a:xfrm>
            <a:off x="914400" y="1844158"/>
            <a:ext cx="4846320" cy="1066565"/>
          </a:xfrm>
          <a:prstGeom prst="rect">
            <a:avLst/>
          </a:prstGeom>
        </p:spPr>
      </p:pic>
      <p:sp>
        <p:nvSpPr>
          <p:cNvPr id="64" name="Text 6">
            <a:extLst>
              <a:ext uri="{FF2B5EF4-FFF2-40B4-BE49-F238E27FC236}">
                <a16:creationId xmlns:a16="http://schemas.microsoft.com/office/drawing/2014/main" id="{7765B773-93FE-4B78-AE47-7334237D1CBC}"/>
              </a:ext>
            </a:extLst>
          </p:cNvPr>
          <p:cNvSpPr txBox="1"/>
          <p:nvPr/>
        </p:nvSpPr>
        <p:spPr>
          <a:xfrm>
            <a:off x="914400" y="3246120"/>
            <a:ext cx="4846320" cy="1005840"/>
          </a:xfrm>
          <a:prstGeom prst="rect">
            <a:avLst/>
          </a:prstGeom>
          <a:noFill/>
          <a:ln/>
        </p:spPr>
        <p:txBody>
          <a:bodyPr wrap="square" lIns="0" tIns="0" rIns="0" bIns="0" rtlCol="0" anchor="t"/>
          <a:lstStyle/>
          <a:p>
            <a:pPr marL="0" indent="0">
              <a:buNone/>
            </a:pPr>
            <a:r>
              <a:rPr lang="en-US" sz="1600" dirty="0">
                <a:solidFill>
                  <a:srgbClr val="1B2A3A"/>
                </a:solidFill>
                <a:latin typeface="Calibri" pitchFamily="34" charset="0"/>
                <a:ea typeface="Calibri" pitchFamily="34" charset="-122"/>
                <a:cs typeface="Calibri" pitchFamily="34" charset="-120"/>
              </a:rPr>
              <a:t>Agence de voyages basée à Monastir : vols, hôtels, forfaits et conseil personnalisé pour organiser le séjour idéal.</a:t>
            </a:r>
            <a:endParaRPr lang="en-US" sz="1600" dirty="0"/>
          </a:p>
        </p:txBody>
      </p:sp>
      <p:sp>
        <p:nvSpPr>
          <p:cNvPr id="65" name="Text 7">
            <a:extLst>
              <a:ext uri="{FF2B5EF4-FFF2-40B4-BE49-F238E27FC236}">
                <a16:creationId xmlns:a16="http://schemas.microsoft.com/office/drawing/2014/main" id="{012E9715-C8D2-4EF3-A3F5-4497A7935253}"/>
              </a:ext>
            </a:extLst>
          </p:cNvPr>
          <p:cNvSpPr txBox="1"/>
          <p:nvPr/>
        </p:nvSpPr>
        <p:spPr>
          <a:xfrm>
            <a:off x="914400" y="4480560"/>
            <a:ext cx="4846320" cy="914400"/>
          </a:xfrm>
          <a:prstGeom prst="rect">
            <a:avLst/>
          </a:prstGeom>
          <a:noFill/>
          <a:ln/>
        </p:spPr>
        <p:txBody>
          <a:bodyPr wrap="square" lIns="0" tIns="0" rIns="0" bIns="0" rtlCol="0" anchor="t"/>
          <a:lstStyle/>
          <a:p>
            <a:pPr marL="0" indent="0">
              <a:buNone/>
            </a:pPr>
            <a:r>
              <a:rPr lang="en-US" sz="1600" i="1" dirty="0">
                <a:solidFill>
                  <a:srgbClr val="F39200"/>
                </a:solidFill>
                <a:latin typeface="Calibri" pitchFamily="34" charset="0"/>
                <a:ea typeface="Calibri" pitchFamily="34" charset="-122"/>
                <a:cs typeface="Calibri" pitchFamily="34" charset="-120"/>
              </a:rPr>
              <a:t>Une agence à taille humaine, prête à franchir le cap du numérique et de la donnée.</a:t>
            </a:r>
            <a:endParaRPr lang="en-US" sz="1600" dirty="0"/>
          </a:p>
        </p:txBody>
      </p:sp>
      <p:sp>
        <p:nvSpPr>
          <p:cNvPr id="66" name="Shape 8">
            <a:extLst>
              <a:ext uri="{FF2B5EF4-FFF2-40B4-BE49-F238E27FC236}">
                <a16:creationId xmlns:a16="http://schemas.microsoft.com/office/drawing/2014/main" id="{D0079ABA-30B8-41DF-8995-5338B50E999A}"/>
              </a:ext>
            </a:extLst>
          </p:cNvPr>
          <p:cNvSpPr/>
          <p:nvPr/>
        </p:nvSpPr>
        <p:spPr>
          <a:xfrm>
            <a:off x="6446520" y="1572768"/>
            <a:ext cx="5212080" cy="768096"/>
          </a:xfrm>
          <a:prstGeom prst="roundRect">
            <a:avLst>
              <a:gd name="adj" fmla="val 14286"/>
            </a:avLst>
          </a:prstGeom>
          <a:solidFill>
            <a:srgbClr val="EEF5FB"/>
          </a:solidFill>
          <a:ln w="12700">
            <a:solidFill>
              <a:srgbClr val="EEF5FB"/>
            </a:solidFill>
            <a:prstDash val="solid"/>
          </a:ln>
          <a:effectLst>
            <a:outerShdw blurRad="101600" dist="25400" dir="5400000" algn="bl" rotWithShape="0">
              <a:srgbClr val="0A2540">
                <a:alpha val="12000"/>
              </a:srgbClr>
            </a:outerShdw>
          </a:effectLst>
        </p:spPr>
      </p:sp>
      <p:sp>
        <p:nvSpPr>
          <p:cNvPr id="67" name="Shape 9">
            <a:extLst>
              <a:ext uri="{FF2B5EF4-FFF2-40B4-BE49-F238E27FC236}">
                <a16:creationId xmlns:a16="http://schemas.microsoft.com/office/drawing/2014/main" id="{CF57090C-CEC9-4C98-BF7E-E3021D5D026C}"/>
              </a:ext>
            </a:extLst>
          </p:cNvPr>
          <p:cNvSpPr/>
          <p:nvPr/>
        </p:nvSpPr>
        <p:spPr>
          <a:xfrm>
            <a:off x="6629400" y="1700784"/>
            <a:ext cx="512064" cy="512064"/>
          </a:xfrm>
          <a:prstGeom prst="ellipse">
            <a:avLst/>
          </a:prstGeom>
          <a:solidFill>
            <a:srgbClr val="0A4A8C"/>
          </a:solidFill>
          <a:ln w="12700">
            <a:solidFill>
              <a:srgbClr val="0A4A8C"/>
            </a:solidFill>
            <a:prstDash val="solid"/>
          </a:ln>
        </p:spPr>
      </p:sp>
      <p:pic>
        <p:nvPicPr>
          <p:cNvPr id="68" name="Image 2" descr="preencoded.png">
            <a:extLst>
              <a:ext uri="{FF2B5EF4-FFF2-40B4-BE49-F238E27FC236}">
                <a16:creationId xmlns:a16="http://schemas.microsoft.com/office/drawing/2014/main" id="{332E7C0C-6C88-4878-A677-F31AE2C2900B}"/>
              </a:ext>
            </a:extLst>
          </p:cNvPr>
          <p:cNvPicPr>
            <a:picLocks noChangeAspect="1"/>
          </p:cNvPicPr>
          <p:nvPr/>
        </p:nvPicPr>
        <p:blipFill>
          <a:blip r:embed="rId5"/>
          <a:stretch>
            <a:fillRect/>
          </a:stretch>
        </p:blipFill>
        <p:spPr>
          <a:xfrm>
            <a:off x="6762537" y="1833921"/>
            <a:ext cx="245791" cy="245791"/>
          </a:xfrm>
          <a:prstGeom prst="rect">
            <a:avLst/>
          </a:prstGeom>
        </p:spPr>
      </p:pic>
      <p:sp>
        <p:nvSpPr>
          <p:cNvPr id="69" name="Text 10">
            <a:extLst>
              <a:ext uri="{FF2B5EF4-FFF2-40B4-BE49-F238E27FC236}">
                <a16:creationId xmlns:a16="http://schemas.microsoft.com/office/drawing/2014/main" id="{C892D319-B6CA-4B5A-B5F8-EBE6F2FB33E6}"/>
              </a:ext>
            </a:extLst>
          </p:cNvPr>
          <p:cNvSpPr txBox="1"/>
          <p:nvPr/>
        </p:nvSpPr>
        <p:spPr>
          <a:xfrm>
            <a:off x="7315200" y="1691640"/>
            <a:ext cx="4114800" cy="228600"/>
          </a:xfrm>
          <a:prstGeom prst="rect">
            <a:avLst/>
          </a:prstGeom>
          <a:noFill/>
          <a:ln/>
        </p:spPr>
        <p:txBody>
          <a:bodyPr wrap="square" lIns="0" tIns="0" rIns="0" bIns="0" rtlCol="0" anchor="t"/>
          <a:lstStyle/>
          <a:p>
            <a:pPr marL="0" indent="0">
              <a:buNone/>
            </a:pPr>
            <a:r>
              <a:rPr lang="en-US" sz="1000" b="1" kern="0" spc="100" dirty="0">
                <a:solidFill>
                  <a:srgbClr val="5B6B7F"/>
                </a:solidFill>
                <a:latin typeface="Calibri" pitchFamily="34" charset="0"/>
                <a:ea typeface="Calibri" pitchFamily="34" charset="-122"/>
                <a:cs typeface="Calibri" pitchFamily="34" charset="-120"/>
              </a:rPr>
              <a:t>DIRECTEUR</a:t>
            </a:r>
            <a:endParaRPr lang="en-US" sz="1000" dirty="0"/>
          </a:p>
        </p:txBody>
      </p:sp>
      <p:sp>
        <p:nvSpPr>
          <p:cNvPr id="70" name="Text 11">
            <a:extLst>
              <a:ext uri="{FF2B5EF4-FFF2-40B4-BE49-F238E27FC236}">
                <a16:creationId xmlns:a16="http://schemas.microsoft.com/office/drawing/2014/main" id="{46650908-5DEF-4DA5-9DFD-3C39D75AC910}"/>
              </a:ext>
            </a:extLst>
          </p:cNvPr>
          <p:cNvSpPr txBox="1"/>
          <p:nvPr/>
        </p:nvSpPr>
        <p:spPr>
          <a:xfrm>
            <a:off x="7315200" y="1920240"/>
            <a:ext cx="4206240" cy="320040"/>
          </a:xfrm>
          <a:prstGeom prst="rect">
            <a:avLst/>
          </a:prstGeom>
          <a:noFill/>
          <a:ln/>
        </p:spPr>
        <p:txBody>
          <a:bodyPr wrap="square" lIns="0" tIns="0" rIns="0" bIns="0" rtlCol="0" anchor="t"/>
          <a:lstStyle/>
          <a:p>
            <a:pPr marL="0" indent="0">
              <a:buNone/>
            </a:pPr>
            <a:r>
              <a:rPr lang="en-US" sz="1500" b="1" dirty="0">
                <a:solidFill>
                  <a:srgbClr val="0A4A8C"/>
                </a:solidFill>
                <a:latin typeface="Calibri" pitchFamily="34" charset="0"/>
                <a:ea typeface="Calibri" pitchFamily="34" charset="-122"/>
                <a:cs typeface="Calibri" pitchFamily="34" charset="-120"/>
              </a:rPr>
              <a:t>M. Adel Nabi</a:t>
            </a:r>
            <a:endParaRPr lang="en-US" sz="1500" dirty="0"/>
          </a:p>
        </p:txBody>
      </p:sp>
      <p:sp>
        <p:nvSpPr>
          <p:cNvPr id="71" name="Shape 12">
            <a:extLst>
              <a:ext uri="{FF2B5EF4-FFF2-40B4-BE49-F238E27FC236}">
                <a16:creationId xmlns:a16="http://schemas.microsoft.com/office/drawing/2014/main" id="{97CCA353-8137-4A7F-94AE-8078094391E6}"/>
              </a:ext>
            </a:extLst>
          </p:cNvPr>
          <p:cNvSpPr/>
          <p:nvPr/>
        </p:nvSpPr>
        <p:spPr>
          <a:xfrm>
            <a:off x="6446520" y="2478024"/>
            <a:ext cx="5212080" cy="768096"/>
          </a:xfrm>
          <a:prstGeom prst="roundRect">
            <a:avLst>
              <a:gd name="adj" fmla="val 14286"/>
            </a:avLst>
          </a:prstGeom>
          <a:solidFill>
            <a:srgbClr val="EEF5FB"/>
          </a:solidFill>
          <a:ln w="12700">
            <a:solidFill>
              <a:srgbClr val="EEF5FB"/>
            </a:solidFill>
            <a:prstDash val="solid"/>
          </a:ln>
          <a:effectLst>
            <a:outerShdw blurRad="101600" dist="25400" dir="5400000" algn="bl" rotWithShape="0">
              <a:srgbClr val="0A2540">
                <a:alpha val="12000"/>
              </a:srgbClr>
            </a:outerShdw>
          </a:effectLst>
        </p:spPr>
      </p:sp>
      <p:sp>
        <p:nvSpPr>
          <p:cNvPr id="72" name="Shape 13">
            <a:extLst>
              <a:ext uri="{FF2B5EF4-FFF2-40B4-BE49-F238E27FC236}">
                <a16:creationId xmlns:a16="http://schemas.microsoft.com/office/drawing/2014/main" id="{006170C6-D72A-4428-9B80-367993826255}"/>
              </a:ext>
            </a:extLst>
          </p:cNvPr>
          <p:cNvSpPr/>
          <p:nvPr/>
        </p:nvSpPr>
        <p:spPr>
          <a:xfrm>
            <a:off x="6629400" y="2606040"/>
            <a:ext cx="512064" cy="512064"/>
          </a:xfrm>
          <a:prstGeom prst="ellipse">
            <a:avLst/>
          </a:prstGeom>
          <a:solidFill>
            <a:srgbClr val="F39200"/>
          </a:solidFill>
          <a:ln w="12700">
            <a:solidFill>
              <a:srgbClr val="F39200"/>
            </a:solidFill>
            <a:prstDash val="solid"/>
          </a:ln>
        </p:spPr>
      </p:sp>
      <p:pic>
        <p:nvPicPr>
          <p:cNvPr id="73" name="Image 3" descr="preencoded.png">
            <a:extLst>
              <a:ext uri="{FF2B5EF4-FFF2-40B4-BE49-F238E27FC236}">
                <a16:creationId xmlns:a16="http://schemas.microsoft.com/office/drawing/2014/main" id="{F9EEE12E-9A51-482E-8040-B5C4CDD3CD4D}"/>
              </a:ext>
            </a:extLst>
          </p:cNvPr>
          <p:cNvPicPr>
            <a:picLocks noChangeAspect="1"/>
          </p:cNvPicPr>
          <p:nvPr/>
        </p:nvPicPr>
        <p:blipFill>
          <a:blip r:embed="rId6"/>
          <a:stretch>
            <a:fillRect/>
          </a:stretch>
        </p:blipFill>
        <p:spPr>
          <a:xfrm>
            <a:off x="6762537" y="2739177"/>
            <a:ext cx="245791" cy="245791"/>
          </a:xfrm>
          <a:prstGeom prst="rect">
            <a:avLst/>
          </a:prstGeom>
        </p:spPr>
      </p:pic>
      <p:sp>
        <p:nvSpPr>
          <p:cNvPr id="74" name="Text 14">
            <a:extLst>
              <a:ext uri="{FF2B5EF4-FFF2-40B4-BE49-F238E27FC236}">
                <a16:creationId xmlns:a16="http://schemas.microsoft.com/office/drawing/2014/main" id="{69DD81CB-C78B-4F07-9E5C-9E6CC87E268E}"/>
              </a:ext>
            </a:extLst>
          </p:cNvPr>
          <p:cNvSpPr txBox="1"/>
          <p:nvPr/>
        </p:nvSpPr>
        <p:spPr>
          <a:xfrm>
            <a:off x="7315200" y="2596896"/>
            <a:ext cx="4114800" cy="228600"/>
          </a:xfrm>
          <a:prstGeom prst="rect">
            <a:avLst/>
          </a:prstGeom>
          <a:noFill/>
          <a:ln/>
        </p:spPr>
        <p:txBody>
          <a:bodyPr wrap="square" lIns="0" tIns="0" rIns="0" bIns="0" rtlCol="0" anchor="t"/>
          <a:lstStyle/>
          <a:p>
            <a:pPr marL="0" indent="0">
              <a:buNone/>
            </a:pPr>
            <a:r>
              <a:rPr lang="en-US" sz="1000" b="1" kern="0" spc="100" dirty="0">
                <a:solidFill>
                  <a:srgbClr val="5B6B7F"/>
                </a:solidFill>
                <a:latin typeface="Calibri" pitchFamily="34" charset="0"/>
                <a:ea typeface="Calibri" pitchFamily="34" charset="-122"/>
                <a:cs typeface="Calibri" pitchFamily="34" charset="-120"/>
              </a:rPr>
              <a:t>SIÈGE</a:t>
            </a:r>
            <a:endParaRPr lang="en-US" sz="1000" dirty="0"/>
          </a:p>
        </p:txBody>
      </p:sp>
      <p:sp>
        <p:nvSpPr>
          <p:cNvPr id="75" name="Text 15">
            <a:extLst>
              <a:ext uri="{FF2B5EF4-FFF2-40B4-BE49-F238E27FC236}">
                <a16:creationId xmlns:a16="http://schemas.microsoft.com/office/drawing/2014/main" id="{34136CC3-4809-4538-9F28-7D58E6390FB2}"/>
              </a:ext>
            </a:extLst>
          </p:cNvPr>
          <p:cNvSpPr txBox="1"/>
          <p:nvPr/>
        </p:nvSpPr>
        <p:spPr>
          <a:xfrm>
            <a:off x="7315200" y="2825496"/>
            <a:ext cx="4206240" cy="320040"/>
          </a:xfrm>
          <a:prstGeom prst="rect">
            <a:avLst/>
          </a:prstGeom>
          <a:noFill/>
          <a:ln/>
        </p:spPr>
        <p:txBody>
          <a:bodyPr wrap="square" lIns="0" tIns="0" rIns="0" bIns="0" rtlCol="0" anchor="t"/>
          <a:lstStyle/>
          <a:p>
            <a:pPr marL="0" indent="0">
              <a:buNone/>
            </a:pPr>
            <a:r>
              <a:rPr lang="en-US" sz="1500" b="1" dirty="0">
                <a:solidFill>
                  <a:srgbClr val="0A4A8C"/>
                </a:solidFill>
                <a:latin typeface="Calibri" pitchFamily="34" charset="0"/>
                <a:ea typeface="Calibri" pitchFamily="34" charset="-122"/>
                <a:cs typeface="Calibri" pitchFamily="34" charset="-120"/>
              </a:rPr>
              <a:t>Av. Habib Bourguiba, 5000 Monastir</a:t>
            </a:r>
            <a:endParaRPr lang="en-US" sz="1500" dirty="0"/>
          </a:p>
        </p:txBody>
      </p:sp>
      <p:sp>
        <p:nvSpPr>
          <p:cNvPr id="76" name="Shape 16">
            <a:extLst>
              <a:ext uri="{FF2B5EF4-FFF2-40B4-BE49-F238E27FC236}">
                <a16:creationId xmlns:a16="http://schemas.microsoft.com/office/drawing/2014/main" id="{277F9714-AF98-4E30-8D05-B4385A1279EF}"/>
              </a:ext>
            </a:extLst>
          </p:cNvPr>
          <p:cNvSpPr/>
          <p:nvPr/>
        </p:nvSpPr>
        <p:spPr>
          <a:xfrm>
            <a:off x="6446520" y="3383280"/>
            <a:ext cx="5212080" cy="768096"/>
          </a:xfrm>
          <a:prstGeom prst="roundRect">
            <a:avLst>
              <a:gd name="adj" fmla="val 14286"/>
            </a:avLst>
          </a:prstGeom>
          <a:solidFill>
            <a:srgbClr val="EEF5FB"/>
          </a:solidFill>
          <a:ln w="12700">
            <a:solidFill>
              <a:srgbClr val="EEF5FB"/>
            </a:solidFill>
            <a:prstDash val="solid"/>
          </a:ln>
          <a:effectLst>
            <a:outerShdw blurRad="101600" dist="25400" dir="5400000" algn="bl" rotWithShape="0">
              <a:srgbClr val="0A2540">
                <a:alpha val="12000"/>
              </a:srgbClr>
            </a:outerShdw>
          </a:effectLst>
        </p:spPr>
      </p:sp>
      <p:sp>
        <p:nvSpPr>
          <p:cNvPr id="77" name="Shape 17">
            <a:extLst>
              <a:ext uri="{FF2B5EF4-FFF2-40B4-BE49-F238E27FC236}">
                <a16:creationId xmlns:a16="http://schemas.microsoft.com/office/drawing/2014/main" id="{57F58F95-3C52-42D1-9313-25CA3D4A5773}"/>
              </a:ext>
            </a:extLst>
          </p:cNvPr>
          <p:cNvSpPr/>
          <p:nvPr/>
        </p:nvSpPr>
        <p:spPr>
          <a:xfrm>
            <a:off x="6629400" y="3511296"/>
            <a:ext cx="512064" cy="512064"/>
          </a:xfrm>
          <a:prstGeom prst="ellipse">
            <a:avLst/>
          </a:prstGeom>
          <a:solidFill>
            <a:srgbClr val="0A4A8C"/>
          </a:solidFill>
          <a:ln w="12700">
            <a:solidFill>
              <a:srgbClr val="0A4A8C"/>
            </a:solidFill>
            <a:prstDash val="solid"/>
          </a:ln>
        </p:spPr>
      </p:sp>
      <p:pic>
        <p:nvPicPr>
          <p:cNvPr id="78" name="Image 4" descr="preencoded.png">
            <a:extLst>
              <a:ext uri="{FF2B5EF4-FFF2-40B4-BE49-F238E27FC236}">
                <a16:creationId xmlns:a16="http://schemas.microsoft.com/office/drawing/2014/main" id="{168C1347-C0B2-4DC3-91C0-769F62DBFF9D}"/>
              </a:ext>
            </a:extLst>
          </p:cNvPr>
          <p:cNvPicPr>
            <a:picLocks noChangeAspect="1"/>
          </p:cNvPicPr>
          <p:nvPr/>
        </p:nvPicPr>
        <p:blipFill>
          <a:blip r:embed="rId7"/>
          <a:stretch>
            <a:fillRect/>
          </a:stretch>
        </p:blipFill>
        <p:spPr>
          <a:xfrm>
            <a:off x="6762537" y="3644433"/>
            <a:ext cx="245791" cy="245791"/>
          </a:xfrm>
          <a:prstGeom prst="rect">
            <a:avLst/>
          </a:prstGeom>
        </p:spPr>
      </p:pic>
      <p:sp>
        <p:nvSpPr>
          <p:cNvPr id="79" name="Text 18">
            <a:extLst>
              <a:ext uri="{FF2B5EF4-FFF2-40B4-BE49-F238E27FC236}">
                <a16:creationId xmlns:a16="http://schemas.microsoft.com/office/drawing/2014/main" id="{BF107EDE-81A8-4F01-934B-B2E1A1583E6C}"/>
              </a:ext>
            </a:extLst>
          </p:cNvPr>
          <p:cNvSpPr txBox="1"/>
          <p:nvPr/>
        </p:nvSpPr>
        <p:spPr>
          <a:xfrm>
            <a:off x="7315200" y="3502152"/>
            <a:ext cx="4114800" cy="228600"/>
          </a:xfrm>
          <a:prstGeom prst="rect">
            <a:avLst/>
          </a:prstGeom>
          <a:noFill/>
          <a:ln/>
        </p:spPr>
        <p:txBody>
          <a:bodyPr wrap="square" lIns="0" tIns="0" rIns="0" bIns="0" rtlCol="0" anchor="t"/>
          <a:lstStyle/>
          <a:p>
            <a:pPr marL="0" indent="0">
              <a:buNone/>
            </a:pPr>
            <a:r>
              <a:rPr lang="en-US" sz="1000" b="1" kern="0" spc="100" dirty="0">
                <a:solidFill>
                  <a:srgbClr val="5B6B7F"/>
                </a:solidFill>
                <a:latin typeface="Calibri" pitchFamily="34" charset="0"/>
                <a:ea typeface="Calibri" pitchFamily="34" charset="-122"/>
                <a:cs typeface="Calibri" pitchFamily="34" charset="-120"/>
              </a:rPr>
              <a:t>TÉLÉPHONE</a:t>
            </a:r>
            <a:endParaRPr lang="en-US" sz="1000" dirty="0"/>
          </a:p>
        </p:txBody>
      </p:sp>
      <p:sp>
        <p:nvSpPr>
          <p:cNvPr id="80" name="Text 19">
            <a:extLst>
              <a:ext uri="{FF2B5EF4-FFF2-40B4-BE49-F238E27FC236}">
                <a16:creationId xmlns:a16="http://schemas.microsoft.com/office/drawing/2014/main" id="{2997000D-36DD-4D77-BACA-ACD95A8C321F}"/>
              </a:ext>
            </a:extLst>
          </p:cNvPr>
          <p:cNvSpPr txBox="1"/>
          <p:nvPr/>
        </p:nvSpPr>
        <p:spPr>
          <a:xfrm>
            <a:off x="7315200" y="3730752"/>
            <a:ext cx="4206240" cy="320040"/>
          </a:xfrm>
          <a:prstGeom prst="rect">
            <a:avLst/>
          </a:prstGeom>
          <a:noFill/>
          <a:ln/>
        </p:spPr>
        <p:txBody>
          <a:bodyPr wrap="square" lIns="0" tIns="0" rIns="0" bIns="0" rtlCol="0" anchor="t"/>
          <a:lstStyle/>
          <a:p>
            <a:pPr marL="0" indent="0">
              <a:buNone/>
            </a:pPr>
            <a:r>
              <a:rPr lang="en-US" sz="1500" b="1" dirty="0">
                <a:solidFill>
                  <a:srgbClr val="0A4A8C"/>
                </a:solidFill>
                <a:latin typeface="Calibri" pitchFamily="34" charset="0"/>
                <a:ea typeface="Calibri" pitchFamily="34" charset="-122"/>
                <a:cs typeface="Calibri" pitchFamily="34" charset="-120"/>
              </a:rPr>
              <a:t>+216 73 425 730</a:t>
            </a:r>
            <a:endParaRPr lang="en-US" sz="1500" dirty="0"/>
          </a:p>
        </p:txBody>
      </p:sp>
      <p:sp>
        <p:nvSpPr>
          <p:cNvPr id="81" name="Shape 20">
            <a:extLst>
              <a:ext uri="{FF2B5EF4-FFF2-40B4-BE49-F238E27FC236}">
                <a16:creationId xmlns:a16="http://schemas.microsoft.com/office/drawing/2014/main" id="{56AADFAD-3841-4797-B323-77061B6989C9}"/>
              </a:ext>
            </a:extLst>
          </p:cNvPr>
          <p:cNvSpPr/>
          <p:nvPr/>
        </p:nvSpPr>
        <p:spPr>
          <a:xfrm>
            <a:off x="6446520" y="4288536"/>
            <a:ext cx="5212080" cy="768096"/>
          </a:xfrm>
          <a:prstGeom prst="roundRect">
            <a:avLst>
              <a:gd name="adj" fmla="val 14286"/>
            </a:avLst>
          </a:prstGeom>
          <a:solidFill>
            <a:srgbClr val="EEF5FB"/>
          </a:solidFill>
          <a:ln w="12700">
            <a:solidFill>
              <a:srgbClr val="EEF5FB"/>
            </a:solidFill>
            <a:prstDash val="solid"/>
          </a:ln>
          <a:effectLst>
            <a:outerShdw blurRad="101600" dist="25400" dir="5400000" algn="bl" rotWithShape="0">
              <a:srgbClr val="0A2540">
                <a:alpha val="12000"/>
              </a:srgbClr>
            </a:outerShdw>
          </a:effectLst>
        </p:spPr>
      </p:sp>
      <p:sp>
        <p:nvSpPr>
          <p:cNvPr id="82" name="Shape 21">
            <a:extLst>
              <a:ext uri="{FF2B5EF4-FFF2-40B4-BE49-F238E27FC236}">
                <a16:creationId xmlns:a16="http://schemas.microsoft.com/office/drawing/2014/main" id="{14231AC8-8AC4-43DE-BA9F-AB4B707A3502}"/>
              </a:ext>
            </a:extLst>
          </p:cNvPr>
          <p:cNvSpPr/>
          <p:nvPr/>
        </p:nvSpPr>
        <p:spPr>
          <a:xfrm>
            <a:off x="6629400" y="4416552"/>
            <a:ext cx="512064" cy="512064"/>
          </a:xfrm>
          <a:prstGeom prst="ellipse">
            <a:avLst/>
          </a:prstGeom>
          <a:solidFill>
            <a:srgbClr val="F39200"/>
          </a:solidFill>
          <a:ln w="12700">
            <a:solidFill>
              <a:srgbClr val="F39200"/>
            </a:solidFill>
            <a:prstDash val="solid"/>
          </a:ln>
        </p:spPr>
      </p:sp>
      <p:pic>
        <p:nvPicPr>
          <p:cNvPr id="83" name="Image 5" descr="preencoded.png">
            <a:extLst>
              <a:ext uri="{FF2B5EF4-FFF2-40B4-BE49-F238E27FC236}">
                <a16:creationId xmlns:a16="http://schemas.microsoft.com/office/drawing/2014/main" id="{19902965-B703-45FC-9E6E-7D896EF81E86}"/>
              </a:ext>
            </a:extLst>
          </p:cNvPr>
          <p:cNvPicPr>
            <a:picLocks noChangeAspect="1"/>
          </p:cNvPicPr>
          <p:nvPr/>
        </p:nvPicPr>
        <p:blipFill>
          <a:blip r:embed="rId8"/>
          <a:stretch>
            <a:fillRect/>
          </a:stretch>
        </p:blipFill>
        <p:spPr>
          <a:xfrm>
            <a:off x="6762537" y="4549689"/>
            <a:ext cx="245791" cy="245791"/>
          </a:xfrm>
          <a:prstGeom prst="rect">
            <a:avLst/>
          </a:prstGeom>
        </p:spPr>
      </p:pic>
      <p:sp>
        <p:nvSpPr>
          <p:cNvPr id="84" name="Text 22">
            <a:extLst>
              <a:ext uri="{FF2B5EF4-FFF2-40B4-BE49-F238E27FC236}">
                <a16:creationId xmlns:a16="http://schemas.microsoft.com/office/drawing/2014/main" id="{EF25A441-9B5E-49EF-9EE4-511D0B618017}"/>
              </a:ext>
            </a:extLst>
          </p:cNvPr>
          <p:cNvSpPr txBox="1"/>
          <p:nvPr/>
        </p:nvSpPr>
        <p:spPr>
          <a:xfrm>
            <a:off x="7315200" y="4407408"/>
            <a:ext cx="4114800" cy="228600"/>
          </a:xfrm>
          <a:prstGeom prst="rect">
            <a:avLst/>
          </a:prstGeom>
          <a:noFill/>
          <a:ln/>
        </p:spPr>
        <p:txBody>
          <a:bodyPr wrap="square" lIns="0" tIns="0" rIns="0" bIns="0" rtlCol="0" anchor="t"/>
          <a:lstStyle/>
          <a:p>
            <a:pPr marL="0" indent="0">
              <a:buNone/>
            </a:pPr>
            <a:r>
              <a:rPr lang="en-US" sz="1000" b="1" kern="0" spc="100" dirty="0">
                <a:solidFill>
                  <a:srgbClr val="5B6B7F"/>
                </a:solidFill>
                <a:latin typeface="Calibri" pitchFamily="34" charset="0"/>
                <a:ea typeface="Calibri" pitchFamily="34" charset="-122"/>
                <a:cs typeface="Calibri" pitchFamily="34" charset="-120"/>
              </a:rPr>
              <a:t>RÉSERVATIONS</a:t>
            </a:r>
            <a:endParaRPr lang="en-US" sz="1000" dirty="0"/>
          </a:p>
        </p:txBody>
      </p:sp>
      <p:sp>
        <p:nvSpPr>
          <p:cNvPr id="85" name="Text 23">
            <a:extLst>
              <a:ext uri="{FF2B5EF4-FFF2-40B4-BE49-F238E27FC236}">
                <a16:creationId xmlns:a16="http://schemas.microsoft.com/office/drawing/2014/main" id="{80B829B2-310C-4BBA-A737-6CFBFA3D0762}"/>
              </a:ext>
            </a:extLst>
          </p:cNvPr>
          <p:cNvSpPr txBox="1"/>
          <p:nvPr/>
        </p:nvSpPr>
        <p:spPr>
          <a:xfrm>
            <a:off x="7315200" y="4636008"/>
            <a:ext cx="4206240" cy="320040"/>
          </a:xfrm>
          <a:prstGeom prst="rect">
            <a:avLst/>
          </a:prstGeom>
          <a:noFill/>
          <a:ln/>
        </p:spPr>
        <p:txBody>
          <a:bodyPr wrap="square" lIns="0" tIns="0" rIns="0" bIns="0" rtlCol="0" anchor="t"/>
          <a:lstStyle/>
          <a:p>
            <a:pPr marL="0" indent="0">
              <a:buNone/>
            </a:pPr>
            <a:r>
              <a:rPr lang="en-US" sz="1500" b="1" dirty="0">
                <a:solidFill>
                  <a:srgbClr val="0A4A8C"/>
                </a:solidFill>
                <a:latin typeface="Calibri" pitchFamily="34" charset="0"/>
                <a:ea typeface="Calibri" pitchFamily="34" charset="-122"/>
                <a:cs typeface="Calibri" pitchFamily="34" charset="-120"/>
              </a:rPr>
              <a:t>2go.resa@topnet.tn</a:t>
            </a:r>
            <a:endParaRPr lang="en-US" sz="1500" dirty="0"/>
          </a:p>
        </p:txBody>
      </p:sp>
      <p:sp>
        <p:nvSpPr>
          <p:cNvPr id="86" name="Shape 24">
            <a:extLst>
              <a:ext uri="{FF2B5EF4-FFF2-40B4-BE49-F238E27FC236}">
                <a16:creationId xmlns:a16="http://schemas.microsoft.com/office/drawing/2014/main" id="{08D066F6-AB31-4A9B-AAE2-A853D76CE011}"/>
              </a:ext>
            </a:extLst>
          </p:cNvPr>
          <p:cNvSpPr/>
          <p:nvPr/>
        </p:nvSpPr>
        <p:spPr>
          <a:xfrm>
            <a:off x="6446520" y="5193792"/>
            <a:ext cx="5212080" cy="768096"/>
          </a:xfrm>
          <a:prstGeom prst="roundRect">
            <a:avLst>
              <a:gd name="adj" fmla="val 14286"/>
            </a:avLst>
          </a:prstGeom>
          <a:solidFill>
            <a:srgbClr val="EEF5FB"/>
          </a:solidFill>
          <a:ln w="12700">
            <a:solidFill>
              <a:srgbClr val="EEF5FB"/>
            </a:solidFill>
            <a:prstDash val="solid"/>
          </a:ln>
          <a:effectLst>
            <a:outerShdw blurRad="101600" dist="25400" dir="5400000" algn="bl" rotWithShape="0">
              <a:srgbClr val="0A2540">
                <a:alpha val="12000"/>
              </a:srgbClr>
            </a:outerShdw>
          </a:effectLst>
        </p:spPr>
      </p:sp>
      <p:sp>
        <p:nvSpPr>
          <p:cNvPr id="87" name="Shape 25">
            <a:extLst>
              <a:ext uri="{FF2B5EF4-FFF2-40B4-BE49-F238E27FC236}">
                <a16:creationId xmlns:a16="http://schemas.microsoft.com/office/drawing/2014/main" id="{400BC778-4DAE-4C94-BB47-F54D78C71A01}"/>
              </a:ext>
            </a:extLst>
          </p:cNvPr>
          <p:cNvSpPr/>
          <p:nvPr/>
        </p:nvSpPr>
        <p:spPr>
          <a:xfrm>
            <a:off x="6629400" y="5321808"/>
            <a:ext cx="512064" cy="512064"/>
          </a:xfrm>
          <a:prstGeom prst="ellipse">
            <a:avLst/>
          </a:prstGeom>
          <a:solidFill>
            <a:srgbClr val="0A4A8C"/>
          </a:solidFill>
          <a:ln w="12700">
            <a:solidFill>
              <a:srgbClr val="0A4A8C"/>
            </a:solidFill>
            <a:prstDash val="solid"/>
          </a:ln>
        </p:spPr>
      </p:sp>
      <p:pic>
        <p:nvPicPr>
          <p:cNvPr id="88" name="Image 6" descr="preencoded.png">
            <a:extLst>
              <a:ext uri="{FF2B5EF4-FFF2-40B4-BE49-F238E27FC236}">
                <a16:creationId xmlns:a16="http://schemas.microsoft.com/office/drawing/2014/main" id="{D0D90ACB-BF14-45B0-B60D-F048F1B2BCC2}"/>
              </a:ext>
            </a:extLst>
          </p:cNvPr>
          <p:cNvPicPr>
            <a:picLocks noChangeAspect="1"/>
          </p:cNvPicPr>
          <p:nvPr/>
        </p:nvPicPr>
        <p:blipFill>
          <a:blip r:embed="rId9"/>
          <a:stretch>
            <a:fillRect/>
          </a:stretch>
        </p:blipFill>
        <p:spPr>
          <a:xfrm>
            <a:off x="6762537" y="5454945"/>
            <a:ext cx="245791" cy="245791"/>
          </a:xfrm>
          <a:prstGeom prst="rect">
            <a:avLst/>
          </a:prstGeom>
        </p:spPr>
      </p:pic>
      <p:sp>
        <p:nvSpPr>
          <p:cNvPr id="89" name="Text 26">
            <a:extLst>
              <a:ext uri="{FF2B5EF4-FFF2-40B4-BE49-F238E27FC236}">
                <a16:creationId xmlns:a16="http://schemas.microsoft.com/office/drawing/2014/main" id="{613FA77B-3D2F-4E7A-B855-B0E5A50D9248}"/>
              </a:ext>
            </a:extLst>
          </p:cNvPr>
          <p:cNvSpPr txBox="1"/>
          <p:nvPr/>
        </p:nvSpPr>
        <p:spPr>
          <a:xfrm>
            <a:off x="7315200" y="5312664"/>
            <a:ext cx="4114800" cy="228600"/>
          </a:xfrm>
          <a:prstGeom prst="rect">
            <a:avLst/>
          </a:prstGeom>
          <a:noFill/>
          <a:ln/>
        </p:spPr>
        <p:txBody>
          <a:bodyPr wrap="square" lIns="0" tIns="0" rIns="0" bIns="0" rtlCol="0" anchor="t"/>
          <a:lstStyle/>
          <a:p>
            <a:pPr marL="0" indent="0">
              <a:buNone/>
            </a:pPr>
            <a:r>
              <a:rPr lang="en-US" sz="1000" b="1" kern="0" spc="100" dirty="0">
                <a:solidFill>
                  <a:srgbClr val="5B6B7F"/>
                </a:solidFill>
                <a:latin typeface="Calibri" pitchFamily="34" charset="0"/>
                <a:ea typeface="Calibri" pitchFamily="34" charset="-122"/>
                <a:cs typeface="Calibri" pitchFamily="34" charset="-120"/>
              </a:rPr>
              <a:t>CANAL PRINCIPAL</a:t>
            </a:r>
            <a:endParaRPr lang="en-US" sz="1000" dirty="0"/>
          </a:p>
        </p:txBody>
      </p:sp>
      <p:sp>
        <p:nvSpPr>
          <p:cNvPr id="90" name="Text 27">
            <a:extLst>
              <a:ext uri="{FF2B5EF4-FFF2-40B4-BE49-F238E27FC236}">
                <a16:creationId xmlns:a16="http://schemas.microsoft.com/office/drawing/2014/main" id="{BAD1445C-89E9-4458-8A8E-11BA2CADB898}"/>
              </a:ext>
            </a:extLst>
          </p:cNvPr>
          <p:cNvSpPr txBox="1"/>
          <p:nvPr/>
        </p:nvSpPr>
        <p:spPr>
          <a:xfrm>
            <a:off x="7315200" y="5541264"/>
            <a:ext cx="4206240" cy="320040"/>
          </a:xfrm>
          <a:prstGeom prst="rect">
            <a:avLst/>
          </a:prstGeom>
          <a:noFill/>
          <a:ln/>
        </p:spPr>
        <p:txBody>
          <a:bodyPr wrap="square" lIns="0" tIns="0" rIns="0" bIns="0" rtlCol="0" anchor="t"/>
          <a:lstStyle/>
          <a:p>
            <a:pPr marL="0" indent="0">
              <a:buNone/>
            </a:pPr>
            <a:r>
              <a:rPr lang="en-US" sz="1500" b="1" dirty="0">
                <a:solidFill>
                  <a:srgbClr val="0A4A8C"/>
                </a:solidFill>
                <a:latin typeface="Calibri" pitchFamily="34" charset="0"/>
                <a:ea typeface="Calibri" pitchFamily="34" charset="-122"/>
                <a:cs typeface="Calibri" pitchFamily="34" charset="-120"/>
              </a:rPr>
              <a:t>Page Facebook de l'agence</a:t>
            </a:r>
            <a:endParaRPr lang="en-US" sz="1500" dirty="0"/>
          </a:p>
        </p:txBody>
      </p:sp>
      <p:sp>
        <p:nvSpPr>
          <p:cNvPr id="91" name="Text 1">
            <a:extLst>
              <a:ext uri="{FF2B5EF4-FFF2-40B4-BE49-F238E27FC236}">
                <a16:creationId xmlns:a16="http://schemas.microsoft.com/office/drawing/2014/main" id="{D87C117C-A06F-4CAB-BCBC-7BFD4EFDCB0A}"/>
              </a:ext>
            </a:extLst>
          </p:cNvPr>
          <p:cNvSpPr txBox="1"/>
          <p:nvPr/>
        </p:nvSpPr>
        <p:spPr>
          <a:xfrm>
            <a:off x="563880" y="822960"/>
            <a:ext cx="9326880" cy="685800"/>
          </a:xfrm>
          <a:prstGeom prst="rect">
            <a:avLst/>
          </a:prstGeom>
          <a:noFill/>
          <a:ln/>
        </p:spPr>
        <p:txBody>
          <a:bodyPr wrap="square" lIns="0" tIns="0" rIns="0" bIns="0" rtlCol="0" anchor="ctr"/>
          <a:lstStyle/>
          <a:p>
            <a:pPr marL="0" indent="0">
              <a:buNone/>
            </a:pPr>
            <a:r>
              <a:rPr lang="en-US" sz="3000" b="1" dirty="0">
                <a:solidFill>
                  <a:srgbClr val="0A4A8C"/>
                </a:solidFill>
                <a:latin typeface="Cambria" pitchFamily="34" charset="0"/>
                <a:ea typeface="Cambria" pitchFamily="34" charset="-122"/>
                <a:cs typeface="Cambria" pitchFamily="34" charset="-120"/>
              </a:rPr>
              <a:t>Organisme d'accueil</a:t>
            </a:r>
            <a:endParaRPr lang="en-US" sz="3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Le système actuel : des tables dispersées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822960" y="155448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customers</a:t>
            </a:r>
          </a:p>
        </p:txBody>
      </p:sp>
      <p:sp>
        <p:nvSpPr>
          <p:cNvPr id="14" name="Rounded Rectangle 13"/>
          <p:cNvSpPr/>
          <p:nvPr/>
        </p:nvSpPr>
        <p:spPr>
          <a:xfrm>
            <a:off x="3657600" y="137160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hotels</a:t>
            </a:r>
          </a:p>
        </p:txBody>
      </p:sp>
      <p:sp>
        <p:nvSpPr>
          <p:cNvPr id="15" name="Rounded Rectangle 14"/>
          <p:cNvSpPr/>
          <p:nvPr/>
        </p:nvSpPr>
        <p:spPr>
          <a:xfrm>
            <a:off x="6675120" y="164592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flights</a:t>
            </a:r>
          </a:p>
        </p:txBody>
      </p:sp>
      <p:sp>
        <p:nvSpPr>
          <p:cNvPr id="16" name="Rounded Rectangle 15"/>
          <p:cNvSpPr/>
          <p:nvPr/>
        </p:nvSpPr>
        <p:spPr>
          <a:xfrm>
            <a:off x="9144000" y="137160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flight_price_list</a:t>
            </a:r>
          </a:p>
        </p:txBody>
      </p:sp>
      <p:sp>
        <p:nvSpPr>
          <p:cNvPr id="17" name="Rounded Rectangle 16"/>
          <p:cNvSpPr/>
          <p:nvPr/>
        </p:nvSpPr>
        <p:spPr>
          <a:xfrm>
            <a:off x="2103120" y="274320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packages</a:t>
            </a:r>
          </a:p>
        </p:txBody>
      </p:sp>
      <p:sp>
        <p:nvSpPr>
          <p:cNvPr id="18" name="Rounded Rectangle 17"/>
          <p:cNvSpPr/>
          <p:nvPr/>
        </p:nvSpPr>
        <p:spPr>
          <a:xfrm>
            <a:off x="5120640" y="283464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bookings</a:t>
            </a:r>
          </a:p>
        </p:txBody>
      </p:sp>
      <p:sp>
        <p:nvSpPr>
          <p:cNvPr id="19" name="Rounded Rectangle 18"/>
          <p:cNvSpPr/>
          <p:nvPr/>
        </p:nvSpPr>
        <p:spPr>
          <a:xfrm>
            <a:off x="8138160" y="292608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cities</a:t>
            </a:r>
          </a:p>
        </p:txBody>
      </p:sp>
      <p:sp>
        <p:nvSpPr>
          <p:cNvPr id="20" name="Rounded Rectangle 19"/>
          <p:cNvSpPr/>
          <p:nvPr/>
        </p:nvSpPr>
        <p:spPr>
          <a:xfrm>
            <a:off x="822960" y="384048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countries</a:t>
            </a:r>
          </a:p>
        </p:txBody>
      </p:sp>
      <p:sp>
        <p:nvSpPr>
          <p:cNvPr id="21" name="Rounded Rectangle 20"/>
          <p:cNvSpPr/>
          <p:nvPr/>
        </p:nvSpPr>
        <p:spPr>
          <a:xfrm>
            <a:off x="9692640" y="3931920"/>
            <a:ext cx="2103120" cy="68580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4F9E"/>
                </a:solidFill>
                <a:latin typeface="Calibri"/>
              </a:rPr>
              <a:t>continents</a:t>
            </a:r>
          </a:p>
        </p:txBody>
      </p:sp>
      <p:sp>
        <p:nvSpPr>
          <p:cNvPr id="22" name="Rounded Rectangle 21"/>
          <p:cNvSpPr/>
          <p:nvPr/>
        </p:nvSpPr>
        <p:spPr>
          <a:xfrm>
            <a:off x="457200" y="5029200"/>
            <a:ext cx="5522976" cy="109728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dirty="0" err="1">
                <a:solidFill>
                  <a:srgbClr val="1F2A37"/>
                </a:solidFill>
                <a:latin typeface="Calibri"/>
              </a:rPr>
              <a:t>Suivi</a:t>
            </a:r>
            <a:r>
              <a:rPr sz="1700" b="1" dirty="0">
                <a:solidFill>
                  <a:srgbClr val="1F2A37"/>
                </a:solidFill>
                <a:latin typeface="Calibri"/>
              </a:rPr>
              <a:t> de </a:t>
            </a:r>
            <a:r>
              <a:rPr sz="1700" b="1" dirty="0" err="1">
                <a:solidFill>
                  <a:srgbClr val="1F2A37"/>
                </a:solidFill>
                <a:latin typeface="Calibri"/>
              </a:rPr>
              <a:t>l'activité</a:t>
            </a:r>
            <a:endParaRPr sz="1700" b="1" dirty="0">
              <a:solidFill>
                <a:srgbClr val="1F2A37"/>
              </a:solidFill>
              <a:latin typeface="Calibri"/>
            </a:endParaRPr>
          </a:p>
          <a:p>
            <a:pPr algn="ctr"/>
            <a:r>
              <a:rPr sz="1700" b="0" dirty="0">
                <a:solidFill>
                  <a:srgbClr val="1F2A37"/>
                </a:solidFill>
                <a:latin typeface="Calibri"/>
              </a:rPr>
              <a:t>Consultation </a:t>
            </a:r>
            <a:r>
              <a:rPr sz="1700" b="0" dirty="0" err="1">
                <a:solidFill>
                  <a:srgbClr val="1F2A37"/>
                </a:solidFill>
                <a:latin typeface="Calibri"/>
              </a:rPr>
              <a:t>manuelle</a:t>
            </a:r>
            <a:r>
              <a:rPr sz="1700" b="0" dirty="0">
                <a:solidFill>
                  <a:srgbClr val="1F2A37"/>
                </a:solidFill>
                <a:latin typeface="Calibri"/>
              </a:rPr>
              <a:t> des </a:t>
            </a:r>
            <a:r>
              <a:rPr sz="1700" b="0" dirty="0" err="1">
                <a:solidFill>
                  <a:srgbClr val="1F2A37"/>
                </a:solidFill>
                <a:latin typeface="Calibri"/>
              </a:rPr>
              <a:t>fichiers</a:t>
            </a:r>
            <a:endParaRPr sz="1700" b="0" dirty="0">
              <a:solidFill>
                <a:srgbClr val="1F2A37"/>
              </a:solidFill>
              <a:latin typeface="Calibri"/>
            </a:endParaRPr>
          </a:p>
        </p:txBody>
      </p:sp>
      <p:sp>
        <p:nvSpPr>
          <p:cNvPr id="23" name="Rounded Rectangle 22"/>
          <p:cNvSpPr/>
          <p:nvPr/>
        </p:nvSpPr>
        <p:spPr>
          <a:xfrm>
            <a:off x="6208776" y="5029200"/>
            <a:ext cx="5522976" cy="109728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F2A37"/>
                </a:solidFill>
                <a:latin typeface="Calibri"/>
              </a:rPr>
              <a:t>Conseil au client</a:t>
            </a:r>
          </a:p>
          <a:p>
            <a:pPr algn="ctr"/>
            <a:r>
              <a:rPr sz="1700" b="0">
                <a:solidFill>
                  <a:srgbClr val="1F2A37"/>
                </a:solidFill>
                <a:latin typeface="Calibri"/>
              </a:rPr>
              <a:t>Expérience du conseiller</a:t>
            </a:r>
          </a:p>
        </p:txBody>
      </p:sp>
      <p:sp>
        <p:nvSpPr>
          <p:cNvPr id="24" name="TextBox 23"/>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Limites du système existant</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Oval 12"/>
          <p:cNvSpPr/>
          <p:nvPr/>
        </p:nvSpPr>
        <p:spPr>
          <a:xfrm>
            <a:off x="841248" y="1463040"/>
            <a:ext cx="1554480" cy="1554480"/>
          </a:xfrm>
          <a:prstGeom prst="ellipse">
            <a:avLst/>
          </a:prstGeom>
          <a:solidFill>
            <a:srgbClr val="FFFFFF"/>
          </a:solidFill>
          <a:ln w="88900">
            <a:solidFill>
              <a:srgbClr val="F39A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000" b="1">
                <a:solidFill>
                  <a:srgbClr val="E5E7EB"/>
                </a:solidFill>
                <a:latin typeface="Calibri"/>
              </a:rPr>
              <a:t>1</a:t>
            </a:r>
          </a:p>
        </p:txBody>
      </p:sp>
      <p:sp>
        <p:nvSpPr>
          <p:cNvPr id="14" name="TextBox 13"/>
          <p:cNvSpPr txBox="1"/>
          <p:nvPr/>
        </p:nvSpPr>
        <p:spPr>
          <a:xfrm>
            <a:off x="521208" y="3108960"/>
            <a:ext cx="2194560" cy="822960"/>
          </a:xfrm>
          <a:prstGeom prst="rect">
            <a:avLst/>
          </a:prstGeom>
          <a:noFill/>
        </p:spPr>
        <p:txBody>
          <a:bodyPr wrap="square" anchor="t">
            <a:spAutoFit/>
          </a:bodyPr>
          <a:lstStyle/>
          <a:p>
            <a:pPr algn="ctr"/>
            <a:r>
              <a:rPr sz="1500" b="1">
                <a:solidFill>
                  <a:srgbClr val="1F2A37"/>
                </a:solidFill>
                <a:latin typeface="Calibri"/>
              </a:rPr>
              <a:t>Aucun indicateur</a:t>
            </a:r>
          </a:p>
          <a:p>
            <a:pPr algn="ctr"/>
            <a:r>
              <a:rPr sz="1500" b="1">
                <a:solidFill>
                  <a:srgbClr val="1F2A37"/>
                </a:solidFill>
                <a:latin typeface="Calibri"/>
              </a:rPr>
              <a:t>consolidé</a:t>
            </a:r>
          </a:p>
        </p:txBody>
      </p:sp>
      <p:sp>
        <p:nvSpPr>
          <p:cNvPr id="15" name="Oval 14"/>
          <p:cNvSpPr/>
          <p:nvPr/>
        </p:nvSpPr>
        <p:spPr>
          <a:xfrm>
            <a:off x="3081528" y="1463040"/>
            <a:ext cx="1554480" cy="1554480"/>
          </a:xfrm>
          <a:prstGeom prst="ellipse">
            <a:avLst/>
          </a:prstGeom>
          <a:solidFill>
            <a:srgbClr val="FFFFFF"/>
          </a:solidFill>
          <a:ln w="88900">
            <a:solidFill>
              <a:srgbClr val="F39A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000" b="1">
                <a:solidFill>
                  <a:srgbClr val="E5E7EB"/>
                </a:solidFill>
                <a:latin typeface="Calibri"/>
              </a:rPr>
              <a:t>2</a:t>
            </a:r>
          </a:p>
        </p:txBody>
      </p:sp>
      <p:sp>
        <p:nvSpPr>
          <p:cNvPr id="16" name="TextBox 15"/>
          <p:cNvSpPr txBox="1"/>
          <p:nvPr/>
        </p:nvSpPr>
        <p:spPr>
          <a:xfrm>
            <a:off x="2761488" y="3108960"/>
            <a:ext cx="2194560" cy="822960"/>
          </a:xfrm>
          <a:prstGeom prst="rect">
            <a:avLst/>
          </a:prstGeom>
          <a:noFill/>
        </p:spPr>
        <p:txBody>
          <a:bodyPr wrap="square" anchor="t">
            <a:spAutoFit/>
          </a:bodyPr>
          <a:lstStyle/>
          <a:p>
            <a:pPr algn="ctr"/>
            <a:r>
              <a:rPr sz="1500" b="1">
                <a:solidFill>
                  <a:srgbClr val="1F2A37"/>
                </a:solidFill>
                <a:latin typeface="Calibri"/>
              </a:rPr>
              <a:t>Saisonnalité difficile</a:t>
            </a:r>
          </a:p>
          <a:p>
            <a:pPr algn="ctr"/>
            <a:r>
              <a:rPr sz="1500" b="1">
                <a:solidFill>
                  <a:srgbClr val="1F2A37"/>
                </a:solidFill>
                <a:latin typeface="Calibri"/>
              </a:rPr>
              <a:t>à repérer</a:t>
            </a:r>
          </a:p>
        </p:txBody>
      </p:sp>
      <p:sp>
        <p:nvSpPr>
          <p:cNvPr id="17" name="Oval 16"/>
          <p:cNvSpPr/>
          <p:nvPr/>
        </p:nvSpPr>
        <p:spPr>
          <a:xfrm>
            <a:off x="5321808" y="1463040"/>
            <a:ext cx="1554480" cy="1554480"/>
          </a:xfrm>
          <a:prstGeom prst="ellipse">
            <a:avLst/>
          </a:prstGeom>
          <a:solidFill>
            <a:srgbClr val="FFFFFF"/>
          </a:solidFill>
          <a:ln w="88900">
            <a:solidFill>
              <a:srgbClr val="F39A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000" b="1">
                <a:solidFill>
                  <a:srgbClr val="E5E7EB"/>
                </a:solidFill>
                <a:latin typeface="Calibri"/>
              </a:rPr>
              <a:t>3</a:t>
            </a:r>
          </a:p>
        </p:txBody>
      </p:sp>
      <p:sp>
        <p:nvSpPr>
          <p:cNvPr id="18" name="TextBox 17"/>
          <p:cNvSpPr txBox="1"/>
          <p:nvPr/>
        </p:nvSpPr>
        <p:spPr>
          <a:xfrm>
            <a:off x="5001768" y="3108960"/>
            <a:ext cx="2194560" cy="822960"/>
          </a:xfrm>
          <a:prstGeom prst="rect">
            <a:avLst/>
          </a:prstGeom>
          <a:noFill/>
        </p:spPr>
        <p:txBody>
          <a:bodyPr wrap="square" anchor="t">
            <a:spAutoFit/>
          </a:bodyPr>
          <a:lstStyle/>
          <a:p>
            <a:pPr algn="ctr"/>
            <a:r>
              <a:rPr sz="1500" b="1">
                <a:solidFill>
                  <a:srgbClr val="1F2A37"/>
                </a:solidFill>
                <a:latin typeface="Calibri"/>
              </a:rPr>
              <a:t>Pas de segmentation</a:t>
            </a:r>
          </a:p>
          <a:p>
            <a:pPr algn="ctr"/>
            <a:r>
              <a:rPr sz="1500" b="1">
                <a:solidFill>
                  <a:srgbClr val="1F2A37"/>
                </a:solidFill>
                <a:latin typeface="Calibri"/>
              </a:rPr>
              <a:t>formalisée</a:t>
            </a:r>
          </a:p>
        </p:txBody>
      </p:sp>
      <p:sp>
        <p:nvSpPr>
          <p:cNvPr id="19" name="Oval 18"/>
          <p:cNvSpPr/>
          <p:nvPr/>
        </p:nvSpPr>
        <p:spPr>
          <a:xfrm>
            <a:off x="7562088" y="1463040"/>
            <a:ext cx="1554480" cy="1554480"/>
          </a:xfrm>
          <a:prstGeom prst="ellipse">
            <a:avLst/>
          </a:prstGeom>
          <a:solidFill>
            <a:srgbClr val="FFFFFF"/>
          </a:solidFill>
          <a:ln w="88900">
            <a:solidFill>
              <a:srgbClr val="F39A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000" b="1">
                <a:solidFill>
                  <a:srgbClr val="E5E7EB"/>
                </a:solidFill>
                <a:latin typeface="Calibri"/>
              </a:rPr>
              <a:t>4</a:t>
            </a:r>
          </a:p>
        </p:txBody>
      </p:sp>
      <p:sp>
        <p:nvSpPr>
          <p:cNvPr id="20" name="TextBox 19"/>
          <p:cNvSpPr txBox="1"/>
          <p:nvPr/>
        </p:nvSpPr>
        <p:spPr>
          <a:xfrm>
            <a:off x="7242048" y="3108960"/>
            <a:ext cx="2194560" cy="822960"/>
          </a:xfrm>
          <a:prstGeom prst="rect">
            <a:avLst/>
          </a:prstGeom>
          <a:noFill/>
        </p:spPr>
        <p:txBody>
          <a:bodyPr wrap="square" anchor="t">
            <a:spAutoFit/>
          </a:bodyPr>
          <a:lstStyle/>
          <a:p>
            <a:pPr algn="ctr"/>
            <a:r>
              <a:rPr sz="1500" b="1">
                <a:solidFill>
                  <a:srgbClr val="1F2A37"/>
                </a:solidFill>
                <a:latin typeface="Calibri"/>
              </a:rPr>
              <a:t>Conseil sans exploitation</a:t>
            </a:r>
          </a:p>
          <a:p>
            <a:pPr algn="ctr"/>
            <a:r>
              <a:rPr sz="1500" b="1">
                <a:solidFill>
                  <a:srgbClr val="1F2A37"/>
                </a:solidFill>
                <a:latin typeface="Calibri"/>
              </a:rPr>
              <a:t>de l'historique</a:t>
            </a:r>
          </a:p>
        </p:txBody>
      </p:sp>
      <p:sp>
        <p:nvSpPr>
          <p:cNvPr id="21" name="Oval 20"/>
          <p:cNvSpPr/>
          <p:nvPr/>
        </p:nvSpPr>
        <p:spPr>
          <a:xfrm>
            <a:off x="9802368" y="1463040"/>
            <a:ext cx="1554480" cy="1554480"/>
          </a:xfrm>
          <a:prstGeom prst="ellipse">
            <a:avLst/>
          </a:prstGeom>
          <a:solidFill>
            <a:srgbClr val="FFFFFF"/>
          </a:solidFill>
          <a:ln w="88900">
            <a:solidFill>
              <a:srgbClr val="F39A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000" b="1" dirty="0">
                <a:solidFill>
                  <a:srgbClr val="E5E7EB"/>
                </a:solidFill>
                <a:latin typeface="Calibri"/>
              </a:rPr>
              <a:t>5</a:t>
            </a:r>
          </a:p>
        </p:txBody>
      </p:sp>
      <p:sp>
        <p:nvSpPr>
          <p:cNvPr id="22" name="TextBox 21"/>
          <p:cNvSpPr txBox="1"/>
          <p:nvPr/>
        </p:nvSpPr>
        <p:spPr>
          <a:xfrm>
            <a:off x="9482328" y="3108960"/>
            <a:ext cx="2194560" cy="822960"/>
          </a:xfrm>
          <a:prstGeom prst="rect">
            <a:avLst/>
          </a:prstGeom>
          <a:noFill/>
        </p:spPr>
        <p:txBody>
          <a:bodyPr wrap="square" anchor="t">
            <a:spAutoFit/>
          </a:bodyPr>
          <a:lstStyle/>
          <a:p>
            <a:pPr algn="ctr"/>
            <a:r>
              <a:rPr sz="1500" b="1">
                <a:solidFill>
                  <a:srgbClr val="1F2A37"/>
                </a:solidFill>
                <a:latin typeface="Calibri"/>
              </a:rPr>
              <a:t>Volume réel</a:t>
            </a:r>
          </a:p>
          <a:p>
            <a:pPr algn="ctr"/>
            <a:r>
              <a:rPr sz="1500" b="1">
                <a:solidFill>
                  <a:srgbClr val="1F2A37"/>
                </a:solidFill>
                <a:latin typeface="Calibri"/>
              </a:rPr>
              <a:t>réduit</a:t>
            </a:r>
          </a:p>
        </p:txBody>
      </p:sp>
      <p:sp>
        <p:nvSpPr>
          <p:cNvPr id="23" name="Isosceles Triangle 22"/>
          <p:cNvSpPr/>
          <p:nvPr/>
        </p:nvSpPr>
        <p:spPr>
          <a:xfrm>
            <a:off x="1371600" y="4434840"/>
            <a:ext cx="1188720" cy="1051560"/>
          </a:xfrm>
          <a:prstGeom prst="triangle">
            <a:avLst/>
          </a:prstGeom>
          <a:solidFill>
            <a:srgbClr val="FFFFFF"/>
          </a:solidFill>
          <a:ln w="15875">
            <a:solidFill>
              <a:srgbClr val="F39A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000" b="1">
                <a:solidFill>
                  <a:srgbClr val="F39A1E"/>
                </a:solidFill>
                <a:latin typeface="Calibri"/>
              </a:rPr>
              <a:t>!</a:t>
            </a:r>
          </a:p>
        </p:txBody>
      </p:sp>
      <p:sp>
        <p:nvSpPr>
          <p:cNvPr id="24" name="Rectangle 23"/>
          <p:cNvSpPr/>
          <p:nvPr/>
        </p:nvSpPr>
        <p:spPr>
          <a:xfrm>
            <a:off x="3017520" y="4389120"/>
            <a:ext cx="7863840" cy="1097280"/>
          </a:xfrm>
          <a:prstGeom prst="rect">
            <a:avLst/>
          </a:prstGeom>
          <a:solidFill>
            <a:srgbClr val="F39A1E"/>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3108960" y="4434840"/>
            <a:ext cx="2286000" cy="1005840"/>
          </a:xfrm>
          <a:prstGeom prst="rect">
            <a:avLst/>
          </a:prstGeom>
          <a:noFill/>
        </p:spPr>
        <p:txBody>
          <a:bodyPr wrap="square" anchor="ctr">
            <a:spAutoFit/>
          </a:bodyPr>
          <a:lstStyle/>
          <a:p>
            <a:pPr algn="ctr"/>
            <a:r>
              <a:rPr sz="1600" b="1">
                <a:solidFill>
                  <a:srgbClr val="1F2A37"/>
                </a:solidFill>
                <a:latin typeface="Calibri"/>
              </a:rPr>
              <a:t>Données</a:t>
            </a:r>
          </a:p>
          <a:p>
            <a:pPr algn="ctr"/>
            <a:r>
              <a:rPr sz="1600" b="1">
                <a:solidFill>
                  <a:srgbClr val="1F2A37"/>
                </a:solidFill>
                <a:latin typeface="Calibri"/>
              </a:rPr>
              <a:t>dispersées</a:t>
            </a:r>
          </a:p>
        </p:txBody>
      </p:sp>
      <p:sp>
        <p:nvSpPr>
          <p:cNvPr id="26" name="TextBox 25"/>
          <p:cNvSpPr txBox="1"/>
          <p:nvPr/>
        </p:nvSpPr>
        <p:spPr>
          <a:xfrm>
            <a:off x="5806440" y="4434840"/>
            <a:ext cx="2286000" cy="1005840"/>
          </a:xfrm>
          <a:prstGeom prst="rect">
            <a:avLst/>
          </a:prstGeom>
          <a:noFill/>
        </p:spPr>
        <p:txBody>
          <a:bodyPr wrap="square" anchor="ctr">
            <a:spAutoFit/>
          </a:bodyPr>
          <a:lstStyle/>
          <a:p>
            <a:pPr algn="ctr"/>
            <a:r>
              <a:rPr sz="1600" b="1">
                <a:solidFill>
                  <a:srgbClr val="1F2A37"/>
                </a:solidFill>
                <a:latin typeface="Calibri"/>
              </a:rPr>
              <a:t>Pilotage sans</a:t>
            </a:r>
          </a:p>
          <a:p>
            <a:pPr algn="ctr"/>
            <a:r>
              <a:rPr sz="1600" b="1">
                <a:solidFill>
                  <a:srgbClr val="1F2A37"/>
                </a:solidFill>
                <a:latin typeface="Calibri"/>
              </a:rPr>
              <a:t>indicateurs fiables</a:t>
            </a:r>
          </a:p>
        </p:txBody>
      </p:sp>
      <p:sp>
        <p:nvSpPr>
          <p:cNvPr id="27" name="TextBox 26"/>
          <p:cNvSpPr txBox="1"/>
          <p:nvPr/>
        </p:nvSpPr>
        <p:spPr>
          <a:xfrm>
            <a:off x="8503920" y="4434840"/>
            <a:ext cx="2286000" cy="1005840"/>
          </a:xfrm>
          <a:prstGeom prst="rect">
            <a:avLst/>
          </a:prstGeom>
          <a:noFill/>
        </p:spPr>
        <p:txBody>
          <a:bodyPr wrap="square" anchor="ctr">
            <a:spAutoFit/>
          </a:bodyPr>
          <a:lstStyle/>
          <a:p>
            <a:pPr algn="ctr"/>
            <a:r>
              <a:rPr sz="1600" b="1">
                <a:solidFill>
                  <a:srgbClr val="1F2A37"/>
                </a:solidFill>
                <a:latin typeface="Calibri"/>
              </a:rPr>
              <a:t>Conseil dépendant</a:t>
            </a:r>
          </a:p>
          <a:p>
            <a:pPr algn="ctr"/>
            <a:r>
              <a:rPr sz="1600" b="1">
                <a:solidFill>
                  <a:srgbClr val="1F2A37"/>
                </a:solidFill>
                <a:latin typeface="Calibri"/>
              </a:rPr>
              <a:t>des personnes</a:t>
            </a:r>
          </a:p>
        </p:txBody>
      </p:sp>
      <p:sp>
        <p:nvSpPr>
          <p:cNvPr id="28" name="Right Arrow 27"/>
          <p:cNvSpPr/>
          <p:nvPr/>
        </p:nvSpPr>
        <p:spPr>
          <a:xfrm>
            <a:off x="5440680" y="4754880"/>
            <a:ext cx="411480" cy="365760"/>
          </a:xfrm>
          <a:prstGeom prst="rightArrow">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ight Arrow 28"/>
          <p:cNvSpPr/>
          <p:nvPr/>
        </p:nvSpPr>
        <p:spPr>
          <a:xfrm>
            <a:off x="8138160" y="4754880"/>
            <a:ext cx="411480" cy="365760"/>
          </a:xfrm>
          <a:prstGeom prst="rightArrow">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500"/>
                                        <p:tgtEl>
                                          <p:spTgt spid="25"/>
                                        </p:tgtEl>
                                      </p:cBhvr>
                                    </p:animEffect>
                                  </p:childTnLst>
                                </p:cTn>
                              </p:par>
                              <p:par>
                                <p:cTn id="54" presetID="10" presetClass="entr" presetSubtype="0" fill="hold"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0"/>
                                        <p:tgtEl>
                                          <p:spTgt spid="27"/>
                                        </p:tgtEl>
                                      </p:cBhvr>
                                    </p:animEffect>
                                  </p:childTnLst>
                                </p:cTn>
                              </p:par>
                              <p:par>
                                <p:cTn id="60" presetID="10" presetClass="entr" presetSubtype="0" fill="hold"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par>
                                <p:cTn id="63" presetID="10" presetClass="entr" presetSubtype="0"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L'existant en chiffres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1828800"/>
            <a:ext cx="2103120" cy="310896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457200" y="2103120"/>
            <a:ext cx="2103120" cy="1280160"/>
          </a:xfrm>
          <a:prstGeom prst="rect">
            <a:avLst/>
          </a:prstGeom>
          <a:noFill/>
        </p:spPr>
        <p:txBody>
          <a:bodyPr wrap="square" anchor="t">
            <a:spAutoFit/>
          </a:bodyPr>
          <a:lstStyle/>
          <a:p>
            <a:pPr algn="ctr"/>
            <a:r>
              <a:rPr sz="6600" b="1">
                <a:solidFill>
                  <a:srgbClr val="F39A1E"/>
                </a:solidFill>
                <a:latin typeface="Georgia"/>
              </a:rPr>
              <a:t>11</a:t>
            </a:r>
          </a:p>
        </p:txBody>
      </p:sp>
      <p:sp>
        <p:nvSpPr>
          <p:cNvPr id="15" name="TextBox 14"/>
          <p:cNvSpPr txBox="1"/>
          <p:nvPr/>
        </p:nvSpPr>
        <p:spPr>
          <a:xfrm>
            <a:off x="457200" y="3657600"/>
            <a:ext cx="2103120" cy="1097280"/>
          </a:xfrm>
          <a:prstGeom prst="rect">
            <a:avLst/>
          </a:prstGeom>
          <a:noFill/>
        </p:spPr>
        <p:txBody>
          <a:bodyPr wrap="square" anchor="t">
            <a:spAutoFit/>
          </a:bodyPr>
          <a:lstStyle/>
          <a:p>
            <a:pPr algn="ctr"/>
            <a:r>
              <a:rPr sz="1700" b="0">
                <a:solidFill>
                  <a:srgbClr val="1F2A37"/>
                </a:solidFill>
                <a:latin typeface="Calibri"/>
              </a:rPr>
              <a:t>clients dans</a:t>
            </a:r>
          </a:p>
          <a:p>
            <a:pPr algn="ctr"/>
            <a:r>
              <a:rPr sz="1700" b="0">
                <a:solidFill>
                  <a:srgbClr val="1F2A37"/>
                </a:solidFill>
                <a:latin typeface="Calibri"/>
              </a:rPr>
              <a:t>l'historique réel</a:t>
            </a:r>
          </a:p>
        </p:txBody>
      </p:sp>
      <p:sp>
        <p:nvSpPr>
          <p:cNvPr id="16" name="Rounded Rectangle 15"/>
          <p:cNvSpPr/>
          <p:nvPr/>
        </p:nvSpPr>
        <p:spPr>
          <a:xfrm>
            <a:off x="2743200" y="1828800"/>
            <a:ext cx="2103120" cy="310896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2743200" y="2103120"/>
            <a:ext cx="2103120" cy="1280160"/>
          </a:xfrm>
          <a:prstGeom prst="rect">
            <a:avLst/>
          </a:prstGeom>
          <a:noFill/>
        </p:spPr>
        <p:txBody>
          <a:bodyPr wrap="square" anchor="t">
            <a:spAutoFit/>
          </a:bodyPr>
          <a:lstStyle/>
          <a:p>
            <a:pPr algn="ctr"/>
            <a:r>
              <a:rPr sz="6600" b="1">
                <a:solidFill>
                  <a:srgbClr val="F39A1E"/>
                </a:solidFill>
                <a:latin typeface="Georgia"/>
              </a:rPr>
              <a:t>16</a:t>
            </a:r>
          </a:p>
        </p:txBody>
      </p:sp>
      <p:sp>
        <p:nvSpPr>
          <p:cNvPr id="18" name="TextBox 17"/>
          <p:cNvSpPr txBox="1"/>
          <p:nvPr/>
        </p:nvSpPr>
        <p:spPr>
          <a:xfrm>
            <a:off x="2743200" y="3657600"/>
            <a:ext cx="2103120" cy="1097280"/>
          </a:xfrm>
          <a:prstGeom prst="rect">
            <a:avLst/>
          </a:prstGeom>
          <a:noFill/>
        </p:spPr>
        <p:txBody>
          <a:bodyPr wrap="square" anchor="t">
            <a:spAutoFit/>
          </a:bodyPr>
          <a:lstStyle/>
          <a:p>
            <a:pPr algn="ctr"/>
            <a:r>
              <a:rPr sz="1700" b="0">
                <a:solidFill>
                  <a:srgbClr val="1F2A37"/>
                </a:solidFill>
                <a:latin typeface="Calibri"/>
              </a:rPr>
              <a:t>réservations</a:t>
            </a:r>
          </a:p>
          <a:p>
            <a:pPr algn="ctr"/>
            <a:r>
              <a:rPr sz="1700" b="0">
                <a:solidFill>
                  <a:srgbClr val="1F2A37"/>
                </a:solidFill>
                <a:latin typeface="Calibri"/>
              </a:rPr>
              <a:t>réelles</a:t>
            </a:r>
          </a:p>
        </p:txBody>
      </p:sp>
      <p:sp>
        <p:nvSpPr>
          <p:cNvPr id="19" name="Rounded Rectangle 18"/>
          <p:cNvSpPr/>
          <p:nvPr/>
        </p:nvSpPr>
        <p:spPr>
          <a:xfrm>
            <a:off x="5029200" y="1828800"/>
            <a:ext cx="2103120" cy="310896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5029200" y="2103120"/>
            <a:ext cx="2103120" cy="1280160"/>
          </a:xfrm>
          <a:prstGeom prst="rect">
            <a:avLst/>
          </a:prstGeom>
          <a:noFill/>
        </p:spPr>
        <p:txBody>
          <a:bodyPr wrap="square" anchor="t">
            <a:spAutoFit/>
          </a:bodyPr>
          <a:lstStyle/>
          <a:p>
            <a:pPr algn="ctr"/>
            <a:r>
              <a:rPr sz="6600" b="1">
                <a:solidFill>
                  <a:srgbClr val="F39A1E"/>
                </a:solidFill>
                <a:latin typeface="Georgia"/>
              </a:rPr>
              <a:t>9</a:t>
            </a:r>
          </a:p>
        </p:txBody>
      </p:sp>
      <p:sp>
        <p:nvSpPr>
          <p:cNvPr id="21" name="TextBox 20"/>
          <p:cNvSpPr txBox="1"/>
          <p:nvPr/>
        </p:nvSpPr>
        <p:spPr>
          <a:xfrm>
            <a:off x="5029200" y="3657600"/>
            <a:ext cx="2103120" cy="1097280"/>
          </a:xfrm>
          <a:prstGeom prst="rect">
            <a:avLst/>
          </a:prstGeom>
          <a:noFill/>
        </p:spPr>
        <p:txBody>
          <a:bodyPr wrap="square" anchor="t">
            <a:spAutoFit/>
          </a:bodyPr>
          <a:lstStyle/>
          <a:p>
            <a:pPr algn="ctr"/>
            <a:r>
              <a:rPr sz="1700" b="0">
                <a:solidFill>
                  <a:srgbClr val="1F2A37"/>
                </a:solidFill>
                <a:latin typeface="Calibri"/>
              </a:rPr>
              <a:t>tables</a:t>
            </a:r>
          </a:p>
          <a:p>
            <a:pPr algn="ctr"/>
            <a:r>
              <a:rPr sz="1700" b="0">
                <a:solidFill>
                  <a:srgbClr val="1F2A37"/>
                </a:solidFill>
                <a:latin typeface="Calibri"/>
              </a:rPr>
              <a:t>non reliées</a:t>
            </a:r>
          </a:p>
        </p:txBody>
      </p:sp>
      <p:sp>
        <p:nvSpPr>
          <p:cNvPr id="22" name="Rounded Rectangle 21"/>
          <p:cNvSpPr/>
          <p:nvPr/>
        </p:nvSpPr>
        <p:spPr>
          <a:xfrm>
            <a:off x="7315200" y="1828800"/>
            <a:ext cx="2103120" cy="310896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7315200" y="2103120"/>
            <a:ext cx="2103120" cy="1280160"/>
          </a:xfrm>
          <a:prstGeom prst="rect">
            <a:avLst/>
          </a:prstGeom>
          <a:noFill/>
        </p:spPr>
        <p:txBody>
          <a:bodyPr wrap="square" anchor="t">
            <a:spAutoFit/>
          </a:bodyPr>
          <a:lstStyle/>
          <a:p>
            <a:pPr algn="ctr"/>
            <a:r>
              <a:rPr sz="6600" b="1">
                <a:solidFill>
                  <a:srgbClr val="F39A1E"/>
                </a:solidFill>
                <a:latin typeface="Georgia"/>
              </a:rPr>
              <a:t>0</a:t>
            </a:r>
          </a:p>
        </p:txBody>
      </p:sp>
      <p:sp>
        <p:nvSpPr>
          <p:cNvPr id="24" name="TextBox 23"/>
          <p:cNvSpPr txBox="1"/>
          <p:nvPr/>
        </p:nvSpPr>
        <p:spPr>
          <a:xfrm>
            <a:off x="7315200" y="3657600"/>
            <a:ext cx="2103120" cy="1097280"/>
          </a:xfrm>
          <a:prstGeom prst="rect">
            <a:avLst/>
          </a:prstGeom>
          <a:noFill/>
        </p:spPr>
        <p:txBody>
          <a:bodyPr wrap="square" anchor="t">
            <a:spAutoFit/>
          </a:bodyPr>
          <a:lstStyle/>
          <a:p>
            <a:pPr algn="ctr"/>
            <a:r>
              <a:rPr sz="1700" b="0">
                <a:solidFill>
                  <a:srgbClr val="1F2A37"/>
                </a:solidFill>
                <a:latin typeface="Calibri"/>
              </a:rPr>
              <a:t>indicateur</a:t>
            </a:r>
          </a:p>
          <a:p>
            <a:pPr algn="ctr"/>
            <a:r>
              <a:rPr sz="1700" b="0">
                <a:solidFill>
                  <a:srgbClr val="1F2A37"/>
                </a:solidFill>
                <a:latin typeface="Calibri"/>
              </a:rPr>
              <a:t>consolidé</a:t>
            </a:r>
          </a:p>
        </p:txBody>
      </p:sp>
      <p:sp>
        <p:nvSpPr>
          <p:cNvPr id="25" name="Rounded Rectangle 24"/>
          <p:cNvSpPr/>
          <p:nvPr/>
        </p:nvSpPr>
        <p:spPr>
          <a:xfrm>
            <a:off x="9601200" y="1828800"/>
            <a:ext cx="2103120" cy="310896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9601200" y="2103120"/>
            <a:ext cx="2103120" cy="1280160"/>
          </a:xfrm>
          <a:prstGeom prst="rect">
            <a:avLst/>
          </a:prstGeom>
          <a:noFill/>
        </p:spPr>
        <p:txBody>
          <a:bodyPr wrap="square" anchor="t">
            <a:spAutoFit/>
          </a:bodyPr>
          <a:lstStyle/>
          <a:p>
            <a:pPr algn="ctr"/>
            <a:r>
              <a:rPr sz="6600" b="1">
                <a:solidFill>
                  <a:srgbClr val="F39A1E"/>
                </a:solidFill>
                <a:latin typeface="Georgia"/>
              </a:rPr>
              <a:t>4</a:t>
            </a:r>
          </a:p>
        </p:txBody>
      </p:sp>
      <p:sp>
        <p:nvSpPr>
          <p:cNvPr id="27" name="TextBox 26"/>
          <p:cNvSpPr txBox="1"/>
          <p:nvPr/>
        </p:nvSpPr>
        <p:spPr>
          <a:xfrm>
            <a:off x="9601200" y="3657600"/>
            <a:ext cx="2103120" cy="1097280"/>
          </a:xfrm>
          <a:prstGeom prst="rect">
            <a:avLst/>
          </a:prstGeom>
          <a:noFill/>
        </p:spPr>
        <p:txBody>
          <a:bodyPr wrap="square" anchor="t">
            <a:spAutoFit/>
          </a:bodyPr>
          <a:lstStyle/>
          <a:p>
            <a:pPr algn="ctr"/>
            <a:r>
              <a:rPr sz="1700" b="0">
                <a:solidFill>
                  <a:srgbClr val="1F2A37"/>
                </a:solidFill>
                <a:latin typeface="Calibri"/>
              </a:rPr>
              <a:t>canaux de vente</a:t>
            </a:r>
          </a:p>
          <a:p>
            <a:pPr algn="ctr"/>
            <a:r>
              <a:rPr sz="1700" b="0">
                <a:solidFill>
                  <a:srgbClr val="1F2A37"/>
                </a:solidFill>
                <a:latin typeface="Calibri"/>
              </a:rPr>
              <a:t>non comparés</a:t>
            </a:r>
          </a:p>
        </p:txBody>
      </p:sp>
      <p:sp>
        <p:nvSpPr>
          <p:cNvPr id="28" name="TextBox 27"/>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7</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Problématique</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Oval Callout 12"/>
          <p:cNvSpPr/>
          <p:nvPr/>
        </p:nvSpPr>
        <p:spPr>
          <a:xfrm>
            <a:off x="822960" y="1737360"/>
            <a:ext cx="7680960" cy="4023360"/>
          </a:xfrm>
          <a:prstGeom prst="wedgeEllipseCallout">
            <a:avLst>
              <a:gd name="adj1" fmla="val 65000"/>
              <a:gd name="adj2" fmla="val -30000"/>
            </a:avLst>
          </a:prstGeom>
          <a:solidFill>
            <a:srgbClr val="A6A6A6"/>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a:solidFill>
                  <a:srgbClr val="FFFFFF"/>
                </a:solidFill>
                <a:latin typeface="Calibri"/>
              </a:rPr>
              <a:t>Comment piloter l'activité par des indicateurs fiables et conseiller chaque client à partir des données de l'agence ?</a:t>
            </a:r>
          </a:p>
        </p:txBody>
      </p:sp>
      <p:sp>
        <p:nvSpPr>
          <p:cNvPr id="14" name="Rectangle 13"/>
          <p:cNvSpPr/>
          <p:nvPr/>
        </p:nvSpPr>
        <p:spPr>
          <a:xfrm>
            <a:off x="9418320" y="1737360"/>
            <a:ext cx="2194560" cy="3931920"/>
          </a:xfrm>
          <a:prstGeom prst="rect">
            <a:avLst/>
          </a:prstGeom>
          <a:solidFill>
            <a:srgbClr val="FFFFFF"/>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6B7280"/>
                </a:solidFill>
                <a:latin typeface="Calibri"/>
              </a:rPr>
              <a:t>Insérer ici</a:t>
            </a:r>
          </a:p>
          <a:p>
            <a:pPr algn="ctr"/>
            <a:r>
              <a:rPr sz="1300" b="0">
                <a:solidFill>
                  <a:srgbClr val="6B7280"/>
                </a:solidFill>
                <a:latin typeface="Calibri"/>
              </a:rPr>
              <a:t>une illustration</a:t>
            </a:r>
          </a:p>
          <a:p>
            <a:pPr algn="ctr"/>
            <a:r>
              <a:rPr sz="1300" b="0">
                <a:solidFill>
                  <a:srgbClr val="6B7280"/>
                </a:solidFill>
                <a:latin typeface="Calibri"/>
              </a:rPr>
              <a:t>(personnage)</a:t>
            </a:r>
          </a:p>
        </p:txBody>
      </p:sp>
      <p:sp>
        <p:nvSpPr>
          <p:cNvPr id="15" name="TextBox 14"/>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8</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TravelBI : trois volets, une application</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1371600"/>
            <a:ext cx="3605784" cy="11887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Volet données</a:t>
            </a:r>
          </a:p>
          <a:p>
            <a:pPr algn="ctr"/>
            <a:r>
              <a:rPr sz="1600" b="0">
                <a:solidFill>
                  <a:srgbClr val="FFFFFF"/>
                </a:solidFill>
                <a:latin typeface="Calibri"/>
              </a:rPr>
              <a:t>Pipeline Python · modèle en étoile</a:t>
            </a:r>
          </a:p>
        </p:txBody>
      </p:sp>
      <p:sp>
        <p:nvSpPr>
          <p:cNvPr id="14" name="Rounded Rectangle 13"/>
          <p:cNvSpPr/>
          <p:nvPr/>
        </p:nvSpPr>
        <p:spPr>
          <a:xfrm>
            <a:off x="4291584" y="1371600"/>
            <a:ext cx="3605784" cy="1188720"/>
          </a:xfrm>
          <a:prstGeom prst="roundRect">
            <a:avLst>
              <a:gd name="adj" fmla="val 8000"/>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Volet décisionnel</a:t>
            </a:r>
          </a:p>
          <a:p>
            <a:pPr algn="ctr"/>
            <a:r>
              <a:rPr sz="1600" b="0">
                <a:solidFill>
                  <a:srgbClr val="FFFFFF"/>
                </a:solidFill>
                <a:latin typeface="Calibri"/>
              </a:rPr>
              <a:t>Rapport Power BI de cinq pages</a:t>
            </a:r>
          </a:p>
        </p:txBody>
      </p:sp>
      <p:sp>
        <p:nvSpPr>
          <p:cNvPr id="15" name="Rounded Rectangle 14"/>
          <p:cNvSpPr/>
          <p:nvPr/>
        </p:nvSpPr>
        <p:spPr>
          <a:xfrm>
            <a:off x="8125968" y="1371600"/>
            <a:ext cx="3605784" cy="11887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Volet intelligent</a:t>
            </a:r>
          </a:p>
          <a:p>
            <a:pPr algn="ctr"/>
            <a:r>
              <a:rPr sz="1600" b="0">
                <a:solidFill>
                  <a:srgbClr val="FFFFFF"/>
                </a:solidFill>
                <a:latin typeface="Calibri"/>
              </a:rPr>
              <a:t>Moteur de recommandation hybride</a:t>
            </a:r>
          </a:p>
        </p:txBody>
      </p:sp>
      <p:sp>
        <p:nvSpPr>
          <p:cNvPr id="16" name="Rounded Rectangle 15"/>
          <p:cNvSpPr/>
          <p:nvPr/>
        </p:nvSpPr>
        <p:spPr>
          <a:xfrm>
            <a:off x="2926080" y="3108960"/>
            <a:ext cx="6309360" cy="73152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B4F9E"/>
                </a:solidFill>
                <a:latin typeface="Calibri"/>
              </a:rPr>
              <a:t>Application de bureau TravelBI</a:t>
            </a:r>
          </a:p>
        </p:txBody>
      </p:sp>
      <p:cxnSp>
        <p:nvCxnSpPr>
          <p:cNvPr id="17" name="Connector 16"/>
          <p:cNvCxnSpPr>
            <a:stCxn id="13" idx="2"/>
            <a:endCxn id="16" idx="0"/>
          </p:cNvCxnSpPr>
          <p:nvPr/>
        </p:nvCxnSpPr>
        <p:spPr>
          <a:xfrm>
            <a:off x="2260092" y="2560320"/>
            <a:ext cx="3820668" cy="54864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14" idx="2"/>
            <a:endCxn id="16" idx="0"/>
          </p:cNvCxnSpPr>
          <p:nvPr/>
        </p:nvCxnSpPr>
        <p:spPr>
          <a:xfrm flipH="1">
            <a:off x="6080760" y="2560320"/>
            <a:ext cx="13716" cy="54864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5" idx="2"/>
            <a:endCxn id="16" idx="0"/>
          </p:cNvCxnSpPr>
          <p:nvPr/>
        </p:nvCxnSpPr>
        <p:spPr>
          <a:xfrm flipH="1">
            <a:off x="6080760" y="2560320"/>
            <a:ext cx="3848100" cy="54864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371600" y="4206240"/>
            <a:ext cx="3931920" cy="548640"/>
          </a:xfrm>
          <a:prstGeom prst="roundRect">
            <a:avLst>
              <a:gd name="adj" fmla="val 8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F2A37"/>
                </a:solidFill>
                <a:latin typeface="Calibri"/>
              </a:rPr>
              <a:t>Tables dispersées</a:t>
            </a:r>
          </a:p>
        </p:txBody>
      </p:sp>
      <p:sp>
        <p:nvSpPr>
          <p:cNvPr id="21" name="Rounded Rectangle 20"/>
          <p:cNvSpPr/>
          <p:nvPr/>
        </p:nvSpPr>
        <p:spPr>
          <a:xfrm>
            <a:off x="6858000" y="4206240"/>
            <a:ext cx="3931920" cy="5486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Modèle en étoile</a:t>
            </a:r>
          </a:p>
        </p:txBody>
      </p:sp>
      <p:cxnSp>
        <p:nvCxnSpPr>
          <p:cNvPr id="22" name="Connector 21"/>
          <p:cNvCxnSpPr>
            <a:stCxn id="20" idx="3"/>
            <a:endCxn id="21" idx="1"/>
          </p:cNvCxnSpPr>
          <p:nvPr/>
        </p:nvCxnSpPr>
        <p:spPr>
          <a:xfrm flipV="1">
            <a:off x="5303520" y="4480560"/>
            <a:ext cx="1554480" cy="0"/>
          </a:xfrm>
          <a:prstGeom prst="line">
            <a:avLst/>
          </a:prstGeom>
          <a:ln w="22225">
            <a:solidFill>
              <a:srgbClr val="F39A1E"/>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371600" y="4892040"/>
            <a:ext cx="3931920" cy="548640"/>
          </a:xfrm>
          <a:prstGeom prst="roundRect">
            <a:avLst>
              <a:gd name="adj" fmla="val 8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F2A37"/>
                </a:solidFill>
                <a:latin typeface="Calibri"/>
              </a:rPr>
              <a:t>Aucun indicateur consolidé</a:t>
            </a:r>
          </a:p>
        </p:txBody>
      </p:sp>
      <p:sp>
        <p:nvSpPr>
          <p:cNvPr id="24" name="Rounded Rectangle 23"/>
          <p:cNvSpPr/>
          <p:nvPr/>
        </p:nvSpPr>
        <p:spPr>
          <a:xfrm>
            <a:off x="6858000" y="4892040"/>
            <a:ext cx="3931920" cy="5486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KPI et tableaux de bord filtrables</a:t>
            </a:r>
          </a:p>
        </p:txBody>
      </p:sp>
      <p:cxnSp>
        <p:nvCxnSpPr>
          <p:cNvPr id="25" name="Connector 24"/>
          <p:cNvCxnSpPr>
            <a:stCxn id="23" idx="3"/>
            <a:endCxn id="24" idx="1"/>
          </p:cNvCxnSpPr>
          <p:nvPr/>
        </p:nvCxnSpPr>
        <p:spPr>
          <a:xfrm flipV="1">
            <a:off x="5303520" y="5166360"/>
            <a:ext cx="1554480" cy="0"/>
          </a:xfrm>
          <a:prstGeom prst="line">
            <a:avLst/>
          </a:prstGeom>
          <a:ln w="22225">
            <a:solidFill>
              <a:srgbClr val="F39A1E"/>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371600" y="5577840"/>
            <a:ext cx="3931920" cy="548640"/>
          </a:xfrm>
          <a:prstGeom prst="roundRect">
            <a:avLst>
              <a:gd name="adj" fmla="val 8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F2A37"/>
                </a:solidFill>
                <a:latin typeface="Calibri"/>
              </a:rPr>
              <a:t>Expérience du conseiller</a:t>
            </a:r>
          </a:p>
        </p:txBody>
      </p:sp>
      <p:sp>
        <p:nvSpPr>
          <p:cNvPr id="27" name="Rounded Rectangle 26"/>
          <p:cNvSpPr/>
          <p:nvPr/>
        </p:nvSpPr>
        <p:spPr>
          <a:xfrm>
            <a:off x="6858000" y="5577840"/>
            <a:ext cx="3931920" cy="5486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Top-N avec score et explication</a:t>
            </a:r>
          </a:p>
        </p:txBody>
      </p:sp>
      <p:cxnSp>
        <p:nvCxnSpPr>
          <p:cNvPr id="28" name="Connector 27"/>
          <p:cNvCxnSpPr>
            <a:stCxn id="26" idx="3"/>
            <a:endCxn id="27" idx="1"/>
          </p:cNvCxnSpPr>
          <p:nvPr/>
        </p:nvCxnSpPr>
        <p:spPr>
          <a:xfrm flipV="1">
            <a:off x="5303520" y="5852160"/>
            <a:ext cx="1554480" cy="0"/>
          </a:xfrm>
          <a:prstGeom prst="line">
            <a:avLst/>
          </a:prstGeom>
          <a:ln w="22225">
            <a:solidFill>
              <a:srgbClr val="F39A1E"/>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par>
                                <p:cTn id="51" presetID="10"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Besoins fonctionnels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1463040"/>
            <a:ext cx="2647188" cy="42062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Données · BF1 à BF4</a:t>
            </a:r>
          </a:p>
          <a:p>
            <a:pPr algn="ctr"/>
            <a:endParaRPr sz="1500" b="1">
              <a:solidFill>
                <a:srgbClr val="1F2A37"/>
              </a:solidFill>
              <a:latin typeface="Calibri"/>
            </a:endParaRPr>
          </a:p>
          <a:p>
            <a:pPr algn="ctr"/>
            <a:r>
              <a:rPr sz="1500" b="0">
                <a:solidFill>
                  <a:srgbClr val="1F2A37"/>
                </a:solidFill>
                <a:latin typeface="Calibri"/>
              </a:rPr>
              <a:t>Charger et qualifier</a:t>
            </a:r>
          </a:p>
          <a:p>
            <a:pPr algn="ctr"/>
            <a:r>
              <a:rPr sz="1500" b="0">
                <a:solidFill>
                  <a:srgbClr val="1F2A37"/>
                </a:solidFill>
                <a:latin typeface="Calibri"/>
              </a:rPr>
              <a:t>Nettoyer</a:t>
            </a:r>
          </a:p>
          <a:p>
            <a:pPr algn="ctr"/>
            <a:r>
              <a:rPr sz="1500" b="0">
                <a:solidFill>
                  <a:srgbClr val="1F2A37"/>
                </a:solidFill>
                <a:latin typeface="Calibri"/>
              </a:rPr>
              <a:t>Indicateurs client et destination</a:t>
            </a:r>
          </a:p>
          <a:p>
            <a:pPr algn="ctr"/>
            <a:r>
              <a:rPr sz="1500" b="0">
                <a:solidFill>
                  <a:srgbClr val="1F2A37"/>
                </a:solidFill>
                <a:latin typeface="Calibri"/>
              </a:rPr>
              <a:t>Segmenter la clientèle</a:t>
            </a:r>
          </a:p>
        </p:txBody>
      </p:sp>
      <p:sp>
        <p:nvSpPr>
          <p:cNvPr id="14" name="Rounded Rectangle 13"/>
          <p:cNvSpPr/>
          <p:nvPr/>
        </p:nvSpPr>
        <p:spPr>
          <a:xfrm>
            <a:off x="3332988" y="1463040"/>
            <a:ext cx="2647188" cy="42062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Décisionnel · BF5, BF6</a:t>
            </a:r>
          </a:p>
          <a:p>
            <a:pPr algn="ctr"/>
            <a:endParaRPr sz="1500" b="1">
              <a:solidFill>
                <a:srgbClr val="1F2A37"/>
              </a:solidFill>
              <a:latin typeface="Calibri"/>
            </a:endParaRPr>
          </a:p>
          <a:p>
            <a:pPr algn="ctr"/>
            <a:r>
              <a:rPr sz="1500" b="0">
                <a:solidFill>
                  <a:srgbClr val="1F2A37"/>
                </a:solidFill>
                <a:latin typeface="Calibri"/>
              </a:rPr>
              <a:t>Modèle en étoile et KPI</a:t>
            </a:r>
          </a:p>
          <a:p>
            <a:pPr algn="ctr"/>
            <a:r>
              <a:rPr sz="1500" b="0">
                <a:solidFill>
                  <a:srgbClr val="1F2A37"/>
                </a:solidFill>
                <a:latin typeface="Calibri"/>
              </a:rPr>
              <a:t>Tableaux de bord filtrables</a:t>
            </a:r>
          </a:p>
          <a:p>
            <a:pPr algn="ctr"/>
            <a:r>
              <a:rPr sz="1500" b="0">
                <a:solidFill>
                  <a:srgbClr val="1F2A37"/>
                </a:solidFill>
                <a:latin typeface="Calibri"/>
              </a:rPr>
              <a:t>(période, statut familial, sexe)</a:t>
            </a:r>
          </a:p>
        </p:txBody>
      </p:sp>
      <p:sp>
        <p:nvSpPr>
          <p:cNvPr id="15" name="Rounded Rectangle 14"/>
          <p:cNvSpPr/>
          <p:nvPr/>
        </p:nvSpPr>
        <p:spPr>
          <a:xfrm>
            <a:off x="6208776" y="1463040"/>
            <a:ext cx="2647188" cy="42062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Recommandation · BF7 à BF9</a:t>
            </a:r>
          </a:p>
          <a:p>
            <a:pPr algn="ctr"/>
            <a:endParaRPr sz="1500" b="1">
              <a:solidFill>
                <a:srgbClr val="1F2A37"/>
              </a:solidFill>
              <a:latin typeface="Calibri"/>
            </a:endParaRPr>
          </a:p>
          <a:p>
            <a:pPr algn="ctr"/>
            <a:r>
              <a:rPr sz="1500" b="0">
                <a:solidFill>
                  <a:srgbClr val="1F2A37"/>
                </a:solidFill>
                <a:latin typeface="Calibri"/>
              </a:rPr>
              <a:t>Top-N expliqué, client existant</a:t>
            </a:r>
          </a:p>
          <a:p>
            <a:pPr algn="ctr"/>
            <a:r>
              <a:rPr sz="1500" b="0">
                <a:solidFill>
                  <a:srgbClr val="1F2A37"/>
                </a:solidFill>
                <a:latin typeface="Calibri"/>
              </a:rPr>
              <a:t>Nouveau client par profil</a:t>
            </a:r>
          </a:p>
          <a:p>
            <a:pPr algn="ctr"/>
            <a:r>
              <a:rPr sz="1500" b="0">
                <a:solidFill>
                  <a:srgbClr val="1F2A37"/>
                </a:solidFill>
                <a:latin typeface="Calibri"/>
              </a:rPr>
              <a:t>Comparaison des modèles</a:t>
            </a:r>
          </a:p>
        </p:txBody>
      </p:sp>
      <p:sp>
        <p:nvSpPr>
          <p:cNvPr id="16" name="Rounded Rectangle 15"/>
          <p:cNvSpPr/>
          <p:nvPr/>
        </p:nvSpPr>
        <p:spPr>
          <a:xfrm>
            <a:off x="9084564" y="1463040"/>
            <a:ext cx="2647188" cy="42062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Application · BF10</a:t>
            </a:r>
          </a:p>
          <a:p>
            <a:pPr algn="ctr"/>
            <a:endParaRPr sz="1500" b="1">
              <a:solidFill>
                <a:srgbClr val="1F2A37"/>
              </a:solidFill>
              <a:latin typeface="Calibri"/>
            </a:endParaRPr>
          </a:p>
          <a:p>
            <a:pPr algn="ctr"/>
            <a:r>
              <a:rPr sz="1500" b="0">
                <a:solidFill>
                  <a:srgbClr val="1F2A37"/>
                </a:solidFill>
                <a:latin typeface="Calibri"/>
              </a:rPr>
              <a:t>Indicateurs, rapports Power BI,</a:t>
            </a:r>
          </a:p>
          <a:p>
            <a:pPr algn="ctr"/>
            <a:r>
              <a:rPr sz="1500" b="0">
                <a:solidFill>
                  <a:srgbClr val="1F2A37"/>
                </a:solidFill>
                <a:latin typeface="Calibri"/>
              </a:rPr>
              <a:t>recommandations et performances</a:t>
            </a:r>
          </a:p>
          <a:p>
            <a:pPr algn="ctr"/>
            <a:r>
              <a:rPr sz="1500" b="0">
                <a:solidFill>
                  <a:srgbClr val="1F2A37"/>
                </a:solidFill>
                <a:latin typeface="Calibri"/>
              </a:rPr>
              <a:t>dans un seul outil</a:t>
            </a:r>
          </a:p>
        </p:txBody>
      </p:sp>
      <p:sp>
        <p:nvSpPr>
          <p:cNvPr id="17" name="TextBox 16"/>
          <p:cNvSpPr txBox="1"/>
          <p:nvPr/>
        </p:nvSpPr>
        <p:spPr>
          <a:xfrm>
            <a:off x="457200" y="5806440"/>
            <a:ext cx="2651760" cy="365760"/>
          </a:xfrm>
          <a:prstGeom prst="rect">
            <a:avLst/>
          </a:prstGeom>
          <a:noFill/>
        </p:spPr>
        <p:txBody>
          <a:bodyPr wrap="square" anchor="t">
            <a:spAutoFit/>
          </a:bodyPr>
          <a:lstStyle/>
          <a:p>
            <a:pPr algn="ctr"/>
            <a:r>
              <a:rPr sz="1400" b="1">
                <a:solidFill>
                  <a:srgbClr val="F39A1E"/>
                </a:solidFill>
                <a:latin typeface="Calibri"/>
              </a:rPr>
              <a:t>Sprint 1</a:t>
            </a:r>
          </a:p>
        </p:txBody>
      </p:sp>
      <p:sp>
        <p:nvSpPr>
          <p:cNvPr id="18" name="TextBox 17"/>
          <p:cNvSpPr txBox="1"/>
          <p:nvPr/>
        </p:nvSpPr>
        <p:spPr>
          <a:xfrm>
            <a:off x="3332988" y="5806440"/>
            <a:ext cx="2651760" cy="365760"/>
          </a:xfrm>
          <a:prstGeom prst="rect">
            <a:avLst/>
          </a:prstGeom>
          <a:noFill/>
        </p:spPr>
        <p:txBody>
          <a:bodyPr wrap="square" anchor="t">
            <a:spAutoFit/>
          </a:bodyPr>
          <a:lstStyle/>
          <a:p>
            <a:pPr algn="ctr"/>
            <a:r>
              <a:rPr sz="1400" b="1">
                <a:solidFill>
                  <a:srgbClr val="F39A1E"/>
                </a:solidFill>
                <a:latin typeface="Calibri"/>
              </a:rPr>
              <a:t>Sprint 2</a:t>
            </a:r>
          </a:p>
        </p:txBody>
      </p:sp>
      <p:sp>
        <p:nvSpPr>
          <p:cNvPr id="19" name="TextBox 18"/>
          <p:cNvSpPr txBox="1"/>
          <p:nvPr/>
        </p:nvSpPr>
        <p:spPr>
          <a:xfrm>
            <a:off x="6208776" y="5806440"/>
            <a:ext cx="2651760" cy="365760"/>
          </a:xfrm>
          <a:prstGeom prst="rect">
            <a:avLst/>
          </a:prstGeom>
          <a:noFill/>
        </p:spPr>
        <p:txBody>
          <a:bodyPr wrap="square" anchor="t">
            <a:spAutoFit/>
          </a:bodyPr>
          <a:lstStyle/>
          <a:p>
            <a:pPr algn="ctr"/>
            <a:r>
              <a:rPr sz="1400" b="1">
                <a:solidFill>
                  <a:srgbClr val="F39A1E"/>
                </a:solidFill>
                <a:latin typeface="Calibri"/>
              </a:rPr>
              <a:t>Sprint 3</a:t>
            </a:r>
          </a:p>
        </p:txBody>
      </p:sp>
      <p:sp>
        <p:nvSpPr>
          <p:cNvPr id="20" name="TextBox 19"/>
          <p:cNvSpPr txBox="1"/>
          <p:nvPr/>
        </p:nvSpPr>
        <p:spPr>
          <a:xfrm>
            <a:off x="9084564" y="5806440"/>
            <a:ext cx="2651760" cy="365760"/>
          </a:xfrm>
          <a:prstGeom prst="rect">
            <a:avLst/>
          </a:prstGeom>
          <a:noFill/>
        </p:spPr>
        <p:txBody>
          <a:bodyPr wrap="square" anchor="t">
            <a:spAutoFit/>
          </a:bodyPr>
          <a:lstStyle/>
          <a:p>
            <a:pPr algn="ctr"/>
            <a:r>
              <a:rPr sz="1400" b="1">
                <a:solidFill>
                  <a:srgbClr val="F39A1E"/>
                </a:solidFill>
                <a:latin typeface="Calibri"/>
              </a:rPr>
              <a:t>Sprint 4</a:t>
            </a:r>
          </a:p>
        </p:txBody>
      </p:sp>
      <p:sp>
        <p:nvSpPr>
          <p:cNvPr id="21" name="TextBox 20"/>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Besoins non fonctionnels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1554480"/>
            <a:ext cx="2647188" cy="2103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Fiabilité</a:t>
            </a:r>
          </a:p>
          <a:p>
            <a:pPr algn="ctr"/>
            <a:r>
              <a:rPr sz="1500" b="0">
                <a:solidFill>
                  <a:srgbClr val="FFFFFF"/>
                </a:solidFill>
                <a:latin typeface="Calibri"/>
              </a:rPr>
              <a:t>Définition unique des indicateurs</a:t>
            </a:r>
          </a:p>
        </p:txBody>
      </p:sp>
      <p:sp>
        <p:nvSpPr>
          <p:cNvPr id="14" name="Rounded Rectangle 13"/>
          <p:cNvSpPr/>
          <p:nvPr/>
        </p:nvSpPr>
        <p:spPr>
          <a:xfrm>
            <a:off x="3332988" y="1554480"/>
            <a:ext cx="2647188" cy="2103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Reproductibilité</a:t>
            </a:r>
          </a:p>
          <a:p>
            <a:pPr algn="ctr"/>
            <a:r>
              <a:rPr sz="1500" b="0">
                <a:solidFill>
                  <a:srgbClr val="FFFFFF"/>
                </a:solidFill>
                <a:latin typeface="Calibri"/>
              </a:rPr>
              <a:t>Graine aléatoire fixée</a:t>
            </a:r>
          </a:p>
        </p:txBody>
      </p:sp>
      <p:sp>
        <p:nvSpPr>
          <p:cNvPr id="15" name="Rounded Rectangle 14"/>
          <p:cNvSpPr/>
          <p:nvPr/>
        </p:nvSpPr>
        <p:spPr>
          <a:xfrm>
            <a:off x="6208776" y="1554480"/>
            <a:ext cx="2647188" cy="21031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Cohérence</a:t>
            </a:r>
          </a:p>
          <a:p>
            <a:pPr algn="ctr"/>
            <a:r>
              <a:rPr sz="1500" b="0">
                <a:solidFill>
                  <a:srgbClr val="FFFFFF"/>
                </a:solidFill>
                <a:latin typeface="Calibri"/>
              </a:rPr>
              <a:t>Application = notebook</a:t>
            </a:r>
          </a:p>
        </p:txBody>
      </p:sp>
      <p:sp>
        <p:nvSpPr>
          <p:cNvPr id="16" name="Rounded Rectangle 15"/>
          <p:cNvSpPr/>
          <p:nvPr/>
        </p:nvSpPr>
        <p:spPr>
          <a:xfrm>
            <a:off x="9084564" y="1554480"/>
            <a:ext cx="2647188" cy="21031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Explicabilité</a:t>
            </a:r>
          </a:p>
          <a:p>
            <a:pPr algn="ctr"/>
            <a:r>
              <a:rPr sz="1500" b="0">
                <a:solidFill>
                  <a:srgbClr val="FFFFFF"/>
                </a:solidFill>
                <a:latin typeface="Calibri"/>
              </a:rPr>
              <a:t>Justification compréhensible</a:t>
            </a:r>
          </a:p>
        </p:txBody>
      </p:sp>
      <p:sp>
        <p:nvSpPr>
          <p:cNvPr id="17" name="Rounded Rectangle 16"/>
          <p:cNvSpPr/>
          <p:nvPr/>
        </p:nvSpPr>
        <p:spPr>
          <a:xfrm>
            <a:off x="457200" y="3886200"/>
            <a:ext cx="2647188" cy="2103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Performance</a:t>
            </a:r>
          </a:p>
          <a:p>
            <a:pPr algn="ctr"/>
            <a:r>
              <a:rPr sz="1500" b="0">
                <a:solidFill>
                  <a:srgbClr val="FFFFFF"/>
                </a:solidFill>
                <a:latin typeface="Calibri"/>
              </a:rPr>
              <a:t>Moins d'une seconde</a:t>
            </a:r>
          </a:p>
        </p:txBody>
      </p:sp>
      <p:sp>
        <p:nvSpPr>
          <p:cNvPr id="18" name="Rounded Rectangle 17"/>
          <p:cNvSpPr/>
          <p:nvPr/>
        </p:nvSpPr>
        <p:spPr>
          <a:xfrm>
            <a:off x="3332988" y="3886200"/>
            <a:ext cx="2647188" cy="21031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Autonomie</a:t>
            </a:r>
          </a:p>
          <a:p>
            <a:pPr algn="ctr"/>
            <a:r>
              <a:rPr sz="1500" b="0">
                <a:solidFill>
                  <a:srgbClr val="FFFFFF"/>
                </a:solidFill>
                <a:latin typeface="Calibri"/>
              </a:rPr>
              <a:t>Hors ligne, sans Python</a:t>
            </a:r>
          </a:p>
        </p:txBody>
      </p:sp>
      <p:sp>
        <p:nvSpPr>
          <p:cNvPr id="19" name="Rounded Rectangle 18"/>
          <p:cNvSpPr/>
          <p:nvPr/>
        </p:nvSpPr>
        <p:spPr>
          <a:xfrm>
            <a:off x="6208776" y="3886200"/>
            <a:ext cx="2647188" cy="2103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Ergonomie</a:t>
            </a:r>
          </a:p>
          <a:p>
            <a:pPr algn="ctr"/>
            <a:r>
              <a:rPr sz="1500" b="0">
                <a:solidFill>
                  <a:srgbClr val="FFFFFF"/>
                </a:solidFill>
                <a:latin typeface="Calibri"/>
              </a:rPr>
              <a:t>Interface en français</a:t>
            </a:r>
          </a:p>
        </p:txBody>
      </p:sp>
      <p:sp>
        <p:nvSpPr>
          <p:cNvPr id="20" name="Rounded Rectangle 19"/>
          <p:cNvSpPr/>
          <p:nvPr/>
        </p:nvSpPr>
        <p:spPr>
          <a:xfrm>
            <a:off x="9084564" y="3886200"/>
            <a:ext cx="2647188" cy="2103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Confidentialité</a:t>
            </a:r>
          </a:p>
          <a:p>
            <a:pPr algn="ctr"/>
            <a:r>
              <a:rPr sz="1500" b="0">
                <a:solidFill>
                  <a:srgbClr val="FFFFFF"/>
                </a:solidFill>
                <a:latin typeface="Calibri"/>
              </a:rPr>
              <a:t>Données sur le poste de l'agence</a:t>
            </a:r>
          </a:p>
        </p:txBody>
      </p:sp>
      <p:sp>
        <p:nvSpPr>
          <p:cNvPr id="21" name="TextBox 20"/>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Diagramme global de cas d'utilisation</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2926080" y="1325880"/>
            <a:ext cx="6355080" cy="4983480"/>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2926080" y="1344168"/>
            <a:ext cx="6355080" cy="320040"/>
          </a:xfrm>
          <a:prstGeom prst="rect">
            <a:avLst/>
          </a:prstGeom>
          <a:noFill/>
        </p:spPr>
        <p:txBody>
          <a:bodyPr wrap="square" anchor="t">
            <a:spAutoFit/>
          </a:bodyPr>
          <a:lstStyle/>
          <a:p>
            <a:pPr algn="ctr"/>
            <a:r>
              <a:rPr sz="1400" b="1">
                <a:solidFill>
                  <a:srgbClr val="0B4F9E"/>
                </a:solidFill>
                <a:latin typeface="Calibri"/>
              </a:rPr>
              <a:t>Système TravelBI</a:t>
            </a:r>
          </a:p>
        </p:txBody>
      </p:sp>
      <p:sp>
        <p:nvSpPr>
          <p:cNvPr id="15" name="Oval 14"/>
          <p:cNvSpPr/>
          <p:nvPr/>
        </p:nvSpPr>
        <p:spPr>
          <a:xfrm>
            <a:off x="3154680" y="1737360"/>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Consulter le tableau de bord</a:t>
            </a:r>
          </a:p>
        </p:txBody>
      </p:sp>
      <p:sp>
        <p:nvSpPr>
          <p:cNvPr id="16" name="Oval 15"/>
          <p:cNvSpPr/>
          <p:nvPr/>
        </p:nvSpPr>
        <p:spPr>
          <a:xfrm>
            <a:off x="3154680" y="2487168"/>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Consulter les rapports Power BI</a:t>
            </a:r>
          </a:p>
        </p:txBody>
      </p:sp>
      <p:sp>
        <p:nvSpPr>
          <p:cNvPr id="17" name="Oval 16"/>
          <p:cNvSpPr/>
          <p:nvPr/>
        </p:nvSpPr>
        <p:spPr>
          <a:xfrm>
            <a:off x="3154680" y="3236976"/>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Consulter la performance</a:t>
            </a:r>
          </a:p>
          <a:p>
            <a:pPr algn="ctr"/>
            <a:r>
              <a:rPr sz="1200" b="0">
                <a:solidFill>
                  <a:srgbClr val="1F2A37"/>
                </a:solidFill>
                <a:latin typeface="Calibri"/>
              </a:rPr>
              <a:t>des modèles</a:t>
            </a:r>
          </a:p>
        </p:txBody>
      </p:sp>
      <p:sp>
        <p:nvSpPr>
          <p:cNvPr id="18" name="Oval 17"/>
          <p:cNvSpPr/>
          <p:nvPr/>
        </p:nvSpPr>
        <p:spPr>
          <a:xfrm>
            <a:off x="3154680" y="4114800"/>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Recommander pour</a:t>
            </a:r>
          </a:p>
          <a:p>
            <a:pPr algn="ctr"/>
            <a:r>
              <a:rPr sz="1200" b="0">
                <a:solidFill>
                  <a:srgbClr val="1F2A37"/>
                </a:solidFill>
                <a:latin typeface="Calibri"/>
              </a:rPr>
              <a:t>un client existant</a:t>
            </a:r>
          </a:p>
        </p:txBody>
      </p:sp>
      <p:sp>
        <p:nvSpPr>
          <p:cNvPr id="19" name="Oval 18"/>
          <p:cNvSpPr/>
          <p:nvPr/>
        </p:nvSpPr>
        <p:spPr>
          <a:xfrm>
            <a:off x="3154680" y="4864608"/>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Recommander pour</a:t>
            </a:r>
          </a:p>
          <a:p>
            <a:pPr algn="ctr"/>
            <a:r>
              <a:rPr sz="1200" b="0">
                <a:solidFill>
                  <a:srgbClr val="1F2A37"/>
                </a:solidFill>
                <a:latin typeface="Calibri"/>
              </a:rPr>
              <a:t>un nouveau client</a:t>
            </a:r>
          </a:p>
        </p:txBody>
      </p:sp>
      <p:sp>
        <p:nvSpPr>
          <p:cNvPr id="20" name="Oval 19"/>
          <p:cNvSpPr/>
          <p:nvPr/>
        </p:nvSpPr>
        <p:spPr>
          <a:xfrm>
            <a:off x="3154680" y="5614416"/>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Exporter les</a:t>
            </a:r>
          </a:p>
          <a:p>
            <a:pPr algn="ctr"/>
            <a:r>
              <a:rPr sz="1200" b="0">
                <a:solidFill>
                  <a:srgbClr val="1F2A37"/>
                </a:solidFill>
                <a:latin typeface="Calibri"/>
              </a:rPr>
              <a:t>recommandations</a:t>
            </a:r>
          </a:p>
        </p:txBody>
      </p:sp>
      <p:sp>
        <p:nvSpPr>
          <p:cNvPr id="21" name="Oval 20"/>
          <p:cNvSpPr/>
          <p:nvPr/>
        </p:nvSpPr>
        <p:spPr>
          <a:xfrm>
            <a:off x="6263640" y="1737360"/>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Préparer les données et</a:t>
            </a:r>
          </a:p>
          <a:p>
            <a:pPr algn="ctr"/>
            <a:r>
              <a:rPr sz="1200" b="0">
                <a:solidFill>
                  <a:srgbClr val="1F2A37"/>
                </a:solidFill>
                <a:latin typeface="Calibri"/>
              </a:rPr>
              <a:t>entraîner les modèles</a:t>
            </a:r>
          </a:p>
        </p:txBody>
      </p:sp>
      <p:sp>
        <p:nvSpPr>
          <p:cNvPr id="22" name="Oval 21"/>
          <p:cNvSpPr/>
          <p:nvPr/>
        </p:nvSpPr>
        <p:spPr>
          <a:xfrm>
            <a:off x="6263640" y="3236976"/>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Publier le rapport Power BI</a:t>
            </a:r>
          </a:p>
        </p:txBody>
      </p:sp>
      <p:sp>
        <p:nvSpPr>
          <p:cNvPr id="23" name="Oval 22"/>
          <p:cNvSpPr/>
          <p:nvPr/>
        </p:nvSpPr>
        <p:spPr>
          <a:xfrm>
            <a:off x="6263640" y="4864608"/>
            <a:ext cx="2788920" cy="621792"/>
          </a:xfrm>
          <a:prstGeom prst="ellipse">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Vérifier la cohérence</a:t>
            </a:r>
          </a:p>
        </p:txBody>
      </p:sp>
      <p:sp>
        <p:nvSpPr>
          <p:cNvPr id="24" name="Oval 23"/>
          <p:cNvSpPr/>
          <p:nvPr/>
        </p:nvSpPr>
        <p:spPr>
          <a:xfrm>
            <a:off x="1225296" y="2084831"/>
            <a:ext cx="292608" cy="292608"/>
          </a:xfrm>
          <a:prstGeom prst="ellipse">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25" name="Connector 24"/>
          <p:cNvCxnSpPr/>
          <p:nvPr/>
        </p:nvCxnSpPr>
        <p:spPr>
          <a:xfrm>
            <a:off x="1371600" y="2377440"/>
            <a:ext cx="0" cy="45720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15568" y="2560320"/>
            <a:ext cx="512064" cy="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70432" y="2834640"/>
            <a:ext cx="201168" cy="32004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71600" y="2834640"/>
            <a:ext cx="201168" cy="32004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3182112"/>
            <a:ext cx="1828800" cy="548640"/>
          </a:xfrm>
          <a:prstGeom prst="rect">
            <a:avLst/>
          </a:prstGeom>
          <a:noFill/>
        </p:spPr>
        <p:txBody>
          <a:bodyPr wrap="square" anchor="t">
            <a:spAutoFit/>
          </a:bodyPr>
          <a:lstStyle/>
          <a:p>
            <a:pPr algn="ctr"/>
            <a:r>
              <a:rPr sz="1300" b="1">
                <a:solidFill>
                  <a:srgbClr val="1F2A37"/>
                </a:solidFill>
                <a:latin typeface="Calibri"/>
              </a:rPr>
              <a:t>Directeur</a:t>
            </a:r>
          </a:p>
        </p:txBody>
      </p:sp>
      <p:cxnSp>
        <p:nvCxnSpPr>
          <p:cNvPr id="30" name="Connector 29"/>
          <p:cNvCxnSpPr/>
          <p:nvPr/>
        </p:nvCxnSpPr>
        <p:spPr>
          <a:xfrm flipV="1">
            <a:off x="1691640" y="2048255"/>
            <a:ext cx="1463040" cy="512065"/>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691640" y="2560320"/>
            <a:ext cx="1463040" cy="237744"/>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691640" y="2560320"/>
            <a:ext cx="1463040" cy="987552"/>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225296" y="4462272"/>
            <a:ext cx="292608" cy="292608"/>
          </a:xfrm>
          <a:prstGeom prst="ellipse">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34" name="Connector 33"/>
          <p:cNvCxnSpPr/>
          <p:nvPr/>
        </p:nvCxnSpPr>
        <p:spPr>
          <a:xfrm>
            <a:off x="1371600" y="4754880"/>
            <a:ext cx="0" cy="45720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15568" y="4937760"/>
            <a:ext cx="512064" cy="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170432" y="5212080"/>
            <a:ext cx="201168" cy="32004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371600" y="5212080"/>
            <a:ext cx="201168" cy="32004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57200" y="5559552"/>
            <a:ext cx="1828800" cy="548640"/>
          </a:xfrm>
          <a:prstGeom prst="rect">
            <a:avLst/>
          </a:prstGeom>
          <a:noFill/>
        </p:spPr>
        <p:txBody>
          <a:bodyPr wrap="square" anchor="t">
            <a:spAutoFit/>
          </a:bodyPr>
          <a:lstStyle/>
          <a:p>
            <a:pPr algn="ctr"/>
            <a:r>
              <a:rPr sz="1300" b="1">
                <a:solidFill>
                  <a:srgbClr val="1F2A37"/>
                </a:solidFill>
                <a:latin typeface="Calibri"/>
              </a:rPr>
              <a:t>Conseiller</a:t>
            </a:r>
          </a:p>
          <a:p>
            <a:pPr algn="ctr"/>
            <a:r>
              <a:rPr sz="1300" b="1">
                <a:solidFill>
                  <a:srgbClr val="1F2A37"/>
                </a:solidFill>
                <a:latin typeface="Calibri"/>
              </a:rPr>
              <a:t>commercial</a:t>
            </a:r>
          </a:p>
        </p:txBody>
      </p:sp>
      <p:cxnSp>
        <p:nvCxnSpPr>
          <p:cNvPr id="39" name="Connector 38"/>
          <p:cNvCxnSpPr/>
          <p:nvPr/>
        </p:nvCxnSpPr>
        <p:spPr>
          <a:xfrm flipV="1">
            <a:off x="1691640" y="4425696"/>
            <a:ext cx="1463040" cy="512064"/>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691640" y="4937760"/>
            <a:ext cx="1463040" cy="237744"/>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691640" y="4937760"/>
            <a:ext cx="1463040" cy="987552"/>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0643616" y="4187952"/>
            <a:ext cx="292608" cy="292608"/>
          </a:xfrm>
          <a:prstGeom prst="ellipse">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43" name="Connector 42"/>
          <p:cNvCxnSpPr/>
          <p:nvPr/>
        </p:nvCxnSpPr>
        <p:spPr>
          <a:xfrm>
            <a:off x="10789920" y="4480560"/>
            <a:ext cx="0" cy="45720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533888" y="4663440"/>
            <a:ext cx="512064" cy="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0588752" y="4937760"/>
            <a:ext cx="201168" cy="32004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789920" y="4937760"/>
            <a:ext cx="201168" cy="32004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875520" y="5285232"/>
            <a:ext cx="1828800" cy="548640"/>
          </a:xfrm>
          <a:prstGeom prst="rect">
            <a:avLst/>
          </a:prstGeom>
          <a:noFill/>
        </p:spPr>
        <p:txBody>
          <a:bodyPr wrap="square" anchor="t">
            <a:spAutoFit/>
          </a:bodyPr>
          <a:lstStyle/>
          <a:p>
            <a:pPr algn="ctr"/>
            <a:r>
              <a:rPr sz="1300" b="1">
                <a:solidFill>
                  <a:srgbClr val="1F2A37"/>
                </a:solidFill>
                <a:latin typeface="Calibri"/>
              </a:rPr>
              <a:t>Analyste</a:t>
            </a:r>
          </a:p>
          <a:p>
            <a:pPr algn="ctr"/>
            <a:r>
              <a:rPr sz="1300" b="1">
                <a:solidFill>
                  <a:srgbClr val="1F2A37"/>
                </a:solidFill>
                <a:latin typeface="Calibri"/>
              </a:rPr>
              <a:t>de données</a:t>
            </a:r>
          </a:p>
        </p:txBody>
      </p:sp>
      <p:cxnSp>
        <p:nvCxnSpPr>
          <p:cNvPr id="48" name="Connector 47"/>
          <p:cNvCxnSpPr/>
          <p:nvPr/>
        </p:nvCxnSpPr>
        <p:spPr>
          <a:xfrm flipH="1" flipV="1">
            <a:off x="9052559" y="2048255"/>
            <a:ext cx="1417321" cy="2615185"/>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9052559" y="3547872"/>
            <a:ext cx="1417321" cy="1115568"/>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052559" y="4663440"/>
            <a:ext cx="1417321" cy="512064"/>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10643616" y="1810512"/>
            <a:ext cx="292608" cy="292608"/>
          </a:xfrm>
          <a:prstGeom prst="ellipse">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52" name="Connector 51"/>
          <p:cNvCxnSpPr/>
          <p:nvPr/>
        </p:nvCxnSpPr>
        <p:spPr>
          <a:xfrm>
            <a:off x="10789920" y="2103120"/>
            <a:ext cx="0" cy="45720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533888" y="2286000"/>
            <a:ext cx="512064" cy="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0588752" y="2560320"/>
            <a:ext cx="201168" cy="32004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789920" y="2560320"/>
            <a:ext cx="201168" cy="320040"/>
          </a:xfrm>
          <a:prstGeom prst="line">
            <a:avLst/>
          </a:prstGeom>
          <a:ln w="19050">
            <a:solidFill>
              <a:srgbClr val="0B4F9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9875520" y="2907792"/>
            <a:ext cx="1828800" cy="548640"/>
          </a:xfrm>
          <a:prstGeom prst="rect">
            <a:avLst/>
          </a:prstGeom>
          <a:noFill/>
        </p:spPr>
        <p:txBody>
          <a:bodyPr wrap="square" anchor="t">
            <a:spAutoFit/>
          </a:bodyPr>
          <a:lstStyle/>
          <a:p>
            <a:pPr algn="ctr"/>
            <a:r>
              <a:rPr sz="1300" b="1">
                <a:solidFill>
                  <a:srgbClr val="1F2A37"/>
                </a:solidFill>
                <a:latin typeface="Calibri"/>
              </a:rPr>
              <a:t>«système»</a:t>
            </a:r>
          </a:p>
          <a:p>
            <a:pPr algn="ctr"/>
            <a:r>
              <a:rPr sz="1300" b="1">
                <a:solidFill>
                  <a:srgbClr val="1F2A37"/>
                </a:solidFill>
                <a:latin typeface="Calibri"/>
              </a:rPr>
              <a:t>Power BI Service</a:t>
            </a:r>
          </a:p>
        </p:txBody>
      </p:sp>
      <p:cxnSp>
        <p:nvCxnSpPr>
          <p:cNvPr id="57" name="Connector 56"/>
          <p:cNvCxnSpPr/>
          <p:nvPr/>
        </p:nvCxnSpPr>
        <p:spPr>
          <a:xfrm flipH="1">
            <a:off x="5943600" y="2286000"/>
            <a:ext cx="4526280" cy="512064"/>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9052559" y="2286000"/>
            <a:ext cx="1417321" cy="1261872"/>
          </a:xfrm>
          <a:prstGeom prst="line">
            <a:avLst/>
          </a:prstGeom>
          <a:ln w="15875">
            <a:solidFill>
              <a:srgbClr val="0B4F9E"/>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par>
                                <p:cTn id="35" presetID="10"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par>
                                <p:cTn id="38" presetID="10" presetClass="entr" presetSubtype="0"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500"/>
                                        <p:tgtEl>
                                          <p:spTgt spid="3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par>
                                <p:cTn id="55" presetID="10"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500"/>
                                        <p:tgtEl>
                                          <p:spTgt spid="34"/>
                                        </p:tgtEl>
                                      </p:cBhvr>
                                    </p:animEffect>
                                  </p:childTnLst>
                                </p:cTn>
                              </p:par>
                              <p:par>
                                <p:cTn id="58" presetID="10" presetClass="entr" presetSubtype="0" fill="hold"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500"/>
                                        <p:tgtEl>
                                          <p:spTgt spid="35"/>
                                        </p:tgtEl>
                                      </p:cBhvr>
                                    </p:animEffect>
                                  </p:childTnLst>
                                </p:cTn>
                              </p:par>
                              <p:par>
                                <p:cTn id="61" presetID="10" presetClass="entr" presetSubtype="0"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cTn>
                              </p:par>
                              <p:par>
                                <p:cTn id="64" presetID="10" presetClass="entr" presetSubtype="0" fill="hold"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500"/>
                                        <p:tgtEl>
                                          <p:spTgt spid="37"/>
                                        </p:tgtEl>
                                      </p:cBhvr>
                                    </p:animEffect>
                                  </p:childTnLst>
                                </p:cTn>
                              </p:par>
                              <p:par>
                                <p:cTn id="67" presetID="10" presetClass="entr" presetSubtype="0" fill="hold" nodeType="with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500"/>
                                        <p:tgtEl>
                                          <p:spTgt spid="38"/>
                                        </p:tgtEl>
                                      </p:cBhvr>
                                    </p:animEffect>
                                  </p:childTnLst>
                                </p:cTn>
                              </p:par>
                              <p:par>
                                <p:cTn id="70" presetID="10" presetClass="entr" presetSubtype="0" fill="hold"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500"/>
                                        <p:tgtEl>
                                          <p:spTgt spid="39"/>
                                        </p:tgtEl>
                                      </p:cBhvr>
                                    </p:animEffect>
                                  </p:childTnLst>
                                </p:cTn>
                              </p:par>
                              <p:par>
                                <p:cTn id="73" presetID="10"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500"/>
                                        <p:tgtEl>
                                          <p:spTgt spid="40"/>
                                        </p:tgtEl>
                                      </p:cBhvr>
                                    </p:animEffect>
                                  </p:childTnLst>
                                </p:cTn>
                              </p:par>
                              <p:par>
                                <p:cTn id="76" presetID="10" presetClass="entr" presetSubtype="0" fill="hold"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500"/>
                                        <p:tgtEl>
                                          <p:spTgt spid="41"/>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500"/>
                                        <p:tgtEl>
                                          <p:spTgt spid="21"/>
                                        </p:tgtEl>
                                      </p:cBhvr>
                                    </p:animEffect>
                                  </p:childTnLst>
                                </p:cTn>
                              </p:par>
                              <p:par>
                                <p:cTn id="84" presetID="10" presetClass="entr" presetSubtype="0" fill="hold"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par>
                                <p:cTn id="87" presetID="10" presetClass="entr" presetSubtype="0" fill="hold" nodeType="with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par>
                                <p:cTn id="90" presetID="10" presetClass="entr" presetSubtype="0" fill="hold"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500"/>
                                        <p:tgtEl>
                                          <p:spTgt spid="42"/>
                                        </p:tgtEl>
                                      </p:cBhvr>
                                    </p:animEffect>
                                  </p:childTnLst>
                                </p:cTn>
                              </p:par>
                              <p:par>
                                <p:cTn id="93" presetID="10" presetClass="entr" presetSubtype="0" fill="hold"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500"/>
                                        <p:tgtEl>
                                          <p:spTgt spid="43"/>
                                        </p:tgtEl>
                                      </p:cBhvr>
                                    </p:animEffect>
                                  </p:childTnLst>
                                </p:cTn>
                              </p:par>
                              <p:par>
                                <p:cTn id="96" presetID="10" presetClass="entr" presetSubtype="0" fill="hold"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500"/>
                                        <p:tgtEl>
                                          <p:spTgt spid="44"/>
                                        </p:tgtEl>
                                      </p:cBhvr>
                                    </p:animEffect>
                                  </p:childTnLst>
                                </p:cTn>
                              </p:par>
                              <p:par>
                                <p:cTn id="99" presetID="10" presetClass="entr" presetSubtype="0" fill="hold"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500"/>
                                        <p:tgtEl>
                                          <p:spTgt spid="45"/>
                                        </p:tgtEl>
                                      </p:cBhvr>
                                    </p:animEffect>
                                  </p:childTnLst>
                                </p:cTn>
                              </p:par>
                              <p:par>
                                <p:cTn id="102" presetID="10" presetClass="entr" presetSubtype="0" fill="hold"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500"/>
                                        <p:tgtEl>
                                          <p:spTgt spid="46"/>
                                        </p:tgtEl>
                                      </p:cBhvr>
                                    </p:animEffect>
                                  </p:childTnLst>
                                </p:cTn>
                              </p:par>
                              <p:par>
                                <p:cTn id="105" presetID="10" presetClass="entr" presetSubtype="0" fill="hold"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500"/>
                                        <p:tgtEl>
                                          <p:spTgt spid="47"/>
                                        </p:tgtEl>
                                      </p:cBhvr>
                                    </p:animEffect>
                                  </p:childTnLst>
                                </p:cTn>
                              </p:par>
                              <p:par>
                                <p:cTn id="108" presetID="10" presetClass="entr" presetSubtype="0" fill="hold" nodeType="with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500"/>
                                        <p:tgtEl>
                                          <p:spTgt spid="48"/>
                                        </p:tgtEl>
                                      </p:cBhvr>
                                    </p:animEffect>
                                  </p:childTnLst>
                                </p:cTn>
                              </p:par>
                              <p:par>
                                <p:cTn id="111" presetID="10" presetClass="entr" presetSubtype="0" fill="hold" nodeType="with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500"/>
                                        <p:tgtEl>
                                          <p:spTgt spid="49"/>
                                        </p:tgtEl>
                                      </p:cBhvr>
                                    </p:animEffect>
                                  </p:childTnLst>
                                </p:cTn>
                              </p:par>
                              <p:par>
                                <p:cTn id="114" presetID="10" presetClass="entr" presetSubtype="0" fill="hold" nodeType="withEffect">
                                  <p:stCondLst>
                                    <p:cond delay="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500"/>
                                        <p:tgtEl>
                                          <p:spTgt spid="50"/>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51"/>
                                        </p:tgtEl>
                                        <p:attrNameLst>
                                          <p:attrName>style.visibility</p:attrName>
                                        </p:attrNameLst>
                                      </p:cBhvr>
                                      <p:to>
                                        <p:strVal val="visible"/>
                                      </p:to>
                                    </p:set>
                                    <p:animEffect transition="in" filter="fade">
                                      <p:cBhvr>
                                        <p:cTn id="121" dur="500"/>
                                        <p:tgtEl>
                                          <p:spTgt spid="51"/>
                                        </p:tgtEl>
                                      </p:cBhvr>
                                    </p:animEffect>
                                  </p:childTnLst>
                                </p:cTn>
                              </p:par>
                              <p:par>
                                <p:cTn id="122" presetID="10" presetClass="entr" presetSubtype="0" fill="hold" nodeType="with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fade">
                                      <p:cBhvr>
                                        <p:cTn id="124" dur="500"/>
                                        <p:tgtEl>
                                          <p:spTgt spid="52"/>
                                        </p:tgtEl>
                                      </p:cBhvr>
                                    </p:animEffect>
                                  </p:childTnLst>
                                </p:cTn>
                              </p:par>
                              <p:par>
                                <p:cTn id="125" presetID="10" presetClass="entr" presetSubtype="0" fill="hold" nodeType="withEffect">
                                  <p:stCondLst>
                                    <p:cond delay="0"/>
                                  </p:stCondLst>
                                  <p:childTnLst>
                                    <p:set>
                                      <p:cBhvr>
                                        <p:cTn id="126" dur="1" fill="hold">
                                          <p:stCondLst>
                                            <p:cond delay="0"/>
                                          </p:stCondLst>
                                        </p:cTn>
                                        <p:tgtEl>
                                          <p:spTgt spid="53"/>
                                        </p:tgtEl>
                                        <p:attrNameLst>
                                          <p:attrName>style.visibility</p:attrName>
                                        </p:attrNameLst>
                                      </p:cBhvr>
                                      <p:to>
                                        <p:strVal val="visible"/>
                                      </p:to>
                                    </p:set>
                                    <p:animEffect transition="in" filter="fade">
                                      <p:cBhvr>
                                        <p:cTn id="127" dur="500"/>
                                        <p:tgtEl>
                                          <p:spTgt spid="53"/>
                                        </p:tgtEl>
                                      </p:cBhvr>
                                    </p:animEffect>
                                  </p:childTnLst>
                                </p:cTn>
                              </p:par>
                              <p:par>
                                <p:cTn id="128" presetID="10" presetClass="entr" presetSubtype="0" fill="hold" nodeType="withEffect">
                                  <p:stCondLst>
                                    <p:cond delay="0"/>
                                  </p:stCondLst>
                                  <p:childTnLst>
                                    <p:set>
                                      <p:cBhvr>
                                        <p:cTn id="129" dur="1" fill="hold">
                                          <p:stCondLst>
                                            <p:cond delay="0"/>
                                          </p:stCondLst>
                                        </p:cTn>
                                        <p:tgtEl>
                                          <p:spTgt spid="54"/>
                                        </p:tgtEl>
                                        <p:attrNameLst>
                                          <p:attrName>style.visibility</p:attrName>
                                        </p:attrNameLst>
                                      </p:cBhvr>
                                      <p:to>
                                        <p:strVal val="visible"/>
                                      </p:to>
                                    </p:set>
                                    <p:animEffect transition="in" filter="fade">
                                      <p:cBhvr>
                                        <p:cTn id="130" dur="500"/>
                                        <p:tgtEl>
                                          <p:spTgt spid="54"/>
                                        </p:tgtEl>
                                      </p:cBhvr>
                                    </p:animEffect>
                                  </p:childTnLst>
                                </p:cTn>
                              </p:par>
                              <p:par>
                                <p:cTn id="131" presetID="10" presetClass="entr" presetSubtype="0" fill="hold" nodeType="withEffect">
                                  <p:stCondLst>
                                    <p:cond delay="0"/>
                                  </p:stCondLst>
                                  <p:childTnLst>
                                    <p:set>
                                      <p:cBhvr>
                                        <p:cTn id="132" dur="1" fill="hold">
                                          <p:stCondLst>
                                            <p:cond delay="0"/>
                                          </p:stCondLst>
                                        </p:cTn>
                                        <p:tgtEl>
                                          <p:spTgt spid="55"/>
                                        </p:tgtEl>
                                        <p:attrNameLst>
                                          <p:attrName>style.visibility</p:attrName>
                                        </p:attrNameLst>
                                      </p:cBhvr>
                                      <p:to>
                                        <p:strVal val="visible"/>
                                      </p:to>
                                    </p:set>
                                    <p:animEffect transition="in" filter="fade">
                                      <p:cBhvr>
                                        <p:cTn id="133" dur="500"/>
                                        <p:tgtEl>
                                          <p:spTgt spid="55"/>
                                        </p:tgtEl>
                                      </p:cBhvr>
                                    </p:animEffect>
                                  </p:childTnLst>
                                </p:cTn>
                              </p:par>
                              <p:par>
                                <p:cTn id="134" presetID="10" presetClass="entr" presetSubtype="0" fill="hold" nodeType="withEffect">
                                  <p:stCondLst>
                                    <p:cond delay="0"/>
                                  </p:stCondLst>
                                  <p:childTnLst>
                                    <p:set>
                                      <p:cBhvr>
                                        <p:cTn id="135" dur="1" fill="hold">
                                          <p:stCondLst>
                                            <p:cond delay="0"/>
                                          </p:stCondLst>
                                        </p:cTn>
                                        <p:tgtEl>
                                          <p:spTgt spid="56"/>
                                        </p:tgtEl>
                                        <p:attrNameLst>
                                          <p:attrName>style.visibility</p:attrName>
                                        </p:attrNameLst>
                                      </p:cBhvr>
                                      <p:to>
                                        <p:strVal val="visible"/>
                                      </p:to>
                                    </p:set>
                                    <p:animEffect transition="in" filter="fade">
                                      <p:cBhvr>
                                        <p:cTn id="136" dur="500"/>
                                        <p:tgtEl>
                                          <p:spTgt spid="56"/>
                                        </p:tgtEl>
                                      </p:cBhvr>
                                    </p:animEffect>
                                  </p:childTnLst>
                                </p:cTn>
                              </p:par>
                              <p:par>
                                <p:cTn id="137" presetID="10" presetClass="entr" presetSubtype="0" fill="hold" nodeType="withEffect">
                                  <p:stCondLst>
                                    <p:cond delay="0"/>
                                  </p:stCondLst>
                                  <p:childTnLst>
                                    <p:set>
                                      <p:cBhvr>
                                        <p:cTn id="138" dur="1" fill="hold">
                                          <p:stCondLst>
                                            <p:cond delay="0"/>
                                          </p:stCondLst>
                                        </p:cTn>
                                        <p:tgtEl>
                                          <p:spTgt spid="57"/>
                                        </p:tgtEl>
                                        <p:attrNameLst>
                                          <p:attrName>style.visibility</p:attrName>
                                        </p:attrNameLst>
                                      </p:cBhvr>
                                      <p:to>
                                        <p:strVal val="visible"/>
                                      </p:to>
                                    </p:set>
                                    <p:animEffect transition="in" filter="fade">
                                      <p:cBhvr>
                                        <p:cTn id="139" dur="500"/>
                                        <p:tgtEl>
                                          <p:spTgt spid="57"/>
                                        </p:tgtEl>
                                      </p:cBhvr>
                                    </p:animEffect>
                                  </p:childTnLst>
                                </p:cTn>
                              </p:par>
                              <p:par>
                                <p:cTn id="140" presetID="10" presetClass="entr" presetSubtype="0" fill="hold" nodeType="withEffect">
                                  <p:stCondLst>
                                    <p:cond delay="0"/>
                                  </p:stCondLst>
                                  <p:childTnLst>
                                    <p:set>
                                      <p:cBhvr>
                                        <p:cTn id="141" dur="1" fill="hold">
                                          <p:stCondLst>
                                            <p:cond delay="0"/>
                                          </p:stCondLst>
                                        </p:cTn>
                                        <p:tgtEl>
                                          <p:spTgt spid="58"/>
                                        </p:tgtEl>
                                        <p:attrNameLst>
                                          <p:attrName>style.visibility</p:attrName>
                                        </p:attrNameLst>
                                      </p:cBhvr>
                                      <p:to>
                                        <p:strVal val="visible"/>
                                      </p:to>
                                    </p:set>
                                    <p:animEffect transition="in" filter="fade">
                                      <p:cBhvr>
                                        <p:cTn id="14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Diagramme de classes de TravelBI</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4754880" y="1298448"/>
            <a:ext cx="2697480" cy="292608"/>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FenetrePrincipale</a:t>
            </a:r>
          </a:p>
        </p:txBody>
      </p:sp>
      <p:sp>
        <p:nvSpPr>
          <p:cNvPr id="14" name="Rectangle 13"/>
          <p:cNvSpPr/>
          <p:nvPr/>
        </p:nvSpPr>
        <p:spPr>
          <a:xfrm>
            <a:off x="4754880" y="1591056"/>
            <a:ext cx="2697480" cy="420623"/>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moteur : RecommenderEngine</a:t>
            </a:r>
          </a:p>
          <a:p>
            <a:pPr algn="l"/>
            <a:r>
              <a:rPr sz="1050" b="0">
                <a:solidFill>
                  <a:srgbClr val="1F2A37"/>
                </a:solidFill>
                <a:latin typeface="Calibri"/>
              </a:rPr>
              <a:t>– config : dict</a:t>
            </a:r>
          </a:p>
        </p:txBody>
      </p:sp>
      <p:sp>
        <p:nvSpPr>
          <p:cNvPr id="15" name="Rectangle 14"/>
          <p:cNvSpPr/>
          <p:nvPr/>
        </p:nvSpPr>
        <p:spPr>
          <a:xfrm>
            <a:off x="4754880" y="2011680"/>
            <a:ext cx="2697480" cy="420623"/>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naviguer(page)</a:t>
            </a:r>
          </a:p>
          <a:p>
            <a:pPr algn="l"/>
            <a:r>
              <a:rPr sz="1050" b="0">
                <a:solidFill>
                  <a:srgbClr val="1F2A37"/>
                </a:solidFill>
                <a:latin typeface="Calibri"/>
              </a:rPr>
              <a:t>+ recharger()</a:t>
            </a:r>
          </a:p>
        </p:txBody>
      </p:sp>
      <p:sp>
        <p:nvSpPr>
          <p:cNvPr id="16" name="Rectangle 15"/>
          <p:cNvSpPr/>
          <p:nvPr/>
        </p:nvSpPr>
        <p:spPr>
          <a:xfrm>
            <a:off x="457200" y="2697480"/>
            <a:ext cx="2130552" cy="292608"/>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PageTableauBord</a:t>
            </a:r>
          </a:p>
        </p:txBody>
      </p:sp>
      <p:sp>
        <p:nvSpPr>
          <p:cNvPr id="17" name="Rectangle 16"/>
          <p:cNvSpPr/>
          <p:nvPr/>
        </p:nvSpPr>
        <p:spPr>
          <a:xfrm>
            <a:off x="457200" y="2990088"/>
            <a:ext cx="2130552" cy="256032"/>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annee : int</a:t>
            </a:r>
          </a:p>
        </p:txBody>
      </p:sp>
      <p:sp>
        <p:nvSpPr>
          <p:cNvPr id="18" name="Rectangle 17"/>
          <p:cNvSpPr/>
          <p:nvPr/>
        </p:nvSpPr>
        <p:spPr>
          <a:xfrm>
            <a:off x="457200" y="3246120"/>
            <a:ext cx="2130552" cy="256032"/>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actualiser()</a:t>
            </a:r>
          </a:p>
        </p:txBody>
      </p:sp>
      <p:cxnSp>
        <p:nvCxnSpPr>
          <p:cNvPr id="19" name="Connector 18"/>
          <p:cNvCxnSpPr>
            <a:stCxn id="15" idx="2"/>
            <a:endCxn id="16" idx="0"/>
          </p:cNvCxnSpPr>
          <p:nvPr/>
        </p:nvCxnSpPr>
        <p:spPr>
          <a:xfrm flipH="1">
            <a:off x="1522476" y="2432303"/>
            <a:ext cx="4581144" cy="265177"/>
          </a:xfrm>
          <a:prstGeom prst="line">
            <a:avLst/>
          </a:prstGeom>
          <a:ln w="15875">
            <a:solidFill>
              <a:srgbClr val="0B4F9E"/>
            </a:solidFill>
            <a:headEnd type="diamond" w="lg" len="lg"/>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743200" y="2697480"/>
            <a:ext cx="2130552" cy="292608"/>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PageRapports</a:t>
            </a:r>
          </a:p>
        </p:txBody>
      </p:sp>
      <p:sp>
        <p:nvSpPr>
          <p:cNvPr id="21" name="Rectangle 20"/>
          <p:cNvSpPr/>
          <p:nvPr/>
        </p:nvSpPr>
        <p:spPr>
          <a:xfrm>
            <a:off x="2743200" y="2990088"/>
            <a:ext cx="2130552" cy="256032"/>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liens : list</a:t>
            </a:r>
          </a:p>
        </p:txBody>
      </p:sp>
      <p:sp>
        <p:nvSpPr>
          <p:cNvPr id="22" name="Rectangle 21"/>
          <p:cNvSpPr/>
          <p:nvPr/>
        </p:nvSpPr>
        <p:spPr>
          <a:xfrm>
            <a:off x="2743200" y="3246120"/>
            <a:ext cx="2130552" cy="420623"/>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afficher(lien)</a:t>
            </a:r>
          </a:p>
          <a:p>
            <a:pPr algn="l"/>
            <a:r>
              <a:rPr sz="1050" b="0">
                <a:solidFill>
                  <a:srgbClr val="1F2A37"/>
                </a:solidFill>
                <a:latin typeface="Calibri"/>
              </a:rPr>
              <a:t>+ modePresentation()</a:t>
            </a:r>
          </a:p>
        </p:txBody>
      </p:sp>
      <p:cxnSp>
        <p:nvCxnSpPr>
          <p:cNvPr id="23" name="Connector 22"/>
          <p:cNvCxnSpPr>
            <a:stCxn id="15" idx="2"/>
            <a:endCxn id="20" idx="0"/>
          </p:cNvCxnSpPr>
          <p:nvPr/>
        </p:nvCxnSpPr>
        <p:spPr>
          <a:xfrm flipH="1">
            <a:off x="3808476" y="2432303"/>
            <a:ext cx="2295144" cy="265177"/>
          </a:xfrm>
          <a:prstGeom prst="line">
            <a:avLst/>
          </a:prstGeom>
          <a:ln w="15875">
            <a:solidFill>
              <a:srgbClr val="0B4F9E"/>
            </a:solidFill>
            <a:headEnd type="diamond" w="lg" len="lg"/>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029200" y="2697480"/>
            <a:ext cx="2130552" cy="292608"/>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PageRecommandations</a:t>
            </a:r>
          </a:p>
        </p:txBody>
      </p:sp>
      <p:sp>
        <p:nvSpPr>
          <p:cNvPr id="25" name="Rectangle 24"/>
          <p:cNvSpPr/>
          <p:nvPr/>
        </p:nvSpPr>
        <p:spPr>
          <a:xfrm>
            <a:off x="5029200" y="2990088"/>
            <a:ext cx="2130552" cy="420623"/>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mode : str</a:t>
            </a:r>
          </a:p>
          <a:p>
            <a:pPr algn="l"/>
            <a:r>
              <a:rPr sz="1050" b="0">
                <a:solidFill>
                  <a:srgbClr val="1F2A37"/>
                </a:solidFill>
                <a:latin typeface="Calibri"/>
              </a:rPr>
              <a:t>– n : int</a:t>
            </a:r>
          </a:p>
        </p:txBody>
      </p:sp>
      <p:sp>
        <p:nvSpPr>
          <p:cNvPr id="26" name="Rectangle 25"/>
          <p:cNvSpPr/>
          <p:nvPr/>
        </p:nvSpPr>
        <p:spPr>
          <a:xfrm>
            <a:off x="5029200" y="3410712"/>
            <a:ext cx="2130552" cy="420623"/>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recommander()</a:t>
            </a:r>
          </a:p>
          <a:p>
            <a:pPr algn="l"/>
            <a:r>
              <a:rPr sz="1050" b="0">
                <a:solidFill>
                  <a:srgbClr val="1F2A37"/>
                </a:solidFill>
                <a:latin typeface="Calibri"/>
              </a:rPr>
              <a:t>+ exporterCSV()</a:t>
            </a:r>
          </a:p>
        </p:txBody>
      </p:sp>
      <p:cxnSp>
        <p:nvCxnSpPr>
          <p:cNvPr id="27" name="Connector 26"/>
          <p:cNvCxnSpPr>
            <a:stCxn id="15" idx="2"/>
            <a:endCxn id="24" idx="0"/>
          </p:cNvCxnSpPr>
          <p:nvPr/>
        </p:nvCxnSpPr>
        <p:spPr>
          <a:xfrm flipH="1">
            <a:off x="6094476" y="2432303"/>
            <a:ext cx="9144" cy="265177"/>
          </a:xfrm>
          <a:prstGeom prst="line">
            <a:avLst/>
          </a:prstGeom>
          <a:ln w="15875">
            <a:solidFill>
              <a:srgbClr val="0B4F9E"/>
            </a:solidFill>
            <a:headEnd type="diamond" w="lg" len="lg"/>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15200" y="2697480"/>
            <a:ext cx="2130552" cy="292608"/>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PageModeles</a:t>
            </a:r>
          </a:p>
        </p:txBody>
      </p:sp>
      <p:sp>
        <p:nvSpPr>
          <p:cNvPr id="29" name="Rectangle 28"/>
          <p:cNvSpPr/>
          <p:nvPr/>
        </p:nvSpPr>
        <p:spPr>
          <a:xfrm>
            <a:off x="7315200" y="2990088"/>
            <a:ext cx="2130552" cy="256032"/>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comparaison : DataFrame</a:t>
            </a:r>
          </a:p>
        </p:txBody>
      </p:sp>
      <p:sp>
        <p:nvSpPr>
          <p:cNvPr id="30" name="Rectangle 29"/>
          <p:cNvSpPr/>
          <p:nvPr/>
        </p:nvSpPr>
        <p:spPr>
          <a:xfrm>
            <a:off x="7315200" y="3246120"/>
            <a:ext cx="2130552" cy="256032"/>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afficher()</a:t>
            </a:r>
          </a:p>
        </p:txBody>
      </p:sp>
      <p:cxnSp>
        <p:nvCxnSpPr>
          <p:cNvPr id="31" name="Connector 30"/>
          <p:cNvCxnSpPr>
            <a:stCxn id="15" idx="2"/>
            <a:endCxn id="28" idx="0"/>
          </p:cNvCxnSpPr>
          <p:nvPr/>
        </p:nvCxnSpPr>
        <p:spPr>
          <a:xfrm>
            <a:off x="6103620" y="2432303"/>
            <a:ext cx="2276856" cy="265177"/>
          </a:xfrm>
          <a:prstGeom prst="line">
            <a:avLst/>
          </a:prstGeom>
          <a:ln w="15875">
            <a:solidFill>
              <a:srgbClr val="0B4F9E"/>
            </a:solidFill>
            <a:headEnd type="diamond" w="lg" len="lg"/>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9601200" y="2697480"/>
            <a:ext cx="2130552" cy="292608"/>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PageAPropos</a:t>
            </a:r>
          </a:p>
        </p:txBody>
      </p:sp>
      <p:sp>
        <p:nvSpPr>
          <p:cNvPr id="33" name="Rectangle 32"/>
          <p:cNvSpPr/>
          <p:nvPr/>
        </p:nvSpPr>
        <p:spPr>
          <a:xfrm>
            <a:off x="9601200" y="2990088"/>
            <a:ext cx="2130552" cy="256032"/>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etatFichiers : dict</a:t>
            </a:r>
          </a:p>
        </p:txBody>
      </p:sp>
      <p:sp>
        <p:nvSpPr>
          <p:cNvPr id="34" name="Rectangle 33"/>
          <p:cNvSpPr/>
          <p:nvPr/>
        </p:nvSpPr>
        <p:spPr>
          <a:xfrm>
            <a:off x="9601200" y="3246120"/>
            <a:ext cx="2130552" cy="420623"/>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verifierCoherence()</a:t>
            </a:r>
          </a:p>
          <a:p>
            <a:pPr algn="l"/>
            <a:r>
              <a:rPr sz="1050" b="0">
                <a:solidFill>
                  <a:srgbClr val="1F2A37"/>
                </a:solidFill>
                <a:latin typeface="Calibri"/>
              </a:rPr>
              <a:t>+ recharger()</a:t>
            </a:r>
          </a:p>
        </p:txBody>
      </p:sp>
      <p:cxnSp>
        <p:nvCxnSpPr>
          <p:cNvPr id="35" name="Connector 34"/>
          <p:cNvCxnSpPr>
            <a:stCxn id="15" idx="2"/>
            <a:endCxn id="32" idx="0"/>
          </p:cNvCxnSpPr>
          <p:nvPr/>
        </p:nvCxnSpPr>
        <p:spPr>
          <a:xfrm>
            <a:off x="6103620" y="2432303"/>
            <a:ext cx="4562856" cy="265177"/>
          </a:xfrm>
          <a:prstGeom prst="line">
            <a:avLst/>
          </a:prstGeom>
          <a:ln w="15875">
            <a:solidFill>
              <a:srgbClr val="0B4F9E"/>
            </a:solidFill>
            <a:headEnd type="diamond" w="lg" len="lg"/>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457200" y="4389120"/>
            <a:ext cx="2743200" cy="292608"/>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«module» indicateurs</a:t>
            </a:r>
          </a:p>
        </p:txBody>
      </p:sp>
      <p:sp>
        <p:nvSpPr>
          <p:cNvPr id="37" name="Rectangle 36"/>
          <p:cNvSpPr/>
          <p:nvPr/>
        </p:nvSpPr>
        <p:spPr>
          <a:xfrm>
            <a:off x="457200" y="4681728"/>
            <a:ext cx="2743200" cy="256032"/>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faits : DataFrame</a:t>
            </a:r>
          </a:p>
        </p:txBody>
      </p:sp>
      <p:sp>
        <p:nvSpPr>
          <p:cNvPr id="38" name="Rectangle 37"/>
          <p:cNvSpPr/>
          <p:nvPr/>
        </p:nvSpPr>
        <p:spPr>
          <a:xfrm>
            <a:off x="457200" y="4937760"/>
            <a:ext cx="2743200" cy="585216"/>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calculerKPI(annee)</a:t>
            </a:r>
          </a:p>
          <a:p>
            <a:pPr algn="l"/>
            <a:r>
              <a:rPr sz="1050" b="0">
                <a:solidFill>
                  <a:srgbClr val="1F2A37"/>
                </a:solidFill>
                <a:latin typeface="Calibri"/>
              </a:rPr>
              <a:t>+ caMensuel(annee)</a:t>
            </a:r>
          </a:p>
          <a:p>
            <a:pPr algn="l"/>
            <a:r>
              <a:rPr sz="1050" b="0">
                <a:solidFill>
                  <a:srgbClr val="1F2A37"/>
                </a:solidFill>
                <a:latin typeface="Calibri"/>
              </a:rPr>
              <a:t>+ topDestinations(annee)</a:t>
            </a:r>
          </a:p>
        </p:txBody>
      </p:sp>
      <p:sp>
        <p:nvSpPr>
          <p:cNvPr id="39" name="Rectangle 38"/>
          <p:cNvSpPr/>
          <p:nvPr/>
        </p:nvSpPr>
        <p:spPr>
          <a:xfrm>
            <a:off x="5669280" y="4297680"/>
            <a:ext cx="3291840" cy="292608"/>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RecommenderEngine</a:t>
            </a:r>
          </a:p>
        </p:txBody>
      </p:sp>
      <p:sp>
        <p:nvSpPr>
          <p:cNvPr id="40" name="Rectangle 39"/>
          <p:cNvSpPr/>
          <p:nvPr/>
        </p:nvSpPr>
        <p:spPr>
          <a:xfrm>
            <a:off x="5669280" y="4590288"/>
            <a:ext cx="3291840" cy="749808"/>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meta : dict</a:t>
            </a:r>
          </a:p>
          <a:p>
            <a:pPr algn="l"/>
            <a:r>
              <a:rPr sz="1050" b="0">
                <a:solidFill>
                  <a:srgbClr val="1F2A37"/>
                </a:solidFill>
                <a:latin typeface="Calibri"/>
              </a:rPr>
              <a:t>– booster : Booster</a:t>
            </a:r>
          </a:p>
          <a:p>
            <a:pPr algn="l"/>
            <a:r>
              <a:rPr sz="1050" b="0">
                <a:solidFill>
                  <a:srgbClr val="1F2A37"/>
                </a:solidFill>
                <a:latin typeface="Calibri"/>
              </a:rPr>
              <a:t>– vecteurs, P, Q, biais</a:t>
            </a:r>
          </a:p>
          <a:p>
            <a:pPr algn="l"/>
            <a:r>
              <a:rPr sz="1050" b="0">
                <a:solidFill>
                  <a:srgbClr val="1F2A37"/>
                </a:solidFill>
                <a:latin typeface="Calibri"/>
              </a:rPr>
              <a:t>– poids : dict</a:t>
            </a:r>
          </a:p>
        </p:txBody>
      </p:sp>
      <p:sp>
        <p:nvSpPr>
          <p:cNvPr id="41" name="Rectangle 40"/>
          <p:cNvSpPr/>
          <p:nvPr/>
        </p:nvSpPr>
        <p:spPr>
          <a:xfrm>
            <a:off x="5669280" y="5340096"/>
            <a:ext cx="3291840" cy="914399"/>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050" b="0">
                <a:solidFill>
                  <a:srgbClr val="1F2A37"/>
                </a:solidFill>
                <a:latin typeface="Calibri"/>
              </a:rPr>
              <a:t>+ charger(dossier)</a:t>
            </a:r>
          </a:p>
          <a:p>
            <a:pPr algn="l"/>
            <a:r>
              <a:rPr sz="1050" b="0">
                <a:solidFill>
                  <a:srgbClr val="1F2A37"/>
                </a:solidFill>
                <a:latin typeface="Calibri"/>
              </a:rPr>
              <a:t>+ recommanderClient(client_id, n)</a:t>
            </a:r>
          </a:p>
          <a:p>
            <a:pPr algn="l"/>
            <a:r>
              <a:rPr sz="1050" b="0">
                <a:solidFill>
                  <a:srgbClr val="1F2A37"/>
                </a:solidFill>
                <a:latin typeface="Calibri"/>
              </a:rPr>
              <a:t>+ recommanderNouveau(profil, n)</a:t>
            </a:r>
          </a:p>
          <a:p>
            <a:pPr algn="l"/>
            <a:r>
              <a:rPr sz="1050" b="0">
                <a:solidFill>
                  <a:srgbClr val="1F2A37"/>
                </a:solidFill>
                <a:latin typeface="Calibri"/>
              </a:rPr>
              <a:t>+ expliquer(client, destination)</a:t>
            </a:r>
          </a:p>
          <a:p>
            <a:pPr algn="l"/>
            <a:r>
              <a:rPr sz="1050" b="0">
                <a:solidFill>
                  <a:srgbClr val="1F2A37"/>
                </a:solidFill>
                <a:latin typeface="Calibri"/>
              </a:rPr>
              <a:t>+ selfcheck()</a:t>
            </a:r>
          </a:p>
        </p:txBody>
      </p:sp>
      <p:cxnSp>
        <p:nvCxnSpPr>
          <p:cNvPr id="42" name="Connector 41"/>
          <p:cNvCxnSpPr>
            <a:stCxn id="18" idx="2"/>
            <a:endCxn id="36" idx="0"/>
          </p:cNvCxnSpPr>
          <p:nvPr/>
        </p:nvCxnSpPr>
        <p:spPr>
          <a:xfrm>
            <a:off x="1522476" y="3502152"/>
            <a:ext cx="306324" cy="886968"/>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89838" y="3671315"/>
            <a:ext cx="1371600" cy="274320"/>
          </a:xfrm>
          <a:prstGeom prst="rect">
            <a:avLst/>
          </a:prstGeom>
          <a:noFill/>
        </p:spPr>
        <p:txBody>
          <a:bodyPr wrap="square" anchor="t">
            <a:spAutoFit/>
          </a:bodyPr>
          <a:lstStyle/>
          <a:p>
            <a:pPr algn="ctr"/>
            <a:r>
              <a:rPr sz="1100" b="0">
                <a:solidFill>
                  <a:srgbClr val="6B7280"/>
                </a:solidFill>
                <a:latin typeface="Calibri"/>
              </a:rPr>
              <a:t>«use»</a:t>
            </a:r>
          </a:p>
        </p:txBody>
      </p:sp>
      <p:cxnSp>
        <p:nvCxnSpPr>
          <p:cNvPr id="44" name="Connector 43"/>
          <p:cNvCxnSpPr>
            <a:stCxn id="26" idx="2"/>
            <a:endCxn id="39" idx="0"/>
          </p:cNvCxnSpPr>
          <p:nvPr/>
        </p:nvCxnSpPr>
        <p:spPr>
          <a:xfrm>
            <a:off x="6094476" y="3831335"/>
            <a:ext cx="1220724" cy="466345"/>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019038" y="3790187"/>
            <a:ext cx="1371600" cy="274320"/>
          </a:xfrm>
          <a:prstGeom prst="rect">
            <a:avLst/>
          </a:prstGeom>
          <a:noFill/>
        </p:spPr>
        <p:txBody>
          <a:bodyPr wrap="square" anchor="t">
            <a:spAutoFit/>
          </a:bodyPr>
          <a:lstStyle/>
          <a:p>
            <a:pPr algn="ctr"/>
            <a:r>
              <a:rPr sz="1100" b="0">
                <a:solidFill>
                  <a:srgbClr val="6B7280"/>
                </a:solidFill>
                <a:latin typeface="Calibri"/>
              </a:rPr>
              <a:t>«use»</a:t>
            </a:r>
          </a:p>
        </p:txBody>
      </p:sp>
      <p:cxnSp>
        <p:nvCxnSpPr>
          <p:cNvPr id="46" name="Connector 45"/>
          <p:cNvCxnSpPr>
            <a:stCxn id="34" idx="2"/>
            <a:endCxn id="39" idx="0"/>
          </p:cNvCxnSpPr>
          <p:nvPr/>
        </p:nvCxnSpPr>
        <p:spPr>
          <a:xfrm flipH="1">
            <a:off x="7315200" y="3666743"/>
            <a:ext cx="3351276" cy="630937"/>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305038" y="3707891"/>
            <a:ext cx="1371600" cy="274320"/>
          </a:xfrm>
          <a:prstGeom prst="rect">
            <a:avLst/>
          </a:prstGeom>
          <a:noFill/>
        </p:spPr>
        <p:txBody>
          <a:bodyPr wrap="square" anchor="t">
            <a:spAutoFit/>
          </a:bodyPr>
          <a:lstStyle/>
          <a:p>
            <a:pPr algn="ctr"/>
            <a:r>
              <a:rPr sz="1100" b="0">
                <a:solidFill>
                  <a:srgbClr val="6B7280"/>
                </a:solidFill>
                <a:latin typeface="Calibri"/>
              </a:rPr>
              <a:t>«use»</a:t>
            </a:r>
          </a:p>
        </p:txBody>
      </p:sp>
      <p:sp>
        <p:nvSpPr>
          <p:cNvPr id="48" name="TextBox 47"/>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13</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Une démarche hybride : Scrum et CRISP-DM</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457200" y="1554480"/>
            <a:ext cx="1679682" cy="914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Cadrage</a:t>
            </a:r>
          </a:p>
          <a:p>
            <a:pPr algn="ctr"/>
            <a:r>
              <a:rPr sz="1200" b="0">
                <a:solidFill>
                  <a:srgbClr val="FFFFFF"/>
                </a:solidFill>
                <a:latin typeface="Calibri"/>
              </a:rPr>
              <a:t>S1–S4</a:t>
            </a:r>
          </a:p>
        </p:txBody>
      </p:sp>
      <p:sp>
        <p:nvSpPr>
          <p:cNvPr id="14" name="TextBox 13"/>
          <p:cNvSpPr txBox="1"/>
          <p:nvPr/>
        </p:nvSpPr>
        <p:spPr>
          <a:xfrm>
            <a:off x="457200" y="2560320"/>
            <a:ext cx="1679682" cy="822960"/>
          </a:xfrm>
          <a:prstGeom prst="rect">
            <a:avLst/>
          </a:prstGeom>
          <a:noFill/>
        </p:spPr>
        <p:txBody>
          <a:bodyPr wrap="square" anchor="t">
            <a:spAutoFit/>
          </a:bodyPr>
          <a:lstStyle/>
          <a:p>
            <a:pPr algn="ctr"/>
            <a:r>
              <a:rPr sz="1200" b="0">
                <a:solidFill>
                  <a:srgbClr val="6B7280"/>
                </a:solidFill>
                <a:latin typeface="Calibri"/>
              </a:rPr>
              <a:t>Spécification</a:t>
            </a:r>
          </a:p>
          <a:p>
            <a:pPr algn="ctr"/>
            <a:r>
              <a:rPr sz="1200" b="0">
                <a:solidFill>
                  <a:srgbClr val="6B7280"/>
                </a:solidFill>
                <a:latin typeface="Calibri"/>
              </a:rPr>
              <a:t>et conception</a:t>
            </a:r>
          </a:p>
        </p:txBody>
      </p:sp>
      <p:sp>
        <p:nvSpPr>
          <p:cNvPr id="15" name="Rectangle 14"/>
          <p:cNvSpPr/>
          <p:nvPr/>
        </p:nvSpPr>
        <p:spPr>
          <a:xfrm>
            <a:off x="2191746" y="1554480"/>
            <a:ext cx="2113319" cy="914400"/>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Sprint 1 · Données</a:t>
            </a:r>
          </a:p>
          <a:p>
            <a:pPr algn="ctr"/>
            <a:r>
              <a:rPr sz="1200" b="0">
                <a:solidFill>
                  <a:srgbClr val="FFFFFF"/>
                </a:solidFill>
                <a:latin typeface="Calibri"/>
              </a:rPr>
              <a:t>S5–S9</a:t>
            </a:r>
          </a:p>
        </p:txBody>
      </p:sp>
      <p:sp>
        <p:nvSpPr>
          <p:cNvPr id="16" name="TextBox 15"/>
          <p:cNvSpPr txBox="1"/>
          <p:nvPr/>
        </p:nvSpPr>
        <p:spPr>
          <a:xfrm>
            <a:off x="2191746" y="2560320"/>
            <a:ext cx="2113319" cy="822960"/>
          </a:xfrm>
          <a:prstGeom prst="rect">
            <a:avLst/>
          </a:prstGeom>
          <a:noFill/>
        </p:spPr>
        <p:txBody>
          <a:bodyPr wrap="square" anchor="t">
            <a:spAutoFit/>
          </a:bodyPr>
          <a:lstStyle/>
          <a:p>
            <a:pPr algn="ctr"/>
            <a:r>
              <a:rPr sz="1200" b="0">
                <a:solidFill>
                  <a:srgbClr val="6B7280"/>
                </a:solidFill>
                <a:latin typeface="Calibri"/>
              </a:rPr>
              <a:t>CRISP-DM 1 à 3</a:t>
            </a:r>
          </a:p>
          <a:p>
            <a:pPr algn="ctr"/>
            <a:r>
              <a:rPr sz="1200" b="0">
                <a:solidFill>
                  <a:srgbClr val="6B7280"/>
                </a:solidFill>
                <a:latin typeface="Calibri"/>
              </a:rPr>
              <a:t>métier, données,</a:t>
            </a:r>
          </a:p>
          <a:p>
            <a:pPr algn="ctr"/>
            <a:r>
              <a:rPr sz="1200" b="0">
                <a:solidFill>
                  <a:srgbClr val="6B7280"/>
                </a:solidFill>
                <a:latin typeface="Calibri"/>
              </a:rPr>
              <a:t>préparation</a:t>
            </a:r>
          </a:p>
        </p:txBody>
      </p:sp>
      <p:sp>
        <p:nvSpPr>
          <p:cNvPr id="17" name="Rectangle 16"/>
          <p:cNvSpPr/>
          <p:nvPr/>
        </p:nvSpPr>
        <p:spPr>
          <a:xfrm>
            <a:off x="4359929" y="1554480"/>
            <a:ext cx="2113319" cy="914400"/>
          </a:xfrm>
          <a:prstGeom prst="rect">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Sprint 2 · Décisionnel</a:t>
            </a:r>
          </a:p>
          <a:p>
            <a:pPr algn="ctr"/>
            <a:r>
              <a:rPr sz="1200" b="0">
                <a:solidFill>
                  <a:srgbClr val="FFFFFF"/>
                </a:solidFill>
                <a:latin typeface="Calibri"/>
              </a:rPr>
              <a:t>S10–S14</a:t>
            </a:r>
          </a:p>
        </p:txBody>
      </p:sp>
      <p:sp>
        <p:nvSpPr>
          <p:cNvPr id="18" name="TextBox 17"/>
          <p:cNvSpPr txBox="1"/>
          <p:nvPr/>
        </p:nvSpPr>
        <p:spPr>
          <a:xfrm>
            <a:off x="4359929" y="2560320"/>
            <a:ext cx="2113319" cy="822960"/>
          </a:xfrm>
          <a:prstGeom prst="rect">
            <a:avLst/>
          </a:prstGeom>
          <a:noFill/>
        </p:spPr>
        <p:txBody>
          <a:bodyPr wrap="square" anchor="t">
            <a:spAutoFit/>
          </a:bodyPr>
          <a:lstStyle/>
          <a:p>
            <a:pPr algn="ctr"/>
            <a:r>
              <a:rPr sz="1200" b="0">
                <a:solidFill>
                  <a:srgbClr val="6B7280"/>
                </a:solidFill>
                <a:latin typeface="Calibri"/>
              </a:rPr>
              <a:t>CRISP-DM 6</a:t>
            </a:r>
          </a:p>
          <a:p>
            <a:pPr algn="ctr"/>
            <a:r>
              <a:rPr sz="1200" b="0">
                <a:solidFill>
                  <a:srgbClr val="6B7280"/>
                </a:solidFill>
                <a:latin typeface="Calibri"/>
              </a:rPr>
              <a:t>premier</a:t>
            </a:r>
          </a:p>
          <a:p>
            <a:pPr algn="ctr"/>
            <a:r>
              <a:rPr sz="1200" b="0">
                <a:solidFill>
                  <a:srgbClr val="6B7280"/>
                </a:solidFill>
                <a:latin typeface="Calibri"/>
              </a:rPr>
              <a:t>déploiement</a:t>
            </a:r>
          </a:p>
        </p:txBody>
      </p:sp>
      <p:sp>
        <p:nvSpPr>
          <p:cNvPr id="19" name="Rectangle 18"/>
          <p:cNvSpPr/>
          <p:nvPr/>
        </p:nvSpPr>
        <p:spPr>
          <a:xfrm>
            <a:off x="6528112" y="1554480"/>
            <a:ext cx="2546955" cy="914400"/>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Sprint 3 · Recommandation</a:t>
            </a:r>
          </a:p>
          <a:p>
            <a:pPr algn="ctr"/>
            <a:r>
              <a:rPr sz="1200" b="0">
                <a:solidFill>
                  <a:srgbClr val="FFFFFF"/>
                </a:solidFill>
                <a:latin typeface="Calibri"/>
              </a:rPr>
              <a:t>S15–S20</a:t>
            </a:r>
          </a:p>
        </p:txBody>
      </p:sp>
      <p:sp>
        <p:nvSpPr>
          <p:cNvPr id="20" name="TextBox 19"/>
          <p:cNvSpPr txBox="1"/>
          <p:nvPr/>
        </p:nvSpPr>
        <p:spPr>
          <a:xfrm>
            <a:off x="6528112" y="2560320"/>
            <a:ext cx="2546955" cy="822960"/>
          </a:xfrm>
          <a:prstGeom prst="rect">
            <a:avLst/>
          </a:prstGeom>
          <a:noFill/>
        </p:spPr>
        <p:txBody>
          <a:bodyPr wrap="square" anchor="t">
            <a:spAutoFit/>
          </a:bodyPr>
          <a:lstStyle/>
          <a:p>
            <a:pPr algn="ctr"/>
            <a:r>
              <a:rPr sz="1200" b="0">
                <a:solidFill>
                  <a:srgbClr val="6B7280"/>
                </a:solidFill>
                <a:latin typeface="Calibri"/>
              </a:rPr>
              <a:t>CRISP-DM 4 et 5</a:t>
            </a:r>
          </a:p>
          <a:p>
            <a:pPr algn="ctr"/>
            <a:r>
              <a:rPr sz="1200" b="0">
                <a:solidFill>
                  <a:srgbClr val="6B7280"/>
                </a:solidFill>
                <a:latin typeface="Calibri"/>
              </a:rPr>
              <a:t>modélisation,</a:t>
            </a:r>
          </a:p>
          <a:p>
            <a:pPr algn="ctr"/>
            <a:r>
              <a:rPr sz="1200" b="0">
                <a:solidFill>
                  <a:srgbClr val="6B7280"/>
                </a:solidFill>
                <a:latin typeface="Calibri"/>
              </a:rPr>
              <a:t>évaluation</a:t>
            </a:r>
          </a:p>
        </p:txBody>
      </p:sp>
      <p:sp>
        <p:nvSpPr>
          <p:cNvPr id="21" name="Rectangle 20"/>
          <p:cNvSpPr/>
          <p:nvPr/>
        </p:nvSpPr>
        <p:spPr>
          <a:xfrm>
            <a:off x="9129932" y="1554480"/>
            <a:ext cx="1679682" cy="914400"/>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Sprint 4 · Application</a:t>
            </a:r>
          </a:p>
          <a:p>
            <a:pPr algn="ctr"/>
            <a:r>
              <a:rPr sz="1200" b="0">
                <a:solidFill>
                  <a:srgbClr val="FFFFFF"/>
                </a:solidFill>
                <a:latin typeface="Calibri"/>
              </a:rPr>
              <a:t>S21–S24</a:t>
            </a:r>
          </a:p>
        </p:txBody>
      </p:sp>
      <p:sp>
        <p:nvSpPr>
          <p:cNvPr id="22" name="TextBox 21"/>
          <p:cNvSpPr txBox="1"/>
          <p:nvPr/>
        </p:nvSpPr>
        <p:spPr>
          <a:xfrm>
            <a:off x="9129932" y="2560320"/>
            <a:ext cx="1679682" cy="822960"/>
          </a:xfrm>
          <a:prstGeom prst="rect">
            <a:avLst/>
          </a:prstGeom>
          <a:noFill/>
        </p:spPr>
        <p:txBody>
          <a:bodyPr wrap="square" anchor="t">
            <a:spAutoFit/>
          </a:bodyPr>
          <a:lstStyle/>
          <a:p>
            <a:pPr algn="ctr"/>
            <a:r>
              <a:rPr sz="1200" b="0">
                <a:solidFill>
                  <a:srgbClr val="6B7280"/>
                </a:solidFill>
                <a:latin typeface="Calibri"/>
              </a:rPr>
              <a:t>CRISP-DM 6</a:t>
            </a:r>
          </a:p>
          <a:p>
            <a:pPr algn="ctr"/>
            <a:r>
              <a:rPr sz="1200" b="0">
                <a:solidFill>
                  <a:srgbClr val="6B7280"/>
                </a:solidFill>
                <a:latin typeface="Calibri"/>
              </a:rPr>
              <a:t>déploiement</a:t>
            </a:r>
          </a:p>
        </p:txBody>
      </p:sp>
      <p:sp>
        <p:nvSpPr>
          <p:cNvPr id="23" name="Rectangle 22"/>
          <p:cNvSpPr/>
          <p:nvPr/>
        </p:nvSpPr>
        <p:spPr>
          <a:xfrm>
            <a:off x="10864478" y="1554480"/>
            <a:ext cx="812409" cy="914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Calibri"/>
              </a:rPr>
              <a:t>Finalisation</a:t>
            </a:r>
          </a:p>
          <a:p>
            <a:pPr algn="ctr"/>
            <a:r>
              <a:rPr sz="1200" b="0">
                <a:solidFill>
                  <a:srgbClr val="FFFFFF"/>
                </a:solidFill>
                <a:latin typeface="Calibri"/>
              </a:rPr>
              <a:t>S25–S26</a:t>
            </a:r>
          </a:p>
        </p:txBody>
      </p:sp>
      <p:sp>
        <p:nvSpPr>
          <p:cNvPr id="24" name="TextBox 23"/>
          <p:cNvSpPr txBox="1"/>
          <p:nvPr/>
        </p:nvSpPr>
        <p:spPr>
          <a:xfrm>
            <a:off x="457200" y="3429000"/>
            <a:ext cx="11274552" cy="365760"/>
          </a:xfrm>
          <a:prstGeom prst="rect">
            <a:avLst/>
          </a:prstGeom>
          <a:noFill/>
        </p:spPr>
        <p:txBody>
          <a:bodyPr wrap="square" anchor="t">
            <a:spAutoFit/>
          </a:bodyPr>
          <a:lstStyle/>
          <a:p>
            <a:pPr algn="ctr"/>
            <a:r>
              <a:rPr sz="1300" b="0">
                <a:solidFill>
                  <a:srgbClr val="6B7280"/>
                </a:solidFill>
                <a:latin typeface="Calibri"/>
              </a:rPr>
              <a:t>Rédaction du rapport et tests en parallèle, de S3 à S26</a:t>
            </a:r>
          </a:p>
        </p:txBody>
      </p:sp>
      <p:sp>
        <p:nvSpPr>
          <p:cNvPr id="25" name="Rounded Rectangle 24"/>
          <p:cNvSpPr/>
          <p:nvPr/>
        </p:nvSpPr>
        <p:spPr>
          <a:xfrm>
            <a:off x="457200" y="4114800"/>
            <a:ext cx="2647188" cy="164592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Product Owner</a:t>
            </a:r>
          </a:p>
          <a:p>
            <a:pPr algn="ctr"/>
            <a:r>
              <a:rPr sz="1500" b="0">
                <a:solidFill>
                  <a:srgbClr val="1F2A37"/>
                </a:solidFill>
                <a:latin typeface="Calibri"/>
              </a:rPr>
              <a:t>Direction de l'agence</a:t>
            </a:r>
          </a:p>
          <a:p>
            <a:pPr algn="ctr"/>
            <a:r>
              <a:rPr sz="1500" b="0">
                <a:solidFill>
                  <a:srgbClr val="1F2A37"/>
                </a:solidFill>
                <a:latin typeface="Calibri"/>
              </a:rPr>
              <a:t>et encadrant professionnel</a:t>
            </a:r>
          </a:p>
        </p:txBody>
      </p:sp>
      <p:sp>
        <p:nvSpPr>
          <p:cNvPr id="26" name="Rounded Rectangle 25"/>
          <p:cNvSpPr/>
          <p:nvPr/>
        </p:nvSpPr>
        <p:spPr>
          <a:xfrm>
            <a:off x="3332988" y="4114800"/>
            <a:ext cx="2647188" cy="164592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Scrum Master</a:t>
            </a:r>
          </a:p>
          <a:p>
            <a:pPr algn="ctr"/>
            <a:r>
              <a:rPr sz="1500" b="0">
                <a:solidFill>
                  <a:srgbClr val="1F2A37"/>
                </a:solidFill>
                <a:latin typeface="Calibri"/>
              </a:rPr>
              <a:t>Encadrant académique</a:t>
            </a:r>
          </a:p>
        </p:txBody>
      </p:sp>
      <p:sp>
        <p:nvSpPr>
          <p:cNvPr id="27" name="Rounded Rectangle 26"/>
          <p:cNvSpPr/>
          <p:nvPr/>
        </p:nvSpPr>
        <p:spPr>
          <a:xfrm>
            <a:off x="6208776" y="4114800"/>
            <a:ext cx="2647188" cy="164592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Équipe de développement</a:t>
            </a:r>
          </a:p>
          <a:p>
            <a:pPr algn="ctr"/>
            <a:r>
              <a:rPr sz="1500" b="0">
                <a:solidFill>
                  <a:srgbClr val="1F2A37"/>
                </a:solidFill>
                <a:latin typeface="Calibri"/>
              </a:rPr>
              <a:t>L'étudiante</a:t>
            </a:r>
          </a:p>
        </p:txBody>
      </p:sp>
      <p:sp>
        <p:nvSpPr>
          <p:cNvPr id="28" name="Rounded Rectangle 27"/>
          <p:cNvSpPr/>
          <p:nvPr/>
        </p:nvSpPr>
        <p:spPr>
          <a:xfrm>
            <a:off x="9084564" y="4114800"/>
            <a:ext cx="2647188" cy="16459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Critère du sprint 3</a:t>
            </a:r>
          </a:p>
          <a:p>
            <a:pPr algn="ctr"/>
            <a:r>
              <a:rPr sz="1500" b="0">
                <a:solidFill>
                  <a:srgbClr val="FFFFFF"/>
                </a:solidFill>
                <a:latin typeface="Calibri"/>
              </a:rPr>
              <a:t>HitRate@7 ≥ 0,70</a:t>
            </a:r>
          </a:p>
        </p:txBody>
      </p:sp>
      <p:sp>
        <p:nvSpPr>
          <p:cNvPr id="29" name="TextBox 28"/>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CRISP-DM appliqué au projet</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Oval 12"/>
          <p:cNvSpPr/>
          <p:nvPr/>
        </p:nvSpPr>
        <p:spPr>
          <a:xfrm>
            <a:off x="4910328" y="2514600"/>
            <a:ext cx="2377440" cy="2377440"/>
          </a:xfrm>
          <a:prstGeom prst="ellipse">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F2A37"/>
                </a:solidFill>
                <a:latin typeface="Calibri"/>
              </a:rPr>
              <a:t>CRISP-DM</a:t>
            </a:r>
          </a:p>
          <a:p>
            <a:pPr algn="ctr"/>
            <a:r>
              <a:rPr sz="1700" b="0">
                <a:solidFill>
                  <a:srgbClr val="1F2A37"/>
                </a:solidFill>
                <a:latin typeface="Calibri"/>
              </a:rPr>
              <a:t>six phases itératives</a:t>
            </a:r>
          </a:p>
        </p:txBody>
      </p:sp>
      <p:sp>
        <p:nvSpPr>
          <p:cNvPr id="14" name="TextBox 13"/>
          <p:cNvSpPr txBox="1"/>
          <p:nvPr/>
        </p:nvSpPr>
        <p:spPr>
          <a:xfrm>
            <a:off x="4818888" y="1280160"/>
            <a:ext cx="2560320" cy="731520"/>
          </a:xfrm>
          <a:prstGeom prst="rect">
            <a:avLst/>
          </a:prstGeom>
          <a:noFill/>
        </p:spPr>
        <p:txBody>
          <a:bodyPr wrap="square" anchor="ctr">
            <a:spAutoFit/>
          </a:bodyPr>
          <a:lstStyle/>
          <a:p>
            <a:pPr algn="ctr"/>
            <a:r>
              <a:rPr sz="1500" b="1">
                <a:solidFill>
                  <a:srgbClr val="595959"/>
                </a:solidFill>
                <a:latin typeface="Calibri"/>
              </a:rPr>
              <a:t>1 · Compréhension</a:t>
            </a:r>
          </a:p>
          <a:p>
            <a:pPr algn="ctr"/>
            <a:r>
              <a:rPr sz="1500" b="1">
                <a:solidFill>
                  <a:srgbClr val="595959"/>
                </a:solidFill>
                <a:latin typeface="Calibri"/>
              </a:rPr>
              <a:t>du métier</a:t>
            </a:r>
          </a:p>
        </p:txBody>
      </p:sp>
      <p:sp>
        <p:nvSpPr>
          <p:cNvPr id="15" name="Right Arrow 14"/>
          <p:cNvSpPr/>
          <p:nvPr/>
        </p:nvSpPr>
        <p:spPr>
          <a:xfrm rot="1800000">
            <a:off x="7013448" y="2134626"/>
            <a:ext cx="54864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986462" y="2308860"/>
            <a:ext cx="2560320" cy="731520"/>
          </a:xfrm>
          <a:prstGeom prst="rect">
            <a:avLst/>
          </a:prstGeom>
          <a:noFill/>
        </p:spPr>
        <p:txBody>
          <a:bodyPr wrap="square" anchor="ctr">
            <a:spAutoFit/>
          </a:bodyPr>
          <a:lstStyle/>
          <a:p>
            <a:pPr algn="ctr"/>
            <a:r>
              <a:rPr sz="1500" b="1">
                <a:solidFill>
                  <a:srgbClr val="595959"/>
                </a:solidFill>
                <a:latin typeface="Calibri"/>
              </a:rPr>
              <a:t>2 · Compréhension</a:t>
            </a:r>
          </a:p>
          <a:p>
            <a:pPr algn="ctr"/>
            <a:r>
              <a:rPr sz="1500" b="1">
                <a:solidFill>
                  <a:srgbClr val="595959"/>
                </a:solidFill>
                <a:latin typeface="Calibri"/>
              </a:rPr>
              <a:t>des données</a:t>
            </a:r>
          </a:p>
        </p:txBody>
      </p:sp>
      <p:sp>
        <p:nvSpPr>
          <p:cNvPr id="17" name="Right Arrow 16"/>
          <p:cNvSpPr/>
          <p:nvPr/>
        </p:nvSpPr>
        <p:spPr>
          <a:xfrm rot="5400000">
            <a:off x="8202167" y="3520439"/>
            <a:ext cx="54864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7986462" y="4366259"/>
            <a:ext cx="2560320" cy="731520"/>
          </a:xfrm>
          <a:prstGeom prst="rect">
            <a:avLst/>
          </a:prstGeom>
          <a:noFill/>
        </p:spPr>
        <p:txBody>
          <a:bodyPr wrap="square" anchor="ctr">
            <a:spAutoFit/>
          </a:bodyPr>
          <a:lstStyle/>
          <a:p>
            <a:pPr algn="ctr"/>
            <a:r>
              <a:rPr sz="1500" b="1">
                <a:solidFill>
                  <a:srgbClr val="595959"/>
                </a:solidFill>
                <a:latin typeface="Calibri"/>
              </a:rPr>
              <a:t>3 · Préparation</a:t>
            </a:r>
          </a:p>
          <a:p>
            <a:pPr algn="ctr"/>
            <a:r>
              <a:rPr sz="1500" b="1">
                <a:solidFill>
                  <a:srgbClr val="595959"/>
                </a:solidFill>
                <a:latin typeface="Calibri"/>
              </a:rPr>
              <a:t>des données</a:t>
            </a:r>
          </a:p>
        </p:txBody>
      </p:sp>
      <p:sp>
        <p:nvSpPr>
          <p:cNvPr id="19" name="Right Arrow 18"/>
          <p:cNvSpPr/>
          <p:nvPr/>
        </p:nvSpPr>
        <p:spPr>
          <a:xfrm rot="9000000">
            <a:off x="7013448" y="4906253"/>
            <a:ext cx="54864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4818888" y="5394959"/>
            <a:ext cx="2560320" cy="731520"/>
          </a:xfrm>
          <a:prstGeom prst="rect">
            <a:avLst/>
          </a:prstGeom>
          <a:noFill/>
        </p:spPr>
        <p:txBody>
          <a:bodyPr wrap="square" anchor="ctr">
            <a:spAutoFit/>
          </a:bodyPr>
          <a:lstStyle/>
          <a:p>
            <a:pPr algn="ctr"/>
            <a:r>
              <a:rPr sz="1500" b="1">
                <a:solidFill>
                  <a:srgbClr val="595959"/>
                </a:solidFill>
                <a:latin typeface="Calibri"/>
              </a:rPr>
              <a:t>4 · Modélisation</a:t>
            </a:r>
          </a:p>
        </p:txBody>
      </p:sp>
      <p:sp>
        <p:nvSpPr>
          <p:cNvPr id="21" name="Right Arrow 20"/>
          <p:cNvSpPr/>
          <p:nvPr/>
        </p:nvSpPr>
        <p:spPr>
          <a:xfrm rot="12600000">
            <a:off x="4636008" y="4906253"/>
            <a:ext cx="54864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1651313" y="4366259"/>
            <a:ext cx="2560320" cy="731520"/>
          </a:xfrm>
          <a:prstGeom prst="rect">
            <a:avLst/>
          </a:prstGeom>
          <a:noFill/>
        </p:spPr>
        <p:txBody>
          <a:bodyPr wrap="square" anchor="ctr">
            <a:spAutoFit/>
          </a:bodyPr>
          <a:lstStyle/>
          <a:p>
            <a:pPr algn="ctr"/>
            <a:r>
              <a:rPr sz="1500" b="1">
                <a:solidFill>
                  <a:srgbClr val="595959"/>
                </a:solidFill>
                <a:latin typeface="Calibri"/>
              </a:rPr>
              <a:t>5 · Évaluation</a:t>
            </a:r>
          </a:p>
        </p:txBody>
      </p:sp>
      <p:sp>
        <p:nvSpPr>
          <p:cNvPr id="23" name="Right Arrow 22"/>
          <p:cNvSpPr/>
          <p:nvPr/>
        </p:nvSpPr>
        <p:spPr>
          <a:xfrm rot="16200000">
            <a:off x="3447288" y="3520439"/>
            <a:ext cx="54864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1651313" y="2308860"/>
            <a:ext cx="2560320" cy="731520"/>
          </a:xfrm>
          <a:prstGeom prst="rect">
            <a:avLst/>
          </a:prstGeom>
          <a:noFill/>
        </p:spPr>
        <p:txBody>
          <a:bodyPr wrap="square" anchor="ctr">
            <a:spAutoFit/>
          </a:bodyPr>
          <a:lstStyle/>
          <a:p>
            <a:pPr algn="ctr"/>
            <a:r>
              <a:rPr sz="1500" b="1">
                <a:solidFill>
                  <a:srgbClr val="595959"/>
                </a:solidFill>
                <a:latin typeface="Calibri"/>
              </a:rPr>
              <a:t>6 · Déploiement</a:t>
            </a:r>
          </a:p>
        </p:txBody>
      </p:sp>
      <p:sp>
        <p:nvSpPr>
          <p:cNvPr id="25" name="Right Arrow 24"/>
          <p:cNvSpPr/>
          <p:nvPr/>
        </p:nvSpPr>
        <p:spPr>
          <a:xfrm rot="19800000">
            <a:off x="4636007" y="2134626"/>
            <a:ext cx="54864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15</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Technologies utilisées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1463040"/>
            <a:ext cx="2743200" cy="100584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Données et modèles</a:t>
            </a:r>
          </a:p>
        </p:txBody>
      </p:sp>
      <p:sp>
        <p:nvSpPr>
          <p:cNvPr id="14" name="Rounded Rectangle 13"/>
          <p:cNvSpPr/>
          <p:nvPr/>
        </p:nvSpPr>
        <p:spPr>
          <a:xfrm>
            <a:off x="3383280" y="1463040"/>
            <a:ext cx="8348472" cy="10058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600" b="0">
                <a:solidFill>
                  <a:srgbClr val="1F2A37"/>
                </a:solidFill>
                <a:latin typeface="Calibri"/>
              </a:rPr>
              <a:t>Python · Jupyter sur Google Colab · pandas · NumPy · scikit-learn</a:t>
            </a:r>
          </a:p>
          <a:p>
            <a:pPr algn="l"/>
            <a:r>
              <a:rPr sz="1600" b="0">
                <a:solidFill>
                  <a:srgbClr val="1F2A37"/>
                </a:solidFill>
                <a:latin typeface="Calibri"/>
              </a:rPr>
              <a:t>LightGBM · XGBoost · CatBoost · Matplotlib · Seaborn</a:t>
            </a:r>
          </a:p>
        </p:txBody>
      </p:sp>
      <p:sp>
        <p:nvSpPr>
          <p:cNvPr id="15" name="Rounded Rectangle 14"/>
          <p:cNvSpPr/>
          <p:nvPr/>
        </p:nvSpPr>
        <p:spPr>
          <a:xfrm>
            <a:off x="457200" y="2651760"/>
            <a:ext cx="2743200" cy="1005840"/>
          </a:xfrm>
          <a:prstGeom prst="roundRect">
            <a:avLst>
              <a:gd name="adj" fmla="val 8000"/>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Stockage</a:t>
            </a:r>
          </a:p>
        </p:txBody>
      </p:sp>
      <p:sp>
        <p:nvSpPr>
          <p:cNvPr id="16" name="Rounded Rectangle 15"/>
          <p:cNvSpPr/>
          <p:nvPr/>
        </p:nvSpPr>
        <p:spPr>
          <a:xfrm>
            <a:off x="3383280" y="2651760"/>
            <a:ext cx="8348472" cy="10058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600" b="0">
                <a:solidFill>
                  <a:srgbClr val="1F2A37"/>
                </a:solidFill>
                <a:latin typeface="Calibri"/>
              </a:rPr>
              <a:t>Modèle en étoile exporté en fichiers CSV</a:t>
            </a:r>
          </a:p>
        </p:txBody>
      </p:sp>
      <p:sp>
        <p:nvSpPr>
          <p:cNvPr id="17" name="Rounded Rectangle 16"/>
          <p:cNvSpPr/>
          <p:nvPr/>
        </p:nvSpPr>
        <p:spPr>
          <a:xfrm>
            <a:off x="457200" y="3840480"/>
            <a:ext cx="2743200" cy="1005840"/>
          </a:xfrm>
          <a:prstGeom prst="roundRect">
            <a:avLst>
              <a:gd name="adj" fmla="val 8000"/>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Restitution</a:t>
            </a:r>
          </a:p>
        </p:txBody>
      </p:sp>
      <p:sp>
        <p:nvSpPr>
          <p:cNvPr id="18" name="Rounded Rectangle 17"/>
          <p:cNvSpPr/>
          <p:nvPr/>
        </p:nvSpPr>
        <p:spPr>
          <a:xfrm>
            <a:off x="3383280" y="3840480"/>
            <a:ext cx="8348472" cy="10058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600" b="0">
                <a:solidFill>
                  <a:srgbClr val="1F2A37"/>
                </a:solidFill>
                <a:latin typeface="Calibri"/>
              </a:rPr>
              <a:t>Power BI Desktop · Power BI Service · mesures DAX</a:t>
            </a:r>
          </a:p>
        </p:txBody>
      </p:sp>
      <p:sp>
        <p:nvSpPr>
          <p:cNvPr id="19" name="Rounded Rectangle 18"/>
          <p:cNvSpPr/>
          <p:nvPr/>
        </p:nvSpPr>
        <p:spPr>
          <a:xfrm>
            <a:off x="457200" y="5029200"/>
            <a:ext cx="2743200" cy="100584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Application</a:t>
            </a:r>
          </a:p>
        </p:txBody>
      </p:sp>
      <p:sp>
        <p:nvSpPr>
          <p:cNvPr id="20" name="Rounded Rectangle 19"/>
          <p:cNvSpPr/>
          <p:nvPr/>
        </p:nvSpPr>
        <p:spPr>
          <a:xfrm>
            <a:off x="3383280" y="5029200"/>
            <a:ext cx="8348472" cy="10058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600" b="0">
                <a:solidFill>
                  <a:srgbClr val="1F2A37"/>
                </a:solidFill>
                <a:latin typeface="Calibri"/>
              </a:rPr>
              <a:t>PyQt6 · Qt WebEngine · PyInstaller (exécutable Windows)</a:t>
            </a:r>
          </a:p>
        </p:txBody>
      </p:sp>
      <p:sp>
        <p:nvSpPr>
          <p:cNvPr id="21" name="TextBox 20"/>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16</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Architecture logique en couches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457200" y="1417320"/>
            <a:ext cx="2011680" cy="502920"/>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Sources</a:t>
            </a:r>
          </a:p>
        </p:txBody>
      </p:sp>
      <p:sp>
        <p:nvSpPr>
          <p:cNvPr id="14" name="Rectangle 13"/>
          <p:cNvSpPr/>
          <p:nvPr/>
        </p:nvSpPr>
        <p:spPr>
          <a:xfrm>
            <a:off x="457200"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Tables de l'agence :</a:t>
            </a:r>
          </a:p>
          <a:p>
            <a:pPr algn="ctr"/>
            <a:r>
              <a:rPr sz="1300" b="0">
                <a:solidFill>
                  <a:srgbClr val="1F2A37"/>
                </a:solidFill>
                <a:latin typeface="Calibri"/>
              </a:rPr>
              <a:t>clients, destinations,</a:t>
            </a:r>
          </a:p>
          <a:p>
            <a:pPr algn="ctr"/>
            <a:r>
              <a:rPr sz="1300" b="0">
                <a:solidFill>
                  <a:srgbClr val="1F2A37"/>
                </a:solidFill>
                <a:latin typeface="Calibri"/>
              </a:rPr>
              <a:t>hôtels, vols,</a:t>
            </a:r>
          </a:p>
          <a:p>
            <a:pPr algn="ctr"/>
            <a:r>
              <a:rPr sz="1300" b="0">
                <a:solidFill>
                  <a:srgbClr val="1F2A37"/>
                </a:solidFill>
                <a:latin typeface="Calibri"/>
              </a:rPr>
              <a:t>préférences,</a:t>
            </a:r>
          </a:p>
          <a:p>
            <a:pPr algn="ctr"/>
            <a:r>
              <a:rPr sz="1300" b="0">
                <a:solidFill>
                  <a:srgbClr val="1F2A37"/>
                </a:solidFill>
                <a:latin typeface="Calibri"/>
              </a:rPr>
              <a:t>réservations</a:t>
            </a:r>
          </a:p>
        </p:txBody>
      </p:sp>
      <p:sp>
        <p:nvSpPr>
          <p:cNvPr id="15" name="Rectangle 14"/>
          <p:cNvSpPr/>
          <p:nvPr/>
        </p:nvSpPr>
        <p:spPr>
          <a:xfrm>
            <a:off x="2770632" y="1417320"/>
            <a:ext cx="2011680" cy="502920"/>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Préparation</a:t>
            </a:r>
          </a:p>
        </p:txBody>
      </p:sp>
      <p:sp>
        <p:nvSpPr>
          <p:cNvPr id="16" name="Rectangle 15"/>
          <p:cNvSpPr/>
          <p:nvPr/>
        </p:nvSpPr>
        <p:spPr>
          <a:xfrm>
            <a:off x="2770632"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Notebook Python :</a:t>
            </a:r>
          </a:p>
          <a:p>
            <a:pPr algn="ctr"/>
            <a:r>
              <a:rPr sz="1300" b="0">
                <a:solidFill>
                  <a:srgbClr val="1F2A37"/>
                </a:solidFill>
                <a:latin typeface="Calibri"/>
              </a:rPr>
              <a:t>qualité, nettoyage,</a:t>
            </a:r>
          </a:p>
          <a:p>
            <a:pPr algn="ctr"/>
            <a:r>
              <a:rPr sz="1300" b="0">
                <a:solidFill>
                  <a:srgbClr val="1F2A37"/>
                </a:solidFill>
                <a:latin typeface="Calibri"/>
              </a:rPr>
              <a:t>RFM, vecteurs de profil,</a:t>
            </a:r>
          </a:p>
          <a:p>
            <a:pPr algn="ctr"/>
            <a:r>
              <a:rPr sz="1300" b="0">
                <a:solidFill>
                  <a:srgbClr val="1F2A37"/>
                </a:solidFill>
                <a:latin typeface="Calibri"/>
              </a:rPr>
              <a:t>score d'interaction,</a:t>
            </a:r>
          </a:p>
          <a:p>
            <a:pPr algn="ctr"/>
            <a:r>
              <a:rPr sz="1300" b="0">
                <a:solidFill>
                  <a:srgbClr val="1F2A37"/>
                </a:solidFill>
                <a:latin typeface="Calibri"/>
              </a:rPr>
              <a:t>segmentation KMeans</a:t>
            </a:r>
          </a:p>
        </p:txBody>
      </p:sp>
      <p:cxnSp>
        <p:nvCxnSpPr>
          <p:cNvPr id="17" name="Connector 16"/>
          <p:cNvCxnSpPr>
            <a:stCxn id="14" idx="3"/>
            <a:endCxn id="16" idx="1"/>
          </p:cNvCxnSpPr>
          <p:nvPr/>
        </p:nvCxnSpPr>
        <p:spPr>
          <a:xfrm>
            <a:off x="2468880" y="3474720"/>
            <a:ext cx="301752"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933956" y="3200400"/>
            <a:ext cx="1371600" cy="274320"/>
          </a:xfrm>
          <a:prstGeom prst="rect">
            <a:avLst/>
          </a:prstGeom>
          <a:noFill/>
        </p:spPr>
        <p:txBody>
          <a:bodyPr wrap="square" anchor="t">
            <a:spAutoFit/>
          </a:bodyPr>
          <a:lstStyle/>
          <a:p>
            <a:pPr algn="ctr"/>
            <a:r>
              <a:rPr sz="1100" b="0">
                <a:solidFill>
                  <a:srgbClr val="6B7280"/>
                </a:solidFill>
                <a:latin typeface="Calibri"/>
              </a:rPr>
              <a:t>charge</a:t>
            </a:r>
          </a:p>
        </p:txBody>
      </p:sp>
      <p:sp>
        <p:nvSpPr>
          <p:cNvPr id="19" name="TextBox 18"/>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17</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Architecture logique en couches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457200" y="1417320"/>
            <a:ext cx="2011680" cy="502920"/>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Sources</a:t>
            </a:r>
          </a:p>
        </p:txBody>
      </p:sp>
      <p:sp>
        <p:nvSpPr>
          <p:cNvPr id="14" name="Rectangle 13"/>
          <p:cNvSpPr/>
          <p:nvPr/>
        </p:nvSpPr>
        <p:spPr>
          <a:xfrm>
            <a:off x="457200"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Tables de l'agence :</a:t>
            </a:r>
          </a:p>
          <a:p>
            <a:pPr algn="ctr"/>
            <a:r>
              <a:rPr sz="1300" b="0">
                <a:solidFill>
                  <a:srgbClr val="1F2A37"/>
                </a:solidFill>
                <a:latin typeface="Calibri"/>
              </a:rPr>
              <a:t>clients, destinations,</a:t>
            </a:r>
          </a:p>
          <a:p>
            <a:pPr algn="ctr"/>
            <a:r>
              <a:rPr sz="1300" b="0">
                <a:solidFill>
                  <a:srgbClr val="1F2A37"/>
                </a:solidFill>
                <a:latin typeface="Calibri"/>
              </a:rPr>
              <a:t>hôtels, vols,</a:t>
            </a:r>
          </a:p>
          <a:p>
            <a:pPr algn="ctr"/>
            <a:r>
              <a:rPr sz="1300" b="0">
                <a:solidFill>
                  <a:srgbClr val="1F2A37"/>
                </a:solidFill>
                <a:latin typeface="Calibri"/>
              </a:rPr>
              <a:t>préférences,</a:t>
            </a:r>
          </a:p>
          <a:p>
            <a:pPr algn="ctr"/>
            <a:r>
              <a:rPr sz="1300" b="0">
                <a:solidFill>
                  <a:srgbClr val="1F2A37"/>
                </a:solidFill>
                <a:latin typeface="Calibri"/>
              </a:rPr>
              <a:t>réservations</a:t>
            </a:r>
          </a:p>
        </p:txBody>
      </p:sp>
      <p:sp>
        <p:nvSpPr>
          <p:cNvPr id="15" name="Rectangle 14"/>
          <p:cNvSpPr/>
          <p:nvPr/>
        </p:nvSpPr>
        <p:spPr>
          <a:xfrm>
            <a:off x="2770632" y="1417320"/>
            <a:ext cx="2011680" cy="502920"/>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Préparation</a:t>
            </a:r>
          </a:p>
        </p:txBody>
      </p:sp>
      <p:sp>
        <p:nvSpPr>
          <p:cNvPr id="16" name="Rectangle 15"/>
          <p:cNvSpPr/>
          <p:nvPr/>
        </p:nvSpPr>
        <p:spPr>
          <a:xfrm>
            <a:off x="2770632"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Notebook Python :</a:t>
            </a:r>
          </a:p>
          <a:p>
            <a:pPr algn="ctr"/>
            <a:r>
              <a:rPr sz="1300" b="0">
                <a:solidFill>
                  <a:srgbClr val="1F2A37"/>
                </a:solidFill>
                <a:latin typeface="Calibri"/>
              </a:rPr>
              <a:t>qualité, nettoyage,</a:t>
            </a:r>
          </a:p>
          <a:p>
            <a:pPr algn="ctr"/>
            <a:r>
              <a:rPr sz="1300" b="0">
                <a:solidFill>
                  <a:srgbClr val="1F2A37"/>
                </a:solidFill>
                <a:latin typeface="Calibri"/>
              </a:rPr>
              <a:t>RFM, vecteurs de profil,</a:t>
            </a:r>
          </a:p>
          <a:p>
            <a:pPr algn="ctr"/>
            <a:r>
              <a:rPr sz="1300" b="0">
                <a:solidFill>
                  <a:srgbClr val="1F2A37"/>
                </a:solidFill>
                <a:latin typeface="Calibri"/>
              </a:rPr>
              <a:t>score d'interaction,</a:t>
            </a:r>
          </a:p>
          <a:p>
            <a:pPr algn="ctr"/>
            <a:r>
              <a:rPr sz="1300" b="0">
                <a:solidFill>
                  <a:srgbClr val="1F2A37"/>
                </a:solidFill>
                <a:latin typeface="Calibri"/>
              </a:rPr>
              <a:t>segmentation KMeans</a:t>
            </a:r>
          </a:p>
        </p:txBody>
      </p:sp>
      <p:cxnSp>
        <p:nvCxnSpPr>
          <p:cNvPr id="17" name="Connector 16"/>
          <p:cNvCxnSpPr>
            <a:stCxn id="14" idx="3"/>
            <a:endCxn id="16" idx="1"/>
          </p:cNvCxnSpPr>
          <p:nvPr/>
        </p:nvCxnSpPr>
        <p:spPr>
          <a:xfrm>
            <a:off x="2468880" y="3474720"/>
            <a:ext cx="301752"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933956" y="3200400"/>
            <a:ext cx="1371600" cy="274320"/>
          </a:xfrm>
          <a:prstGeom prst="rect">
            <a:avLst/>
          </a:prstGeom>
          <a:noFill/>
        </p:spPr>
        <p:txBody>
          <a:bodyPr wrap="square" anchor="t">
            <a:spAutoFit/>
          </a:bodyPr>
          <a:lstStyle/>
          <a:p>
            <a:pPr algn="ctr"/>
            <a:r>
              <a:rPr sz="1100" b="0">
                <a:solidFill>
                  <a:srgbClr val="6B7280"/>
                </a:solidFill>
                <a:latin typeface="Calibri"/>
              </a:rPr>
              <a:t>charge</a:t>
            </a:r>
          </a:p>
        </p:txBody>
      </p:sp>
      <p:sp>
        <p:nvSpPr>
          <p:cNvPr id="19" name="Rectangle 18"/>
          <p:cNvSpPr/>
          <p:nvPr/>
        </p:nvSpPr>
        <p:spPr>
          <a:xfrm>
            <a:off x="5084064" y="1417320"/>
            <a:ext cx="2011680" cy="502920"/>
          </a:xfrm>
          <a:prstGeom prst="rect">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Stockage</a:t>
            </a:r>
          </a:p>
        </p:txBody>
      </p:sp>
      <p:sp>
        <p:nvSpPr>
          <p:cNvPr id="20" name="Rectangle 19"/>
          <p:cNvSpPr/>
          <p:nvPr/>
        </p:nvSpPr>
        <p:spPr>
          <a:xfrm>
            <a:off x="5084064"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powerbi_exports :</a:t>
            </a:r>
          </a:p>
          <a:p>
            <a:pPr algn="ctr"/>
            <a:r>
              <a:rPr sz="1300" b="0">
                <a:solidFill>
                  <a:srgbClr val="1F2A37"/>
                </a:solidFill>
                <a:latin typeface="Calibri"/>
              </a:rPr>
              <a:t>table de faits,</a:t>
            </a:r>
          </a:p>
          <a:p>
            <a:pPr algn="ctr"/>
            <a:r>
              <a:rPr sz="1300" b="0">
                <a:solidFill>
                  <a:srgbClr val="1F2A37"/>
                </a:solidFill>
                <a:latin typeface="Calibri"/>
              </a:rPr>
              <a:t>4 dimensions, 7 KPI</a:t>
            </a:r>
          </a:p>
          <a:p>
            <a:pPr algn="ctr"/>
            <a:endParaRPr sz="1300" b="0">
              <a:solidFill>
                <a:srgbClr val="1F2A37"/>
              </a:solidFill>
              <a:latin typeface="Calibri"/>
            </a:endParaRPr>
          </a:p>
          <a:p>
            <a:pPr algn="ctr"/>
            <a:r>
              <a:rPr sz="1300" b="0">
                <a:solidFill>
                  <a:srgbClr val="1F2A37"/>
                </a:solidFill>
                <a:latin typeface="Calibri"/>
              </a:rPr>
              <a:t>TravelBI_App :</a:t>
            </a:r>
          </a:p>
          <a:p>
            <a:pPr algn="ctr"/>
            <a:r>
              <a:rPr sz="1300" b="0">
                <a:solidFill>
                  <a:srgbClr val="1F2A37"/>
                </a:solidFill>
                <a:latin typeface="Calibri"/>
              </a:rPr>
              <a:t>modèles et données</a:t>
            </a:r>
          </a:p>
        </p:txBody>
      </p:sp>
      <p:cxnSp>
        <p:nvCxnSpPr>
          <p:cNvPr id="21" name="Connector 20"/>
          <p:cNvCxnSpPr>
            <a:stCxn id="16" idx="3"/>
            <a:endCxn id="20" idx="1"/>
          </p:cNvCxnSpPr>
          <p:nvPr/>
        </p:nvCxnSpPr>
        <p:spPr>
          <a:xfrm>
            <a:off x="4782312" y="3474720"/>
            <a:ext cx="301752"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247388" y="3200400"/>
            <a:ext cx="1371600" cy="274320"/>
          </a:xfrm>
          <a:prstGeom prst="rect">
            <a:avLst/>
          </a:prstGeom>
          <a:noFill/>
        </p:spPr>
        <p:txBody>
          <a:bodyPr wrap="square" anchor="t">
            <a:spAutoFit/>
          </a:bodyPr>
          <a:lstStyle/>
          <a:p>
            <a:pPr algn="ctr"/>
            <a:r>
              <a:rPr sz="1100" b="0">
                <a:solidFill>
                  <a:srgbClr val="6B7280"/>
                </a:solidFill>
                <a:latin typeface="Calibri"/>
              </a:rPr>
              <a:t>exporte</a:t>
            </a:r>
          </a:p>
        </p:txBody>
      </p:sp>
      <p:sp>
        <p:nvSpPr>
          <p:cNvPr id="23" name="Rectangle 22"/>
          <p:cNvSpPr/>
          <p:nvPr/>
        </p:nvSpPr>
        <p:spPr>
          <a:xfrm>
            <a:off x="7397496" y="1417320"/>
            <a:ext cx="2011680" cy="502920"/>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Modèles</a:t>
            </a:r>
          </a:p>
        </p:txBody>
      </p:sp>
      <p:sp>
        <p:nvSpPr>
          <p:cNvPr id="24" name="Rectangle 23"/>
          <p:cNvSpPr/>
          <p:nvPr/>
        </p:nvSpPr>
        <p:spPr>
          <a:xfrm>
            <a:off x="7397496"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Filtrage par contenu</a:t>
            </a:r>
          </a:p>
          <a:p>
            <a:pPr algn="ctr"/>
            <a:r>
              <a:rPr sz="1300" b="0">
                <a:solidFill>
                  <a:srgbClr val="1F2A37"/>
                </a:solidFill>
                <a:latin typeface="Calibri"/>
              </a:rPr>
              <a:t>Factorisation matricielle</a:t>
            </a:r>
          </a:p>
          <a:p>
            <a:pPr algn="ctr"/>
            <a:r>
              <a:rPr sz="1300" b="0">
                <a:solidFill>
                  <a:srgbClr val="1F2A37"/>
                </a:solidFill>
                <a:latin typeface="Calibri"/>
              </a:rPr>
              <a:t>(poids nul)</a:t>
            </a:r>
          </a:p>
          <a:p>
            <a:pPr algn="ctr"/>
            <a:r>
              <a:rPr sz="1300" b="0">
                <a:solidFill>
                  <a:srgbClr val="1F2A37"/>
                </a:solidFill>
                <a:latin typeface="Calibri"/>
              </a:rPr>
              <a:t>LightGBM</a:t>
            </a:r>
          </a:p>
          <a:p>
            <a:pPr algn="ctr"/>
            <a:r>
              <a:rPr sz="1300" b="0">
                <a:solidFill>
                  <a:srgbClr val="1F2A37"/>
                </a:solidFill>
                <a:latin typeface="Calibri"/>
              </a:rPr>
              <a:t>Popularité</a:t>
            </a:r>
          </a:p>
          <a:p>
            <a:pPr algn="ctr"/>
            <a:r>
              <a:rPr sz="1300" b="0">
                <a:solidFill>
                  <a:srgbClr val="1F2A37"/>
                </a:solidFill>
                <a:latin typeface="Calibri"/>
              </a:rPr>
              <a:t>Combinaison pondérée</a:t>
            </a:r>
          </a:p>
        </p:txBody>
      </p:sp>
      <p:cxnSp>
        <p:nvCxnSpPr>
          <p:cNvPr id="25" name="Connector 24"/>
          <p:cNvCxnSpPr>
            <a:stCxn id="20" idx="3"/>
            <a:endCxn id="24" idx="1"/>
          </p:cNvCxnSpPr>
          <p:nvPr/>
        </p:nvCxnSpPr>
        <p:spPr>
          <a:xfrm>
            <a:off x="7095744" y="3474720"/>
            <a:ext cx="301752"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60820" y="3200400"/>
            <a:ext cx="1371600" cy="274320"/>
          </a:xfrm>
          <a:prstGeom prst="rect">
            <a:avLst/>
          </a:prstGeom>
          <a:noFill/>
        </p:spPr>
        <p:txBody>
          <a:bodyPr wrap="square" anchor="t">
            <a:spAutoFit/>
          </a:bodyPr>
          <a:lstStyle/>
          <a:p>
            <a:pPr algn="ctr"/>
            <a:r>
              <a:rPr sz="1100" b="0">
                <a:solidFill>
                  <a:srgbClr val="6B7280"/>
                </a:solidFill>
                <a:latin typeface="Calibri"/>
              </a:rPr>
              <a:t>alimente</a:t>
            </a:r>
          </a:p>
        </p:txBody>
      </p:sp>
      <p:sp>
        <p:nvSpPr>
          <p:cNvPr id="27" name="TextBox 26"/>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18</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Architecture logique en couches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457200" y="1417320"/>
            <a:ext cx="2011680" cy="502920"/>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Sources</a:t>
            </a:r>
          </a:p>
        </p:txBody>
      </p:sp>
      <p:sp>
        <p:nvSpPr>
          <p:cNvPr id="14" name="Rectangle 13"/>
          <p:cNvSpPr/>
          <p:nvPr/>
        </p:nvSpPr>
        <p:spPr>
          <a:xfrm>
            <a:off x="457200"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Tables de l'agence :</a:t>
            </a:r>
          </a:p>
          <a:p>
            <a:pPr algn="ctr"/>
            <a:r>
              <a:rPr sz="1300" b="0">
                <a:solidFill>
                  <a:srgbClr val="1F2A37"/>
                </a:solidFill>
                <a:latin typeface="Calibri"/>
              </a:rPr>
              <a:t>clients, destinations,</a:t>
            </a:r>
          </a:p>
          <a:p>
            <a:pPr algn="ctr"/>
            <a:r>
              <a:rPr sz="1300" b="0">
                <a:solidFill>
                  <a:srgbClr val="1F2A37"/>
                </a:solidFill>
                <a:latin typeface="Calibri"/>
              </a:rPr>
              <a:t>hôtels, vols,</a:t>
            </a:r>
          </a:p>
          <a:p>
            <a:pPr algn="ctr"/>
            <a:r>
              <a:rPr sz="1300" b="0">
                <a:solidFill>
                  <a:srgbClr val="1F2A37"/>
                </a:solidFill>
                <a:latin typeface="Calibri"/>
              </a:rPr>
              <a:t>préférences,</a:t>
            </a:r>
          </a:p>
          <a:p>
            <a:pPr algn="ctr"/>
            <a:r>
              <a:rPr sz="1300" b="0">
                <a:solidFill>
                  <a:srgbClr val="1F2A37"/>
                </a:solidFill>
                <a:latin typeface="Calibri"/>
              </a:rPr>
              <a:t>réservations</a:t>
            </a:r>
          </a:p>
        </p:txBody>
      </p:sp>
      <p:sp>
        <p:nvSpPr>
          <p:cNvPr id="15" name="Rectangle 14"/>
          <p:cNvSpPr/>
          <p:nvPr/>
        </p:nvSpPr>
        <p:spPr>
          <a:xfrm>
            <a:off x="2770632" y="1417320"/>
            <a:ext cx="2011680" cy="502920"/>
          </a:xfrm>
          <a:prstGeom prst="rect">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Préparation</a:t>
            </a:r>
          </a:p>
        </p:txBody>
      </p:sp>
      <p:sp>
        <p:nvSpPr>
          <p:cNvPr id="16" name="Rectangle 15"/>
          <p:cNvSpPr/>
          <p:nvPr/>
        </p:nvSpPr>
        <p:spPr>
          <a:xfrm>
            <a:off x="2770632"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Notebook Python :</a:t>
            </a:r>
          </a:p>
          <a:p>
            <a:pPr algn="ctr"/>
            <a:r>
              <a:rPr sz="1300" b="0">
                <a:solidFill>
                  <a:srgbClr val="1F2A37"/>
                </a:solidFill>
                <a:latin typeface="Calibri"/>
              </a:rPr>
              <a:t>qualité, nettoyage,</a:t>
            </a:r>
          </a:p>
          <a:p>
            <a:pPr algn="ctr"/>
            <a:r>
              <a:rPr sz="1300" b="0">
                <a:solidFill>
                  <a:srgbClr val="1F2A37"/>
                </a:solidFill>
                <a:latin typeface="Calibri"/>
              </a:rPr>
              <a:t>RFM, vecteurs de profil,</a:t>
            </a:r>
          </a:p>
          <a:p>
            <a:pPr algn="ctr"/>
            <a:r>
              <a:rPr sz="1300" b="0">
                <a:solidFill>
                  <a:srgbClr val="1F2A37"/>
                </a:solidFill>
                <a:latin typeface="Calibri"/>
              </a:rPr>
              <a:t>score d'interaction,</a:t>
            </a:r>
          </a:p>
          <a:p>
            <a:pPr algn="ctr"/>
            <a:r>
              <a:rPr sz="1300" b="0">
                <a:solidFill>
                  <a:srgbClr val="1F2A37"/>
                </a:solidFill>
                <a:latin typeface="Calibri"/>
              </a:rPr>
              <a:t>segmentation KMeans</a:t>
            </a:r>
          </a:p>
        </p:txBody>
      </p:sp>
      <p:cxnSp>
        <p:nvCxnSpPr>
          <p:cNvPr id="17" name="Connector 16"/>
          <p:cNvCxnSpPr>
            <a:stCxn id="14" idx="3"/>
            <a:endCxn id="16" idx="1"/>
          </p:cNvCxnSpPr>
          <p:nvPr/>
        </p:nvCxnSpPr>
        <p:spPr>
          <a:xfrm>
            <a:off x="2468880" y="3474720"/>
            <a:ext cx="301752"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933956" y="3200400"/>
            <a:ext cx="1371600" cy="274320"/>
          </a:xfrm>
          <a:prstGeom prst="rect">
            <a:avLst/>
          </a:prstGeom>
          <a:noFill/>
        </p:spPr>
        <p:txBody>
          <a:bodyPr wrap="square" anchor="t">
            <a:spAutoFit/>
          </a:bodyPr>
          <a:lstStyle/>
          <a:p>
            <a:pPr algn="ctr"/>
            <a:r>
              <a:rPr sz="1100" b="0">
                <a:solidFill>
                  <a:srgbClr val="6B7280"/>
                </a:solidFill>
                <a:latin typeface="Calibri"/>
              </a:rPr>
              <a:t>charge</a:t>
            </a:r>
          </a:p>
        </p:txBody>
      </p:sp>
      <p:sp>
        <p:nvSpPr>
          <p:cNvPr id="19" name="Rectangle 18"/>
          <p:cNvSpPr/>
          <p:nvPr/>
        </p:nvSpPr>
        <p:spPr>
          <a:xfrm>
            <a:off x="5084064" y="1417320"/>
            <a:ext cx="2011680" cy="502920"/>
          </a:xfrm>
          <a:prstGeom prst="rect">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Stockage</a:t>
            </a:r>
          </a:p>
        </p:txBody>
      </p:sp>
      <p:sp>
        <p:nvSpPr>
          <p:cNvPr id="20" name="Rectangle 19"/>
          <p:cNvSpPr/>
          <p:nvPr/>
        </p:nvSpPr>
        <p:spPr>
          <a:xfrm>
            <a:off x="5084064"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powerbi_exports :</a:t>
            </a:r>
          </a:p>
          <a:p>
            <a:pPr algn="ctr"/>
            <a:r>
              <a:rPr sz="1300" b="0">
                <a:solidFill>
                  <a:srgbClr val="1F2A37"/>
                </a:solidFill>
                <a:latin typeface="Calibri"/>
              </a:rPr>
              <a:t>table de faits,</a:t>
            </a:r>
          </a:p>
          <a:p>
            <a:pPr algn="ctr"/>
            <a:r>
              <a:rPr sz="1300" b="0">
                <a:solidFill>
                  <a:srgbClr val="1F2A37"/>
                </a:solidFill>
                <a:latin typeface="Calibri"/>
              </a:rPr>
              <a:t>4 dimensions, 7 KPI</a:t>
            </a:r>
          </a:p>
          <a:p>
            <a:pPr algn="ctr"/>
            <a:endParaRPr sz="1300" b="0">
              <a:solidFill>
                <a:srgbClr val="1F2A37"/>
              </a:solidFill>
              <a:latin typeface="Calibri"/>
            </a:endParaRPr>
          </a:p>
          <a:p>
            <a:pPr algn="ctr"/>
            <a:r>
              <a:rPr sz="1300" b="0">
                <a:solidFill>
                  <a:srgbClr val="1F2A37"/>
                </a:solidFill>
                <a:latin typeface="Calibri"/>
              </a:rPr>
              <a:t>TravelBI_App :</a:t>
            </a:r>
          </a:p>
          <a:p>
            <a:pPr algn="ctr"/>
            <a:r>
              <a:rPr sz="1300" b="0">
                <a:solidFill>
                  <a:srgbClr val="1F2A37"/>
                </a:solidFill>
                <a:latin typeface="Calibri"/>
              </a:rPr>
              <a:t>modèles et données</a:t>
            </a:r>
          </a:p>
        </p:txBody>
      </p:sp>
      <p:cxnSp>
        <p:nvCxnSpPr>
          <p:cNvPr id="21" name="Connector 20"/>
          <p:cNvCxnSpPr>
            <a:stCxn id="16" idx="3"/>
            <a:endCxn id="20" idx="1"/>
          </p:cNvCxnSpPr>
          <p:nvPr/>
        </p:nvCxnSpPr>
        <p:spPr>
          <a:xfrm>
            <a:off x="4782312" y="3474720"/>
            <a:ext cx="301752"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247388" y="3200400"/>
            <a:ext cx="1371600" cy="274320"/>
          </a:xfrm>
          <a:prstGeom prst="rect">
            <a:avLst/>
          </a:prstGeom>
          <a:noFill/>
        </p:spPr>
        <p:txBody>
          <a:bodyPr wrap="square" anchor="t">
            <a:spAutoFit/>
          </a:bodyPr>
          <a:lstStyle/>
          <a:p>
            <a:pPr algn="ctr"/>
            <a:r>
              <a:rPr sz="1100" b="0">
                <a:solidFill>
                  <a:srgbClr val="6B7280"/>
                </a:solidFill>
                <a:latin typeface="Calibri"/>
              </a:rPr>
              <a:t>exporte</a:t>
            </a:r>
          </a:p>
        </p:txBody>
      </p:sp>
      <p:sp>
        <p:nvSpPr>
          <p:cNvPr id="23" name="Rectangle 22"/>
          <p:cNvSpPr/>
          <p:nvPr/>
        </p:nvSpPr>
        <p:spPr>
          <a:xfrm>
            <a:off x="7397496" y="1417320"/>
            <a:ext cx="2011680" cy="502920"/>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Modèles</a:t>
            </a:r>
          </a:p>
        </p:txBody>
      </p:sp>
      <p:sp>
        <p:nvSpPr>
          <p:cNvPr id="24" name="Rectangle 23"/>
          <p:cNvSpPr/>
          <p:nvPr/>
        </p:nvSpPr>
        <p:spPr>
          <a:xfrm>
            <a:off x="7397496"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Filtrage par contenu</a:t>
            </a:r>
          </a:p>
          <a:p>
            <a:pPr algn="ctr"/>
            <a:r>
              <a:rPr sz="1300" b="0">
                <a:solidFill>
                  <a:srgbClr val="1F2A37"/>
                </a:solidFill>
                <a:latin typeface="Calibri"/>
              </a:rPr>
              <a:t>Factorisation matricielle</a:t>
            </a:r>
          </a:p>
          <a:p>
            <a:pPr algn="ctr"/>
            <a:r>
              <a:rPr sz="1300" b="0">
                <a:solidFill>
                  <a:srgbClr val="1F2A37"/>
                </a:solidFill>
                <a:latin typeface="Calibri"/>
              </a:rPr>
              <a:t>(poids nul)</a:t>
            </a:r>
          </a:p>
          <a:p>
            <a:pPr algn="ctr"/>
            <a:r>
              <a:rPr sz="1300" b="0">
                <a:solidFill>
                  <a:srgbClr val="1F2A37"/>
                </a:solidFill>
                <a:latin typeface="Calibri"/>
              </a:rPr>
              <a:t>LightGBM</a:t>
            </a:r>
          </a:p>
          <a:p>
            <a:pPr algn="ctr"/>
            <a:r>
              <a:rPr sz="1300" b="0">
                <a:solidFill>
                  <a:srgbClr val="1F2A37"/>
                </a:solidFill>
                <a:latin typeface="Calibri"/>
              </a:rPr>
              <a:t>Popularité</a:t>
            </a:r>
          </a:p>
          <a:p>
            <a:pPr algn="ctr"/>
            <a:r>
              <a:rPr sz="1300" b="0">
                <a:solidFill>
                  <a:srgbClr val="1F2A37"/>
                </a:solidFill>
                <a:latin typeface="Calibri"/>
              </a:rPr>
              <a:t>Combinaison pondérée</a:t>
            </a:r>
          </a:p>
        </p:txBody>
      </p:sp>
      <p:cxnSp>
        <p:nvCxnSpPr>
          <p:cNvPr id="25" name="Connector 24"/>
          <p:cNvCxnSpPr>
            <a:stCxn id="20" idx="3"/>
            <a:endCxn id="24" idx="1"/>
          </p:cNvCxnSpPr>
          <p:nvPr/>
        </p:nvCxnSpPr>
        <p:spPr>
          <a:xfrm>
            <a:off x="7095744" y="3474720"/>
            <a:ext cx="301752"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60820" y="3200400"/>
            <a:ext cx="1371600" cy="274320"/>
          </a:xfrm>
          <a:prstGeom prst="rect">
            <a:avLst/>
          </a:prstGeom>
          <a:noFill/>
        </p:spPr>
        <p:txBody>
          <a:bodyPr wrap="square" anchor="t">
            <a:spAutoFit/>
          </a:bodyPr>
          <a:lstStyle/>
          <a:p>
            <a:pPr algn="ctr"/>
            <a:r>
              <a:rPr sz="1100" b="0">
                <a:solidFill>
                  <a:srgbClr val="6B7280"/>
                </a:solidFill>
                <a:latin typeface="Calibri"/>
              </a:rPr>
              <a:t>alimente</a:t>
            </a:r>
          </a:p>
        </p:txBody>
      </p:sp>
      <p:sp>
        <p:nvSpPr>
          <p:cNvPr id="27" name="Rectangle 26"/>
          <p:cNvSpPr/>
          <p:nvPr/>
        </p:nvSpPr>
        <p:spPr>
          <a:xfrm>
            <a:off x="9710928" y="1417320"/>
            <a:ext cx="2011680" cy="502920"/>
          </a:xfrm>
          <a:prstGeom prst="rect">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Restitution</a:t>
            </a:r>
          </a:p>
        </p:txBody>
      </p:sp>
      <p:sp>
        <p:nvSpPr>
          <p:cNvPr id="28" name="Rectangle 27"/>
          <p:cNvSpPr/>
          <p:nvPr/>
        </p:nvSpPr>
        <p:spPr>
          <a:xfrm>
            <a:off x="9710928" y="1920240"/>
            <a:ext cx="2011680" cy="3108960"/>
          </a:xfrm>
          <a:prstGeom prst="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Power BI Desktop</a:t>
            </a:r>
          </a:p>
          <a:p>
            <a:pPr algn="ctr"/>
            <a:r>
              <a:rPr sz="1300" b="0">
                <a:solidFill>
                  <a:srgbClr val="1F2A37"/>
                </a:solidFill>
                <a:latin typeface="Calibri"/>
              </a:rPr>
              <a:t>puis Service</a:t>
            </a:r>
          </a:p>
          <a:p>
            <a:pPr algn="ctr"/>
            <a:endParaRPr sz="1300" b="0">
              <a:solidFill>
                <a:srgbClr val="1F2A37"/>
              </a:solidFill>
              <a:latin typeface="Calibri"/>
            </a:endParaRPr>
          </a:p>
          <a:p>
            <a:pPr algn="ctr"/>
            <a:r>
              <a:rPr sz="1300" b="0">
                <a:solidFill>
                  <a:srgbClr val="1F2A37"/>
                </a:solidFill>
                <a:latin typeface="Calibri"/>
              </a:rPr>
              <a:t>TravelBI :</a:t>
            </a:r>
          </a:p>
          <a:p>
            <a:pPr algn="ctr"/>
            <a:r>
              <a:rPr sz="1300" b="0">
                <a:solidFill>
                  <a:srgbClr val="1F2A37"/>
                </a:solidFill>
                <a:latin typeface="Calibri"/>
              </a:rPr>
              <a:t>indicateurs.py</a:t>
            </a:r>
          </a:p>
          <a:p>
            <a:pPr algn="ctr"/>
            <a:r>
              <a:rPr sz="1300" b="0">
                <a:solidFill>
                  <a:srgbClr val="1F2A37"/>
                </a:solidFill>
                <a:latin typeface="Calibri"/>
              </a:rPr>
              <a:t>moteur_reco.py</a:t>
            </a:r>
          </a:p>
          <a:p>
            <a:pPr algn="ctr"/>
            <a:r>
              <a:rPr sz="1300" b="0">
                <a:solidFill>
                  <a:srgbClr val="1F2A37"/>
                </a:solidFill>
                <a:latin typeface="Calibri"/>
              </a:rPr>
              <a:t>app.py</a:t>
            </a:r>
          </a:p>
        </p:txBody>
      </p:sp>
      <p:cxnSp>
        <p:nvCxnSpPr>
          <p:cNvPr id="29" name="Connector 28"/>
          <p:cNvCxnSpPr>
            <a:stCxn id="24" idx="3"/>
            <a:endCxn id="28" idx="1"/>
          </p:cNvCxnSpPr>
          <p:nvPr/>
        </p:nvCxnSpPr>
        <p:spPr>
          <a:xfrm>
            <a:off x="9409176" y="3474720"/>
            <a:ext cx="301752"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874251" y="3200400"/>
            <a:ext cx="1371600" cy="274320"/>
          </a:xfrm>
          <a:prstGeom prst="rect">
            <a:avLst/>
          </a:prstGeom>
          <a:noFill/>
        </p:spPr>
        <p:txBody>
          <a:bodyPr wrap="square" anchor="t">
            <a:spAutoFit/>
          </a:bodyPr>
          <a:lstStyle/>
          <a:p>
            <a:pPr algn="ctr"/>
            <a:r>
              <a:rPr sz="1100" b="0">
                <a:solidFill>
                  <a:srgbClr val="6B7280"/>
                </a:solidFill>
                <a:latin typeface="Calibri"/>
              </a:rPr>
              <a:t>lit</a:t>
            </a:r>
          </a:p>
        </p:txBody>
      </p:sp>
      <p:sp>
        <p:nvSpPr>
          <p:cNvPr id="31" name="Rounded Rectangle 30"/>
          <p:cNvSpPr/>
          <p:nvPr/>
        </p:nvSpPr>
        <p:spPr>
          <a:xfrm>
            <a:off x="457200" y="5394960"/>
            <a:ext cx="11274552" cy="77724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Le notebook, source unique : Power BI et l'application consomment les fichiers de la même exécution</a:t>
            </a:r>
          </a:p>
        </p:txBody>
      </p:sp>
      <p:sp>
        <p:nvSpPr>
          <p:cNvPr id="32" name="TextBox 31"/>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19</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Architecture physique (déploiement)</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457200" y="1371600"/>
            <a:ext cx="4846320" cy="4846320"/>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457200" y="1399032"/>
            <a:ext cx="4846320" cy="365760"/>
          </a:xfrm>
          <a:prstGeom prst="rect">
            <a:avLst/>
          </a:prstGeom>
          <a:noFill/>
        </p:spPr>
        <p:txBody>
          <a:bodyPr wrap="square" anchor="t">
            <a:spAutoFit/>
          </a:bodyPr>
          <a:lstStyle/>
          <a:p>
            <a:pPr algn="ctr"/>
            <a:r>
              <a:rPr sz="1300" b="1">
                <a:solidFill>
                  <a:srgbClr val="0B4F9E"/>
                </a:solidFill>
                <a:latin typeface="Calibri"/>
              </a:rPr>
              <a:t>«device» Poste d'analyse</a:t>
            </a:r>
          </a:p>
        </p:txBody>
      </p:sp>
      <p:sp>
        <p:nvSpPr>
          <p:cNvPr id="15" name="Rectangle 14"/>
          <p:cNvSpPr/>
          <p:nvPr/>
        </p:nvSpPr>
        <p:spPr>
          <a:xfrm>
            <a:off x="731520" y="2103120"/>
            <a:ext cx="2011680" cy="822960"/>
          </a:xfrm>
          <a:prstGeom prst="rect">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«artifact»</a:t>
            </a:r>
          </a:p>
          <a:p>
            <a:pPr algn="ctr"/>
            <a:r>
              <a:rPr sz="1200" b="0">
                <a:solidFill>
                  <a:srgbClr val="1F2A37"/>
                </a:solidFill>
                <a:latin typeface="Calibri"/>
              </a:rPr>
              <a:t>Notebook (Jupyter / Colab)</a:t>
            </a:r>
          </a:p>
        </p:txBody>
      </p:sp>
      <p:sp>
        <p:nvSpPr>
          <p:cNvPr id="16" name="Rectangle 15"/>
          <p:cNvSpPr/>
          <p:nvPr/>
        </p:nvSpPr>
        <p:spPr>
          <a:xfrm>
            <a:off x="3017520" y="2103120"/>
            <a:ext cx="2011680" cy="822960"/>
          </a:xfrm>
          <a:prstGeom prst="rect">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«artifact»</a:t>
            </a:r>
          </a:p>
          <a:p>
            <a:pPr algn="ctr"/>
            <a:r>
              <a:rPr sz="1200" b="0">
                <a:solidFill>
                  <a:srgbClr val="1F2A37"/>
                </a:solidFill>
                <a:latin typeface="Calibri"/>
              </a:rPr>
              <a:t>powerbi_exports (CSV)</a:t>
            </a:r>
          </a:p>
        </p:txBody>
      </p:sp>
      <p:sp>
        <p:nvSpPr>
          <p:cNvPr id="17" name="Rectangle 16"/>
          <p:cNvSpPr/>
          <p:nvPr/>
        </p:nvSpPr>
        <p:spPr>
          <a:xfrm>
            <a:off x="3017520" y="3566160"/>
            <a:ext cx="2011680" cy="822960"/>
          </a:xfrm>
          <a:prstGeom prst="rect">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«component»</a:t>
            </a:r>
          </a:p>
          <a:p>
            <a:pPr algn="ctr"/>
            <a:r>
              <a:rPr sz="1200" b="0">
                <a:solidFill>
                  <a:srgbClr val="1F2A37"/>
                </a:solidFill>
                <a:latin typeface="Calibri"/>
              </a:rPr>
              <a:t>Power BI Desktop</a:t>
            </a:r>
          </a:p>
        </p:txBody>
      </p:sp>
      <p:sp>
        <p:nvSpPr>
          <p:cNvPr id="18" name="Rectangle 17"/>
          <p:cNvSpPr/>
          <p:nvPr/>
        </p:nvSpPr>
        <p:spPr>
          <a:xfrm>
            <a:off x="731520" y="5029200"/>
            <a:ext cx="2011680" cy="822960"/>
          </a:xfrm>
          <a:prstGeom prst="rect">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«artifact»</a:t>
            </a:r>
          </a:p>
          <a:p>
            <a:pPr algn="ctr"/>
            <a:r>
              <a:rPr sz="1200" b="0">
                <a:solidFill>
                  <a:srgbClr val="1F2A37"/>
                </a:solidFill>
                <a:latin typeface="Calibri"/>
              </a:rPr>
              <a:t>TravelBI_App (models, data)</a:t>
            </a:r>
          </a:p>
        </p:txBody>
      </p:sp>
      <p:sp>
        <p:nvSpPr>
          <p:cNvPr id="19" name="Rectangle 18"/>
          <p:cNvSpPr/>
          <p:nvPr/>
        </p:nvSpPr>
        <p:spPr>
          <a:xfrm>
            <a:off x="6766560" y="1371600"/>
            <a:ext cx="4937760" cy="1737360"/>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766560" y="1399032"/>
            <a:ext cx="4937760" cy="365760"/>
          </a:xfrm>
          <a:prstGeom prst="rect">
            <a:avLst/>
          </a:prstGeom>
          <a:noFill/>
        </p:spPr>
        <p:txBody>
          <a:bodyPr wrap="square" anchor="t">
            <a:spAutoFit/>
          </a:bodyPr>
          <a:lstStyle/>
          <a:p>
            <a:pPr algn="ctr"/>
            <a:r>
              <a:rPr sz="1300" b="1">
                <a:solidFill>
                  <a:srgbClr val="0B4F9E"/>
                </a:solidFill>
                <a:latin typeface="Calibri"/>
              </a:rPr>
              <a:t>«execution environment» Power BI Service</a:t>
            </a:r>
          </a:p>
        </p:txBody>
      </p:sp>
      <p:sp>
        <p:nvSpPr>
          <p:cNvPr id="21" name="Rectangle 20"/>
          <p:cNvSpPr/>
          <p:nvPr/>
        </p:nvSpPr>
        <p:spPr>
          <a:xfrm>
            <a:off x="7863840" y="2011680"/>
            <a:ext cx="2743200" cy="822960"/>
          </a:xfrm>
          <a:prstGeom prst="rect">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«artifact»</a:t>
            </a:r>
          </a:p>
          <a:p>
            <a:pPr algn="ctr"/>
            <a:r>
              <a:rPr sz="1200" b="0">
                <a:solidFill>
                  <a:srgbClr val="1F2A37"/>
                </a:solidFill>
                <a:latin typeface="Calibri"/>
              </a:rPr>
              <a:t>Rapport publié</a:t>
            </a:r>
          </a:p>
        </p:txBody>
      </p:sp>
      <p:sp>
        <p:nvSpPr>
          <p:cNvPr id="22" name="Rectangle 21"/>
          <p:cNvSpPr/>
          <p:nvPr/>
        </p:nvSpPr>
        <p:spPr>
          <a:xfrm>
            <a:off x="6766560" y="3566160"/>
            <a:ext cx="4937760" cy="2651760"/>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766560" y="3593591"/>
            <a:ext cx="4937760" cy="365760"/>
          </a:xfrm>
          <a:prstGeom prst="rect">
            <a:avLst/>
          </a:prstGeom>
          <a:noFill/>
        </p:spPr>
        <p:txBody>
          <a:bodyPr wrap="square" anchor="t">
            <a:spAutoFit/>
          </a:bodyPr>
          <a:lstStyle/>
          <a:p>
            <a:pPr algn="ctr"/>
            <a:r>
              <a:rPr sz="1300" b="1">
                <a:solidFill>
                  <a:srgbClr val="0B4F9E"/>
                </a:solidFill>
                <a:latin typeface="Calibri"/>
              </a:rPr>
              <a:t>«device» Poste de l'agence</a:t>
            </a:r>
          </a:p>
        </p:txBody>
      </p:sp>
      <p:sp>
        <p:nvSpPr>
          <p:cNvPr id="24" name="Rectangle 23"/>
          <p:cNvSpPr/>
          <p:nvPr/>
        </p:nvSpPr>
        <p:spPr>
          <a:xfrm>
            <a:off x="7863840" y="4114800"/>
            <a:ext cx="2743200" cy="822960"/>
          </a:xfrm>
          <a:prstGeom prst="rect">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«artifact»</a:t>
            </a:r>
          </a:p>
          <a:p>
            <a:pPr algn="ctr"/>
            <a:r>
              <a:rPr sz="1200" b="0">
                <a:solidFill>
                  <a:srgbClr val="1F2A37"/>
                </a:solidFill>
                <a:latin typeface="Calibri"/>
              </a:rPr>
              <a:t>TravelBI.exe</a:t>
            </a:r>
          </a:p>
        </p:txBody>
      </p:sp>
      <p:sp>
        <p:nvSpPr>
          <p:cNvPr id="25" name="Rectangle 24"/>
          <p:cNvSpPr/>
          <p:nvPr/>
        </p:nvSpPr>
        <p:spPr>
          <a:xfrm>
            <a:off x="7863840" y="5212080"/>
            <a:ext cx="2743200" cy="822960"/>
          </a:xfrm>
          <a:prstGeom prst="rect">
            <a:avLst/>
          </a:prstGeom>
          <a:solidFill>
            <a:srgbClr val="FBF3E2"/>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1F2A37"/>
                </a:solidFill>
                <a:latin typeface="Calibri"/>
              </a:rPr>
              <a:t>«artifact»</a:t>
            </a:r>
          </a:p>
          <a:p>
            <a:pPr algn="ctr"/>
            <a:r>
              <a:rPr sz="1200" b="0">
                <a:solidFill>
                  <a:srgbClr val="1F2A37"/>
                </a:solidFill>
                <a:latin typeface="Calibri"/>
              </a:rPr>
              <a:t>models, data, config.json</a:t>
            </a:r>
          </a:p>
        </p:txBody>
      </p:sp>
      <p:cxnSp>
        <p:nvCxnSpPr>
          <p:cNvPr id="26" name="Connector 25"/>
          <p:cNvCxnSpPr>
            <a:stCxn id="15" idx="3"/>
            <a:endCxn id="16" idx="1"/>
          </p:cNvCxnSpPr>
          <p:nvPr/>
        </p:nvCxnSpPr>
        <p:spPr>
          <a:xfrm>
            <a:off x="2743200" y="2514600"/>
            <a:ext cx="274320" cy="0"/>
          </a:xfrm>
          <a:prstGeom prst="line">
            <a:avLst/>
          </a:prstGeom>
          <a:ln w="2222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194560" y="2240280"/>
            <a:ext cx="1371600" cy="274320"/>
          </a:xfrm>
          <a:prstGeom prst="rect">
            <a:avLst/>
          </a:prstGeom>
          <a:noFill/>
        </p:spPr>
        <p:txBody>
          <a:bodyPr wrap="square" anchor="t">
            <a:spAutoFit/>
          </a:bodyPr>
          <a:lstStyle/>
          <a:p>
            <a:pPr algn="ctr"/>
            <a:r>
              <a:rPr sz="1100" b="0">
                <a:solidFill>
                  <a:srgbClr val="6B7280"/>
                </a:solidFill>
                <a:latin typeface="Calibri"/>
              </a:rPr>
              <a:t>exporte</a:t>
            </a:r>
          </a:p>
        </p:txBody>
      </p:sp>
      <p:cxnSp>
        <p:nvCxnSpPr>
          <p:cNvPr id="28" name="Connector 27"/>
          <p:cNvCxnSpPr>
            <a:stCxn id="15" idx="2"/>
            <a:endCxn id="18" idx="0"/>
          </p:cNvCxnSpPr>
          <p:nvPr/>
        </p:nvCxnSpPr>
        <p:spPr>
          <a:xfrm>
            <a:off x="1737360" y="2926080"/>
            <a:ext cx="0" cy="2103120"/>
          </a:xfrm>
          <a:prstGeom prst="line">
            <a:avLst/>
          </a:prstGeom>
          <a:ln w="2222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 y="3703320"/>
            <a:ext cx="1371600" cy="274320"/>
          </a:xfrm>
          <a:prstGeom prst="rect">
            <a:avLst/>
          </a:prstGeom>
          <a:noFill/>
        </p:spPr>
        <p:txBody>
          <a:bodyPr wrap="square" anchor="t">
            <a:spAutoFit/>
          </a:bodyPr>
          <a:lstStyle/>
          <a:p>
            <a:pPr algn="ctr"/>
            <a:r>
              <a:rPr sz="1100" b="0">
                <a:solidFill>
                  <a:srgbClr val="6B7280"/>
                </a:solidFill>
                <a:latin typeface="Calibri"/>
              </a:rPr>
              <a:t>exporte</a:t>
            </a:r>
          </a:p>
        </p:txBody>
      </p:sp>
      <p:cxnSp>
        <p:nvCxnSpPr>
          <p:cNvPr id="30" name="Connector 29"/>
          <p:cNvCxnSpPr>
            <a:stCxn id="16" idx="2"/>
            <a:endCxn id="17" idx="0"/>
          </p:cNvCxnSpPr>
          <p:nvPr/>
        </p:nvCxnSpPr>
        <p:spPr>
          <a:xfrm>
            <a:off x="4023360" y="2926080"/>
            <a:ext cx="0" cy="640080"/>
          </a:xfrm>
          <a:prstGeom prst="line">
            <a:avLst/>
          </a:prstGeom>
          <a:ln w="2222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337560" y="2971800"/>
            <a:ext cx="1371600" cy="274320"/>
          </a:xfrm>
          <a:prstGeom prst="rect">
            <a:avLst/>
          </a:prstGeom>
          <a:noFill/>
        </p:spPr>
        <p:txBody>
          <a:bodyPr wrap="square" anchor="t">
            <a:spAutoFit/>
          </a:bodyPr>
          <a:lstStyle/>
          <a:p>
            <a:pPr algn="ctr"/>
            <a:r>
              <a:rPr sz="1100" b="0">
                <a:solidFill>
                  <a:srgbClr val="6B7280"/>
                </a:solidFill>
                <a:latin typeface="Calibri"/>
              </a:rPr>
              <a:t>importe</a:t>
            </a:r>
          </a:p>
        </p:txBody>
      </p:sp>
      <p:cxnSp>
        <p:nvCxnSpPr>
          <p:cNvPr id="32" name="Connector 31"/>
          <p:cNvCxnSpPr>
            <a:stCxn id="17" idx="3"/>
            <a:endCxn id="21" idx="1"/>
          </p:cNvCxnSpPr>
          <p:nvPr/>
        </p:nvCxnSpPr>
        <p:spPr>
          <a:xfrm flipV="1">
            <a:off x="5029200" y="2423160"/>
            <a:ext cx="2834640" cy="1554480"/>
          </a:xfrm>
          <a:prstGeom prst="line">
            <a:avLst/>
          </a:prstGeom>
          <a:ln w="22225">
            <a:solidFill>
              <a:srgbClr val="0B4F9E"/>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760720" y="2926080"/>
            <a:ext cx="1371600" cy="274320"/>
          </a:xfrm>
          <a:prstGeom prst="rect">
            <a:avLst/>
          </a:prstGeom>
          <a:noFill/>
        </p:spPr>
        <p:txBody>
          <a:bodyPr wrap="square" anchor="t">
            <a:spAutoFit/>
          </a:bodyPr>
          <a:lstStyle/>
          <a:p>
            <a:pPr algn="ctr"/>
            <a:r>
              <a:rPr sz="1100" b="0">
                <a:solidFill>
                  <a:srgbClr val="6B7280"/>
                </a:solidFill>
                <a:latin typeface="Calibri"/>
              </a:rPr>
              <a:t>publication</a:t>
            </a:r>
          </a:p>
        </p:txBody>
      </p:sp>
      <p:cxnSp>
        <p:nvCxnSpPr>
          <p:cNvPr id="34" name="Connector 33"/>
          <p:cNvCxnSpPr>
            <a:stCxn id="18" idx="3"/>
            <a:endCxn id="25" idx="1"/>
          </p:cNvCxnSpPr>
          <p:nvPr/>
        </p:nvCxnSpPr>
        <p:spPr>
          <a:xfrm>
            <a:off x="2743200" y="5440680"/>
            <a:ext cx="5120640" cy="182880"/>
          </a:xfrm>
          <a:prstGeom prst="line">
            <a:avLst/>
          </a:prstGeom>
          <a:ln w="22225">
            <a:solidFill>
              <a:srgbClr val="0B4F9E"/>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617720" y="5257800"/>
            <a:ext cx="1371600" cy="274320"/>
          </a:xfrm>
          <a:prstGeom prst="rect">
            <a:avLst/>
          </a:prstGeom>
          <a:noFill/>
        </p:spPr>
        <p:txBody>
          <a:bodyPr wrap="square" anchor="t">
            <a:spAutoFit/>
          </a:bodyPr>
          <a:lstStyle/>
          <a:p>
            <a:pPr algn="ctr"/>
            <a:r>
              <a:rPr sz="1100" b="0">
                <a:solidFill>
                  <a:srgbClr val="6B7280"/>
                </a:solidFill>
                <a:latin typeface="Calibri"/>
              </a:rPr>
              <a:t>copie</a:t>
            </a:r>
          </a:p>
        </p:txBody>
      </p:sp>
      <p:cxnSp>
        <p:nvCxnSpPr>
          <p:cNvPr id="36" name="Connector 35"/>
          <p:cNvCxnSpPr>
            <a:stCxn id="24" idx="2"/>
            <a:endCxn id="25" idx="0"/>
          </p:cNvCxnSpPr>
          <p:nvPr/>
        </p:nvCxnSpPr>
        <p:spPr>
          <a:xfrm>
            <a:off x="9235440" y="4937760"/>
            <a:ext cx="0" cy="274320"/>
          </a:xfrm>
          <a:prstGeom prst="line">
            <a:avLst/>
          </a:prstGeom>
          <a:ln w="2222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549640" y="4800600"/>
            <a:ext cx="1371600" cy="274320"/>
          </a:xfrm>
          <a:prstGeom prst="rect">
            <a:avLst/>
          </a:prstGeom>
          <a:noFill/>
        </p:spPr>
        <p:txBody>
          <a:bodyPr wrap="square" anchor="t">
            <a:spAutoFit/>
          </a:bodyPr>
          <a:lstStyle/>
          <a:p>
            <a:pPr algn="ctr"/>
            <a:r>
              <a:rPr sz="1100" b="0">
                <a:solidFill>
                  <a:srgbClr val="6B7280"/>
                </a:solidFill>
                <a:latin typeface="Calibri"/>
              </a:rPr>
              <a:t>lit</a:t>
            </a:r>
          </a:p>
        </p:txBody>
      </p:sp>
      <p:cxnSp>
        <p:nvCxnSpPr>
          <p:cNvPr id="38" name="Connector 37"/>
          <p:cNvCxnSpPr>
            <a:stCxn id="24" idx="0"/>
            <a:endCxn id="21" idx="2"/>
          </p:cNvCxnSpPr>
          <p:nvPr/>
        </p:nvCxnSpPr>
        <p:spPr>
          <a:xfrm flipV="1">
            <a:off x="9235440" y="2834640"/>
            <a:ext cx="0" cy="1280160"/>
          </a:xfrm>
          <a:prstGeom prst="line">
            <a:avLst/>
          </a:prstGeom>
          <a:ln w="28575">
            <a:solidFill>
              <a:srgbClr val="F39A1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549640" y="3200400"/>
            <a:ext cx="1371600" cy="274320"/>
          </a:xfrm>
          <a:prstGeom prst="rect">
            <a:avLst/>
          </a:prstGeom>
          <a:noFill/>
        </p:spPr>
        <p:txBody>
          <a:bodyPr wrap="square" anchor="t">
            <a:spAutoFit/>
          </a:bodyPr>
          <a:lstStyle/>
          <a:p>
            <a:pPr algn="ctr"/>
            <a:r>
              <a:rPr sz="1100" b="0">
                <a:solidFill>
                  <a:srgbClr val="6B7280"/>
                </a:solidFill>
                <a:latin typeface="Calibri"/>
              </a:rPr>
              <a:t>HTTPS</a:t>
            </a:r>
          </a:p>
        </p:txBody>
      </p:sp>
      <p:sp>
        <p:nvSpPr>
          <p:cNvPr id="40" name="TextBox 39"/>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20</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Des données réelles aux interactions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1645920"/>
            <a:ext cx="1925726" cy="219456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Historique réel</a:t>
            </a:r>
          </a:p>
          <a:p>
            <a:pPr algn="ctr"/>
            <a:r>
              <a:rPr sz="1300" b="0">
                <a:solidFill>
                  <a:srgbClr val="FFFFFF"/>
                </a:solidFill>
                <a:latin typeface="Calibri"/>
              </a:rPr>
              <a:t>11 clients</a:t>
            </a:r>
          </a:p>
          <a:p>
            <a:pPr algn="ctr"/>
            <a:r>
              <a:rPr sz="1300" b="0">
                <a:solidFill>
                  <a:srgbClr val="FFFFFF"/>
                </a:solidFill>
                <a:latin typeface="Calibri"/>
              </a:rPr>
              <a:t>16 réservations</a:t>
            </a:r>
          </a:p>
        </p:txBody>
      </p:sp>
      <p:sp>
        <p:nvSpPr>
          <p:cNvPr id="14" name="Rounded Rectangle 13"/>
          <p:cNvSpPr/>
          <p:nvPr/>
        </p:nvSpPr>
        <p:spPr>
          <a:xfrm>
            <a:off x="2794406" y="1645920"/>
            <a:ext cx="1925726" cy="219456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A37"/>
                </a:solidFill>
                <a:latin typeface="Calibri"/>
              </a:rPr>
              <a:t>Augmentation</a:t>
            </a:r>
          </a:p>
          <a:p>
            <a:pPr algn="ctr"/>
            <a:r>
              <a:rPr sz="1300" b="0">
                <a:solidFill>
                  <a:srgbClr val="1F2A37"/>
                </a:solidFill>
                <a:latin typeface="Calibri"/>
              </a:rPr>
              <a:t>bootstrap, perturbation,</a:t>
            </a:r>
          </a:p>
          <a:p>
            <a:pPr algn="ctr"/>
            <a:r>
              <a:rPr sz="1300" b="0">
                <a:solidFill>
                  <a:srgbClr val="1F2A37"/>
                </a:solidFill>
                <a:latin typeface="Calibri"/>
              </a:rPr>
              <a:t>génération par segment</a:t>
            </a:r>
          </a:p>
        </p:txBody>
      </p:sp>
      <p:sp>
        <p:nvSpPr>
          <p:cNvPr id="15" name="Rounded Rectangle 14"/>
          <p:cNvSpPr/>
          <p:nvPr/>
        </p:nvSpPr>
        <p:spPr>
          <a:xfrm>
            <a:off x="5131612" y="1645920"/>
            <a:ext cx="1925726" cy="219456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A37"/>
                </a:solidFill>
                <a:latin typeface="Calibri"/>
              </a:rPr>
              <a:t>Jeu de données</a:t>
            </a:r>
          </a:p>
          <a:p>
            <a:pPr algn="ctr"/>
            <a:r>
              <a:rPr sz="1300" b="0">
                <a:solidFill>
                  <a:srgbClr val="1F2A37"/>
                </a:solidFill>
                <a:latin typeface="Calibri"/>
              </a:rPr>
              <a:t>500 clients · 45 destinations</a:t>
            </a:r>
          </a:p>
          <a:p>
            <a:pPr algn="ctr"/>
            <a:r>
              <a:rPr sz="1300" b="0">
                <a:solidFill>
                  <a:srgbClr val="1F2A37"/>
                </a:solidFill>
                <a:latin typeface="Calibri"/>
              </a:rPr>
              <a:t>9 944 réservations</a:t>
            </a:r>
          </a:p>
        </p:txBody>
      </p:sp>
      <p:sp>
        <p:nvSpPr>
          <p:cNvPr id="16" name="Rounded Rectangle 15"/>
          <p:cNvSpPr/>
          <p:nvPr/>
        </p:nvSpPr>
        <p:spPr>
          <a:xfrm>
            <a:off x="7468819" y="1645920"/>
            <a:ext cx="1925726" cy="219456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A37"/>
                </a:solidFill>
                <a:latin typeface="Calibri"/>
              </a:rPr>
              <a:t>Nettoyage</a:t>
            </a:r>
          </a:p>
          <a:p>
            <a:pPr algn="ctr"/>
            <a:r>
              <a:rPr sz="1300" b="0">
                <a:solidFill>
                  <a:srgbClr val="1F2A37"/>
                </a:solidFill>
                <a:latin typeface="Calibri"/>
              </a:rPr>
              <a:t>28 doublons retirés</a:t>
            </a:r>
          </a:p>
          <a:p>
            <a:pPr algn="ctr"/>
            <a:r>
              <a:rPr sz="1300" b="0">
                <a:solidFill>
                  <a:srgbClr val="1F2A37"/>
                </a:solidFill>
                <a:latin typeface="Calibri"/>
              </a:rPr>
              <a:t>444 montants écrêtés (IQR)</a:t>
            </a:r>
          </a:p>
          <a:p>
            <a:pPr algn="ctr"/>
            <a:r>
              <a:rPr sz="1300" b="0">
                <a:solidFill>
                  <a:srgbClr val="1F2A37"/>
                </a:solidFill>
                <a:latin typeface="Calibri"/>
              </a:rPr>
              <a:t>9 916 réservations</a:t>
            </a:r>
          </a:p>
        </p:txBody>
      </p:sp>
      <p:sp>
        <p:nvSpPr>
          <p:cNvPr id="17" name="Rounded Rectangle 16"/>
          <p:cNvSpPr/>
          <p:nvPr/>
        </p:nvSpPr>
        <p:spPr>
          <a:xfrm>
            <a:off x="9806025" y="1645920"/>
            <a:ext cx="1925726" cy="219456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Score d'interaction</a:t>
            </a:r>
          </a:p>
          <a:p>
            <a:pPr algn="ctr"/>
            <a:r>
              <a:rPr sz="1300" b="0">
                <a:solidFill>
                  <a:srgbClr val="FFFFFF"/>
                </a:solidFill>
                <a:latin typeface="Calibri"/>
              </a:rPr>
              <a:t>implicite de 0 à 5</a:t>
            </a:r>
          </a:p>
          <a:p>
            <a:pPr algn="ctr"/>
            <a:r>
              <a:rPr sz="1300" b="0">
                <a:solidFill>
                  <a:srgbClr val="FFFFFF"/>
                </a:solidFill>
                <a:latin typeface="Calibri"/>
              </a:rPr>
              <a:t>4 802 interactions</a:t>
            </a:r>
          </a:p>
        </p:txBody>
      </p:sp>
      <p:cxnSp>
        <p:nvCxnSpPr>
          <p:cNvPr id="18" name="Connector 17"/>
          <p:cNvCxnSpPr>
            <a:stCxn id="13" idx="3"/>
            <a:endCxn id="14" idx="1"/>
          </p:cNvCxnSpPr>
          <p:nvPr/>
        </p:nvCxnSpPr>
        <p:spPr>
          <a:xfrm>
            <a:off x="2382926" y="2743200"/>
            <a:ext cx="411480"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4" idx="3"/>
            <a:endCxn id="15" idx="1"/>
          </p:cNvCxnSpPr>
          <p:nvPr/>
        </p:nvCxnSpPr>
        <p:spPr>
          <a:xfrm>
            <a:off x="4720132" y="2743200"/>
            <a:ext cx="411480"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5" idx="3"/>
            <a:endCxn id="16" idx="1"/>
          </p:cNvCxnSpPr>
          <p:nvPr/>
        </p:nvCxnSpPr>
        <p:spPr>
          <a:xfrm>
            <a:off x="7057338" y="2743200"/>
            <a:ext cx="411481"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a:stCxn id="16" idx="3"/>
            <a:endCxn id="17" idx="1"/>
          </p:cNvCxnSpPr>
          <p:nvPr/>
        </p:nvCxnSpPr>
        <p:spPr>
          <a:xfrm>
            <a:off x="9394545" y="2743200"/>
            <a:ext cx="411480"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57200" y="4389120"/>
            <a:ext cx="5522976" cy="137160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Score implicite</a:t>
            </a:r>
          </a:p>
          <a:p>
            <a:pPr algn="ctr"/>
            <a:r>
              <a:rPr sz="1500" b="0">
                <a:solidFill>
                  <a:srgbClr val="1F2A37"/>
                </a:solidFill>
                <a:latin typeface="Calibri"/>
              </a:rPr>
              <a:t>satisfaction 45 % · récence 25 % · montant 20 % · constante 10 %</a:t>
            </a:r>
          </a:p>
        </p:txBody>
      </p:sp>
      <p:sp>
        <p:nvSpPr>
          <p:cNvPr id="23" name="Rounded Rectangle 22"/>
          <p:cNvSpPr/>
          <p:nvPr/>
        </p:nvSpPr>
        <p:spPr>
          <a:xfrm>
            <a:off x="6208776" y="4389120"/>
            <a:ext cx="5522976" cy="137160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2A37"/>
                </a:solidFill>
                <a:latin typeface="Calibri"/>
              </a:rPr>
              <a:t>Segmentation KMeans, k = 5</a:t>
            </a:r>
          </a:p>
          <a:p>
            <a:pPr algn="ctr"/>
            <a:r>
              <a:rPr sz="1500" b="0">
                <a:solidFill>
                  <a:srgbClr val="1F2A37"/>
                </a:solidFill>
                <a:latin typeface="Calibri"/>
              </a:rPr>
              <a:t>âge, revenu, fréquence, montant, récence, taux d'annulation</a:t>
            </a:r>
          </a:p>
        </p:txBody>
      </p:sp>
      <p:sp>
        <p:nvSpPr>
          <p:cNvPr id="24" name="TextBox 23"/>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Le moteur de recommandation hybride</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2743200"/>
            <a:ext cx="1920240" cy="14630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a:solidFill>
                  <a:srgbClr val="1F2A37"/>
                </a:solidFill>
                <a:latin typeface="Calibri"/>
              </a:rPr>
              <a:t>Profil client</a:t>
            </a:r>
          </a:p>
          <a:p>
            <a:pPr algn="ctr"/>
            <a:r>
              <a:rPr sz="1400" b="0">
                <a:solidFill>
                  <a:srgbClr val="1F2A37"/>
                </a:solidFill>
                <a:latin typeface="Calibri"/>
              </a:rPr>
              <a:t>et destination</a:t>
            </a:r>
          </a:p>
          <a:p>
            <a:pPr algn="ctr"/>
            <a:r>
              <a:rPr sz="1400" b="0">
                <a:solidFill>
                  <a:srgbClr val="1F2A37"/>
                </a:solidFill>
                <a:latin typeface="Calibri"/>
              </a:rPr>
              <a:t>(20 dimensions)</a:t>
            </a:r>
          </a:p>
        </p:txBody>
      </p:sp>
      <p:sp>
        <p:nvSpPr>
          <p:cNvPr id="14" name="Rounded Rectangle 13"/>
          <p:cNvSpPr/>
          <p:nvPr/>
        </p:nvSpPr>
        <p:spPr>
          <a:xfrm>
            <a:off x="3017520" y="1463040"/>
            <a:ext cx="3108960" cy="960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Filtrage par contenu</a:t>
            </a:r>
          </a:p>
          <a:p>
            <a:pPr algn="ctr"/>
            <a:r>
              <a:rPr sz="1300" b="0">
                <a:solidFill>
                  <a:srgbClr val="FFFFFF"/>
                </a:solidFill>
                <a:latin typeface="Calibri"/>
              </a:rPr>
              <a:t>similarité cosinus · poids 0,2</a:t>
            </a:r>
          </a:p>
        </p:txBody>
      </p:sp>
      <p:cxnSp>
        <p:nvCxnSpPr>
          <p:cNvPr id="15" name="Connector 14"/>
          <p:cNvCxnSpPr>
            <a:stCxn id="13" idx="3"/>
            <a:endCxn id="14" idx="1"/>
          </p:cNvCxnSpPr>
          <p:nvPr/>
        </p:nvCxnSpPr>
        <p:spPr>
          <a:xfrm flipV="1">
            <a:off x="2377440" y="1943100"/>
            <a:ext cx="640080" cy="15316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22</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Le moteur de recommandation hybride</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2743200"/>
            <a:ext cx="1920240" cy="14630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a:solidFill>
                  <a:srgbClr val="1F2A37"/>
                </a:solidFill>
                <a:latin typeface="Calibri"/>
              </a:rPr>
              <a:t>Profil client</a:t>
            </a:r>
          </a:p>
          <a:p>
            <a:pPr algn="ctr"/>
            <a:r>
              <a:rPr sz="1400" b="0">
                <a:solidFill>
                  <a:srgbClr val="1F2A37"/>
                </a:solidFill>
                <a:latin typeface="Calibri"/>
              </a:rPr>
              <a:t>et destination</a:t>
            </a:r>
          </a:p>
          <a:p>
            <a:pPr algn="ctr"/>
            <a:r>
              <a:rPr sz="1400" b="0">
                <a:solidFill>
                  <a:srgbClr val="1F2A37"/>
                </a:solidFill>
                <a:latin typeface="Calibri"/>
              </a:rPr>
              <a:t>(20 dimensions)</a:t>
            </a:r>
          </a:p>
        </p:txBody>
      </p:sp>
      <p:sp>
        <p:nvSpPr>
          <p:cNvPr id="14" name="Rounded Rectangle 13"/>
          <p:cNvSpPr/>
          <p:nvPr/>
        </p:nvSpPr>
        <p:spPr>
          <a:xfrm>
            <a:off x="3017520" y="1463040"/>
            <a:ext cx="3108960" cy="960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Filtrage par contenu</a:t>
            </a:r>
          </a:p>
          <a:p>
            <a:pPr algn="ctr"/>
            <a:r>
              <a:rPr sz="1300" b="0">
                <a:solidFill>
                  <a:srgbClr val="FFFFFF"/>
                </a:solidFill>
                <a:latin typeface="Calibri"/>
              </a:rPr>
              <a:t>similarité cosinus · poids 0,2</a:t>
            </a:r>
          </a:p>
        </p:txBody>
      </p:sp>
      <p:cxnSp>
        <p:nvCxnSpPr>
          <p:cNvPr id="15" name="Connector 14"/>
          <p:cNvCxnSpPr>
            <a:stCxn id="13" idx="3"/>
            <a:endCxn id="14" idx="1"/>
          </p:cNvCxnSpPr>
          <p:nvPr/>
        </p:nvCxnSpPr>
        <p:spPr>
          <a:xfrm flipV="1">
            <a:off x="2377440" y="1943100"/>
            <a:ext cx="640080" cy="15316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017520" y="2651760"/>
            <a:ext cx="3108960" cy="960120"/>
          </a:xfrm>
          <a:prstGeom prst="roundRect">
            <a:avLst>
              <a:gd name="adj" fmla="val 8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A37"/>
                </a:solidFill>
                <a:latin typeface="Calibri"/>
              </a:rPr>
              <a:t>Factorisation matricielle</a:t>
            </a:r>
          </a:p>
          <a:p>
            <a:pPr algn="ctr"/>
            <a:r>
              <a:rPr sz="1300" b="0">
                <a:solidFill>
                  <a:srgbClr val="1F2A37"/>
                </a:solidFill>
                <a:latin typeface="Calibri"/>
              </a:rPr>
              <a:t>NumPy, SGD · poids 0</a:t>
            </a:r>
          </a:p>
        </p:txBody>
      </p:sp>
      <p:cxnSp>
        <p:nvCxnSpPr>
          <p:cNvPr id="17" name="Connector 16"/>
          <p:cNvCxnSpPr>
            <a:stCxn id="13" idx="3"/>
            <a:endCxn id="16" idx="1"/>
          </p:cNvCxnSpPr>
          <p:nvPr/>
        </p:nvCxnSpPr>
        <p:spPr>
          <a:xfrm flipV="1">
            <a:off x="2377440" y="3131820"/>
            <a:ext cx="640080" cy="34290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23</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Le moteur de recommandation hybride</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2743200"/>
            <a:ext cx="1920240" cy="14630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a:solidFill>
                  <a:srgbClr val="1F2A37"/>
                </a:solidFill>
                <a:latin typeface="Calibri"/>
              </a:rPr>
              <a:t>Profil client</a:t>
            </a:r>
          </a:p>
          <a:p>
            <a:pPr algn="ctr"/>
            <a:r>
              <a:rPr sz="1400" b="0">
                <a:solidFill>
                  <a:srgbClr val="1F2A37"/>
                </a:solidFill>
                <a:latin typeface="Calibri"/>
              </a:rPr>
              <a:t>et destination</a:t>
            </a:r>
          </a:p>
          <a:p>
            <a:pPr algn="ctr"/>
            <a:r>
              <a:rPr sz="1400" b="0">
                <a:solidFill>
                  <a:srgbClr val="1F2A37"/>
                </a:solidFill>
                <a:latin typeface="Calibri"/>
              </a:rPr>
              <a:t>(20 dimensions)</a:t>
            </a:r>
          </a:p>
        </p:txBody>
      </p:sp>
      <p:sp>
        <p:nvSpPr>
          <p:cNvPr id="14" name="Rounded Rectangle 13"/>
          <p:cNvSpPr/>
          <p:nvPr/>
        </p:nvSpPr>
        <p:spPr>
          <a:xfrm>
            <a:off x="3017520" y="1463040"/>
            <a:ext cx="3108960" cy="960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Filtrage par contenu</a:t>
            </a:r>
          </a:p>
          <a:p>
            <a:pPr algn="ctr"/>
            <a:r>
              <a:rPr sz="1300" b="0">
                <a:solidFill>
                  <a:srgbClr val="FFFFFF"/>
                </a:solidFill>
                <a:latin typeface="Calibri"/>
              </a:rPr>
              <a:t>similarité cosinus · poids 0,2</a:t>
            </a:r>
          </a:p>
        </p:txBody>
      </p:sp>
      <p:cxnSp>
        <p:nvCxnSpPr>
          <p:cNvPr id="15" name="Connector 14"/>
          <p:cNvCxnSpPr>
            <a:stCxn id="13" idx="3"/>
            <a:endCxn id="14" idx="1"/>
          </p:cNvCxnSpPr>
          <p:nvPr/>
        </p:nvCxnSpPr>
        <p:spPr>
          <a:xfrm flipV="1">
            <a:off x="2377440" y="1943100"/>
            <a:ext cx="640080" cy="15316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017520" y="2651760"/>
            <a:ext cx="3108960" cy="960120"/>
          </a:xfrm>
          <a:prstGeom prst="roundRect">
            <a:avLst>
              <a:gd name="adj" fmla="val 8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A37"/>
                </a:solidFill>
                <a:latin typeface="Calibri"/>
              </a:rPr>
              <a:t>Factorisation matricielle</a:t>
            </a:r>
          </a:p>
          <a:p>
            <a:pPr algn="ctr"/>
            <a:r>
              <a:rPr sz="1300" b="0">
                <a:solidFill>
                  <a:srgbClr val="1F2A37"/>
                </a:solidFill>
                <a:latin typeface="Calibri"/>
              </a:rPr>
              <a:t>NumPy, SGD · poids 0</a:t>
            </a:r>
          </a:p>
        </p:txBody>
      </p:sp>
      <p:cxnSp>
        <p:nvCxnSpPr>
          <p:cNvPr id="17" name="Connector 16"/>
          <p:cNvCxnSpPr>
            <a:stCxn id="13" idx="3"/>
            <a:endCxn id="16" idx="1"/>
          </p:cNvCxnSpPr>
          <p:nvPr/>
        </p:nvCxnSpPr>
        <p:spPr>
          <a:xfrm flipV="1">
            <a:off x="2377440" y="3131820"/>
            <a:ext cx="640080" cy="34290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017520" y="3840480"/>
            <a:ext cx="3108960" cy="9601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LightGBM</a:t>
            </a:r>
          </a:p>
          <a:p>
            <a:pPr algn="ctr"/>
            <a:r>
              <a:rPr sz="1300" b="0">
                <a:solidFill>
                  <a:srgbClr val="FFFFFF"/>
                </a:solidFill>
                <a:latin typeface="Calibri"/>
              </a:rPr>
              <a:t>15 variables · poids 0,5</a:t>
            </a:r>
          </a:p>
        </p:txBody>
      </p:sp>
      <p:cxnSp>
        <p:nvCxnSpPr>
          <p:cNvPr id="19" name="Connector 18"/>
          <p:cNvCxnSpPr>
            <a:stCxn id="13" idx="3"/>
            <a:endCxn id="18" idx="1"/>
          </p:cNvCxnSpPr>
          <p:nvPr/>
        </p:nvCxnSpPr>
        <p:spPr>
          <a:xfrm>
            <a:off x="2377440" y="3474720"/>
            <a:ext cx="640080" cy="8458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24</a:t>
            </a: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Le moteur de recommandation hybride</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2743200"/>
            <a:ext cx="1920240" cy="14630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a:solidFill>
                  <a:srgbClr val="1F2A37"/>
                </a:solidFill>
                <a:latin typeface="Calibri"/>
              </a:rPr>
              <a:t>Profil client</a:t>
            </a:r>
          </a:p>
          <a:p>
            <a:pPr algn="ctr"/>
            <a:r>
              <a:rPr sz="1400" b="0">
                <a:solidFill>
                  <a:srgbClr val="1F2A37"/>
                </a:solidFill>
                <a:latin typeface="Calibri"/>
              </a:rPr>
              <a:t>et destination</a:t>
            </a:r>
          </a:p>
          <a:p>
            <a:pPr algn="ctr"/>
            <a:r>
              <a:rPr sz="1400" b="0">
                <a:solidFill>
                  <a:srgbClr val="1F2A37"/>
                </a:solidFill>
                <a:latin typeface="Calibri"/>
              </a:rPr>
              <a:t>(20 dimensions)</a:t>
            </a:r>
          </a:p>
        </p:txBody>
      </p:sp>
      <p:sp>
        <p:nvSpPr>
          <p:cNvPr id="14" name="Rounded Rectangle 13"/>
          <p:cNvSpPr/>
          <p:nvPr/>
        </p:nvSpPr>
        <p:spPr>
          <a:xfrm>
            <a:off x="3017520" y="1463040"/>
            <a:ext cx="3108960" cy="960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Filtrage par contenu</a:t>
            </a:r>
          </a:p>
          <a:p>
            <a:pPr algn="ctr"/>
            <a:r>
              <a:rPr sz="1300" b="0">
                <a:solidFill>
                  <a:srgbClr val="FFFFFF"/>
                </a:solidFill>
                <a:latin typeface="Calibri"/>
              </a:rPr>
              <a:t>similarité cosinus · poids 0,2</a:t>
            </a:r>
          </a:p>
        </p:txBody>
      </p:sp>
      <p:cxnSp>
        <p:nvCxnSpPr>
          <p:cNvPr id="15" name="Connector 14"/>
          <p:cNvCxnSpPr>
            <a:stCxn id="13" idx="3"/>
            <a:endCxn id="14" idx="1"/>
          </p:cNvCxnSpPr>
          <p:nvPr/>
        </p:nvCxnSpPr>
        <p:spPr>
          <a:xfrm flipV="1">
            <a:off x="2377440" y="1943100"/>
            <a:ext cx="640080" cy="15316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017520" y="2651760"/>
            <a:ext cx="3108960" cy="960120"/>
          </a:xfrm>
          <a:prstGeom prst="roundRect">
            <a:avLst>
              <a:gd name="adj" fmla="val 8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A37"/>
                </a:solidFill>
                <a:latin typeface="Calibri"/>
              </a:rPr>
              <a:t>Factorisation matricielle</a:t>
            </a:r>
          </a:p>
          <a:p>
            <a:pPr algn="ctr"/>
            <a:r>
              <a:rPr sz="1300" b="0">
                <a:solidFill>
                  <a:srgbClr val="1F2A37"/>
                </a:solidFill>
                <a:latin typeface="Calibri"/>
              </a:rPr>
              <a:t>NumPy, SGD · poids 0</a:t>
            </a:r>
          </a:p>
        </p:txBody>
      </p:sp>
      <p:cxnSp>
        <p:nvCxnSpPr>
          <p:cNvPr id="17" name="Connector 16"/>
          <p:cNvCxnSpPr>
            <a:stCxn id="13" idx="3"/>
            <a:endCxn id="16" idx="1"/>
          </p:cNvCxnSpPr>
          <p:nvPr/>
        </p:nvCxnSpPr>
        <p:spPr>
          <a:xfrm flipV="1">
            <a:off x="2377440" y="3131820"/>
            <a:ext cx="640080" cy="34290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017520" y="3840480"/>
            <a:ext cx="3108960" cy="9601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LightGBM</a:t>
            </a:r>
          </a:p>
          <a:p>
            <a:pPr algn="ctr"/>
            <a:r>
              <a:rPr sz="1300" b="0">
                <a:solidFill>
                  <a:srgbClr val="FFFFFF"/>
                </a:solidFill>
                <a:latin typeface="Calibri"/>
              </a:rPr>
              <a:t>15 variables · poids 0,5</a:t>
            </a:r>
          </a:p>
        </p:txBody>
      </p:sp>
      <p:cxnSp>
        <p:nvCxnSpPr>
          <p:cNvPr id="19" name="Connector 18"/>
          <p:cNvCxnSpPr>
            <a:stCxn id="13" idx="3"/>
            <a:endCxn id="18" idx="1"/>
          </p:cNvCxnSpPr>
          <p:nvPr/>
        </p:nvCxnSpPr>
        <p:spPr>
          <a:xfrm>
            <a:off x="2377440" y="3474720"/>
            <a:ext cx="640080" cy="8458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017520" y="5029200"/>
            <a:ext cx="3108960" cy="960120"/>
          </a:xfrm>
          <a:prstGeom prst="roundRect">
            <a:avLst>
              <a:gd name="adj" fmla="val 8000"/>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Popularité</a:t>
            </a:r>
          </a:p>
          <a:p>
            <a:pPr algn="ctr"/>
            <a:r>
              <a:rPr sz="1300" b="0">
                <a:solidFill>
                  <a:srgbClr val="FFFFFF"/>
                </a:solidFill>
                <a:latin typeface="Calibri"/>
              </a:rPr>
              <a:t>a priori · poids 0,3</a:t>
            </a:r>
          </a:p>
        </p:txBody>
      </p:sp>
      <p:cxnSp>
        <p:nvCxnSpPr>
          <p:cNvPr id="21" name="Connector 20"/>
          <p:cNvCxnSpPr>
            <a:stCxn id="13" idx="3"/>
            <a:endCxn id="20" idx="1"/>
          </p:cNvCxnSpPr>
          <p:nvPr/>
        </p:nvCxnSpPr>
        <p:spPr>
          <a:xfrm>
            <a:off x="2377440" y="3474720"/>
            <a:ext cx="640080" cy="203454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766560" y="2743200"/>
            <a:ext cx="1737360" cy="146304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B4F9E"/>
                </a:solidFill>
                <a:latin typeface="Calibri"/>
              </a:rPr>
              <a:t>Combinaison</a:t>
            </a:r>
          </a:p>
          <a:p>
            <a:pPr algn="ctr"/>
            <a:r>
              <a:rPr sz="1400" b="1">
                <a:solidFill>
                  <a:srgbClr val="0B4F9E"/>
                </a:solidFill>
                <a:latin typeface="Calibri"/>
              </a:rPr>
              <a:t>pondérée</a:t>
            </a:r>
          </a:p>
          <a:p>
            <a:pPr algn="ctr"/>
            <a:r>
              <a:rPr sz="1400" b="1">
                <a:solidFill>
                  <a:srgbClr val="0B4F9E"/>
                </a:solidFill>
                <a:latin typeface="Calibri"/>
              </a:rPr>
              <a:t>bornée à [0, 5]</a:t>
            </a:r>
          </a:p>
        </p:txBody>
      </p:sp>
      <p:cxnSp>
        <p:nvCxnSpPr>
          <p:cNvPr id="23" name="Connector 22"/>
          <p:cNvCxnSpPr>
            <a:stCxn id="14" idx="3"/>
            <a:endCxn id="22" idx="1"/>
          </p:cNvCxnSpPr>
          <p:nvPr/>
        </p:nvCxnSpPr>
        <p:spPr>
          <a:xfrm>
            <a:off x="6126480" y="1943100"/>
            <a:ext cx="640080" cy="15316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a:stCxn id="16" idx="3"/>
            <a:endCxn id="22" idx="1"/>
          </p:cNvCxnSpPr>
          <p:nvPr/>
        </p:nvCxnSpPr>
        <p:spPr>
          <a:xfrm>
            <a:off x="6126480" y="3131820"/>
            <a:ext cx="640080" cy="34290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a:stCxn id="18" idx="3"/>
            <a:endCxn id="22" idx="1"/>
          </p:cNvCxnSpPr>
          <p:nvPr/>
        </p:nvCxnSpPr>
        <p:spPr>
          <a:xfrm flipV="1">
            <a:off x="6126480" y="3474720"/>
            <a:ext cx="640080" cy="8458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a:stCxn id="20" idx="3"/>
            <a:endCxn id="22" idx="1"/>
          </p:cNvCxnSpPr>
          <p:nvPr/>
        </p:nvCxnSpPr>
        <p:spPr>
          <a:xfrm flipV="1">
            <a:off x="6126480" y="3474720"/>
            <a:ext cx="640080" cy="203454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25</a:t>
            </a: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Le moteur de recommandation hybride</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2743200"/>
            <a:ext cx="1920240" cy="146304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0">
                <a:solidFill>
                  <a:srgbClr val="1F2A37"/>
                </a:solidFill>
                <a:latin typeface="Calibri"/>
              </a:rPr>
              <a:t>Profil client</a:t>
            </a:r>
          </a:p>
          <a:p>
            <a:pPr algn="ctr"/>
            <a:r>
              <a:rPr sz="1400" b="0">
                <a:solidFill>
                  <a:srgbClr val="1F2A37"/>
                </a:solidFill>
                <a:latin typeface="Calibri"/>
              </a:rPr>
              <a:t>et destination</a:t>
            </a:r>
          </a:p>
          <a:p>
            <a:pPr algn="ctr"/>
            <a:r>
              <a:rPr sz="1400" b="0">
                <a:solidFill>
                  <a:srgbClr val="1F2A37"/>
                </a:solidFill>
                <a:latin typeface="Calibri"/>
              </a:rPr>
              <a:t>(20 dimensions)</a:t>
            </a:r>
          </a:p>
        </p:txBody>
      </p:sp>
      <p:sp>
        <p:nvSpPr>
          <p:cNvPr id="14" name="Rounded Rectangle 13"/>
          <p:cNvSpPr/>
          <p:nvPr/>
        </p:nvSpPr>
        <p:spPr>
          <a:xfrm>
            <a:off x="3017520" y="1463040"/>
            <a:ext cx="3108960" cy="9601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Filtrage par contenu</a:t>
            </a:r>
          </a:p>
          <a:p>
            <a:pPr algn="ctr"/>
            <a:r>
              <a:rPr sz="1300" b="0">
                <a:solidFill>
                  <a:srgbClr val="FFFFFF"/>
                </a:solidFill>
                <a:latin typeface="Calibri"/>
              </a:rPr>
              <a:t>similarité cosinus · poids 0,2</a:t>
            </a:r>
          </a:p>
        </p:txBody>
      </p:sp>
      <p:cxnSp>
        <p:nvCxnSpPr>
          <p:cNvPr id="15" name="Connector 14"/>
          <p:cNvCxnSpPr>
            <a:stCxn id="13" idx="3"/>
            <a:endCxn id="14" idx="1"/>
          </p:cNvCxnSpPr>
          <p:nvPr/>
        </p:nvCxnSpPr>
        <p:spPr>
          <a:xfrm flipV="1">
            <a:off x="2377440" y="1943100"/>
            <a:ext cx="640080" cy="15316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017520" y="2651760"/>
            <a:ext cx="3108960" cy="960120"/>
          </a:xfrm>
          <a:prstGeom prst="roundRect">
            <a:avLst>
              <a:gd name="adj" fmla="val 8000"/>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2A37"/>
                </a:solidFill>
                <a:latin typeface="Calibri"/>
              </a:rPr>
              <a:t>Factorisation matricielle</a:t>
            </a:r>
          </a:p>
          <a:p>
            <a:pPr algn="ctr"/>
            <a:r>
              <a:rPr sz="1300" b="0">
                <a:solidFill>
                  <a:srgbClr val="1F2A37"/>
                </a:solidFill>
                <a:latin typeface="Calibri"/>
              </a:rPr>
              <a:t>NumPy, SGD · poids 0</a:t>
            </a:r>
          </a:p>
        </p:txBody>
      </p:sp>
      <p:cxnSp>
        <p:nvCxnSpPr>
          <p:cNvPr id="17" name="Connector 16"/>
          <p:cNvCxnSpPr>
            <a:stCxn id="13" idx="3"/>
            <a:endCxn id="16" idx="1"/>
          </p:cNvCxnSpPr>
          <p:nvPr/>
        </p:nvCxnSpPr>
        <p:spPr>
          <a:xfrm flipV="1">
            <a:off x="2377440" y="3131820"/>
            <a:ext cx="640080" cy="34290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017520" y="3840480"/>
            <a:ext cx="3108960" cy="9601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LightGBM</a:t>
            </a:r>
          </a:p>
          <a:p>
            <a:pPr algn="ctr"/>
            <a:r>
              <a:rPr sz="1300" b="0">
                <a:solidFill>
                  <a:srgbClr val="FFFFFF"/>
                </a:solidFill>
                <a:latin typeface="Calibri"/>
              </a:rPr>
              <a:t>15 variables · poids 0,5</a:t>
            </a:r>
          </a:p>
        </p:txBody>
      </p:sp>
      <p:cxnSp>
        <p:nvCxnSpPr>
          <p:cNvPr id="19" name="Connector 18"/>
          <p:cNvCxnSpPr>
            <a:stCxn id="13" idx="3"/>
            <a:endCxn id="18" idx="1"/>
          </p:cNvCxnSpPr>
          <p:nvPr/>
        </p:nvCxnSpPr>
        <p:spPr>
          <a:xfrm>
            <a:off x="2377440" y="3474720"/>
            <a:ext cx="640080" cy="8458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017520" y="5029200"/>
            <a:ext cx="3108960" cy="960120"/>
          </a:xfrm>
          <a:prstGeom prst="roundRect">
            <a:avLst>
              <a:gd name="adj" fmla="val 8000"/>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Popularité</a:t>
            </a:r>
          </a:p>
          <a:p>
            <a:pPr algn="ctr"/>
            <a:r>
              <a:rPr sz="1300" b="0">
                <a:solidFill>
                  <a:srgbClr val="FFFFFF"/>
                </a:solidFill>
                <a:latin typeface="Calibri"/>
              </a:rPr>
              <a:t>a priori · poids 0,3</a:t>
            </a:r>
          </a:p>
        </p:txBody>
      </p:sp>
      <p:cxnSp>
        <p:nvCxnSpPr>
          <p:cNvPr id="21" name="Connector 20"/>
          <p:cNvCxnSpPr>
            <a:stCxn id="13" idx="3"/>
            <a:endCxn id="20" idx="1"/>
          </p:cNvCxnSpPr>
          <p:nvPr/>
        </p:nvCxnSpPr>
        <p:spPr>
          <a:xfrm>
            <a:off x="2377440" y="3474720"/>
            <a:ext cx="640080" cy="203454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766560" y="2743200"/>
            <a:ext cx="1737360" cy="1463040"/>
          </a:xfrm>
          <a:prstGeom prst="roundRect">
            <a:avLst>
              <a:gd name="adj" fmla="val 8000"/>
            </a:avLst>
          </a:prstGeom>
          <a:solidFill>
            <a:srgbClr val="FFFFFF"/>
          </a:solidFill>
          <a:ln w="15875">
            <a:solidFill>
              <a:srgbClr val="0B4F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B4F9E"/>
                </a:solidFill>
                <a:latin typeface="Calibri"/>
              </a:rPr>
              <a:t>Combinaison</a:t>
            </a:r>
          </a:p>
          <a:p>
            <a:pPr algn="ctr"/>
            <a:r>
              <a:rPr sz="1400" b="1">
                <a:solidFill>
                  <a:srgbClr val="0B4F9E"/>
                </a:solidFill>
                <a:latin typeface="Calibri"/>
              </a:rPr>
              <a:t>pondérée</a:t>
            </a:r>
          </a:p>
          <a:p>
            <a:pPr algn="ctr"/>
            <a:r>
              <a:rPr sz="1400" b="1">
                <a:solidFill>
                  <a:srgbClr val="0B4F9E"/>
                </a:solidFill>
                <a:latin typeface="Calibri"/>
              </a:rPr>
              <a:t>bornée à [0, 5]</a:t>
            </a:r>
          </a:p>
        </p:txBody>
      </p:sp>
      <p:cxnSp>
        <p:nvCxnSpPr>
          <p:cNvPr id="23" name="Connector 22"/>
          <p:cNvCxnSpPr>
            <a:stCxn id="14" idx="3"/>
            <a:endCxn id="22" idx="1"/>
          </p:cNvCxnSpPr>
          <p:nvPr/>
        </p:nvCxnSpPr>
        <p:spPr>
          <a:xfrm>
            <a:off x="6126480" y="1943100"/>
            <a:ext cx="640080" cy="15316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a:stCxn id="16" idx="3"/>
            <a:endCxn id="22" idx="1"/>
          </p:cNvCxnSpPr>
          <p:nvPr/>
        </p:nvCxnSpPr>
        <p:spPr>
          <a:xfrm>
            <a:off x="6126480" y="3131820"/>
            <a:ext cx="640080" cy="34290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a:stCxn id="18" idx="3"/>
            <a:endCxn id="22" idx="1"/>
          </p:cNvCxnSpPr>
          <p:nvPr/>
        </p:nvCxnSpPr>
        <p:spPr>
          <a:xfrm flipV="1">
            <a:off x="6126480" y="3474720"/>
            <a:ext cx="640080" cy="8458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a:stCxn id="20" idx="3"/>
            <a:endCxn id="22" idx="1"/>
          </p:cNvCxnSpPr>
          <p:nvPr/>
        </p:nvCxnSpPr>
        <p:spPr>
          <a:xfrm flipV="1">
            <a:off x="6126480" y="3474720"/>
            <a:ext cx="640080" cy="203454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052560" y="1737360"/>
            <a:ext cx="2651760" cy="109728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1F2A37"/>
                </a:solidFill>
                <a:latin typeface="Calibri"/>
              </a:rPr>
              <a:t>Exclusion des destinations</a:t>
            </a:r>
          </a:p>
          <a:p>
            <a:pPr algn="ctr"/>
            <a:r>
              <a:rPr sz="1300" b="0">
                <a:solidFill>
                  <a:srgbClr val="1F2A37"/>
                </a:solidFill>
                <a:latin typeface="Calibri"/>
              </a:rPr>
              <a:t>déjà réservées</a:t>
            </a:r>
          </a:p>
        </p:txBody>
      </p:sp>
      <p:sp>
        <p:nvSpPr>
          <p:cNvPr id="28" name="Rounded Rectangle 27"/>
          <p:cNvSpPr/>
          <p:nvPr/>
        </p:nvSpPr>
        <p:spPr>
          <a:xfrm>
            <a:off x="9052560" y="4023360"/>
            <a:ext cx="2651760" cy="128016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Top-N</a:t>
            </a:r>
          </a:p>
          <a:p>
            <a:pPr algn="ctr"/>
            <a:r>
              <a:rPr sz="1400" b="0">
                <a:solidFill>
                  <a:srgbClr val="FFFFFF"/>
                </a:solidFill>
                <a:latin typeface="Calibri"/>
              </a:rPr>
              <a:t>avec score et explication</a:t>
            </a:r>
          </a:p>
          <a:p>
            <a:pPr algn="ctr"/>
            <a:r>
              <a:rPr sz="1400" b="0">
                <a:solidFill>
                  <a:srgbClr val="FFFFFF"/>
                </a:solidFill>
                <a:latin typeface="Calibri"/>
              </a:rPr>
              <a:t>en langage naturel</a:t>
            </a:r>
          </a:p>
        </p:txBody>
      </p:sp>
      <p:cxnSp>
        <p:nvCxnSpPr>
          <p:cNvPr id="29" name="Connector 28"/>
          <p:cNvCxnSpPr>
            <a:stCxn id="22" idx="3"/>
            <a:endCxn id="27" idx="1"/>
          </p:cNvCxnSpPr>
          <p:nvPr/>
        </p:nvCxnSpPr>
        <p:spPr>
          <a:xfrm flipV="1">
            <a:off x="8503920" y="2286000"/>
            <a:ext cx="548640" cy="11887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a:stCxn id="27" idx="2"/>
            <a:endCxn id="28" idx="0"/>
          </p:cNvCxnSpPr>
          <p:nvPr/>
        </p:nvCxnSpPr>
        <p:spPr>
          <a:xfrm>
            <a:off x="10378440" y="2834640"/>
            <a:ext cx="0" cy="118872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5943600"/>
            <a:ext cx="11274552" cy="365760"/>
          </a:xfrm>
          <a:prstGeom prst="rect">
            <a:avLst/>
          </a:prstGeom>
          <a:noFill/>
        </p:spPr>
        <p:txBody>
          <a:bodyPr wrap="square" anchor="t">
            <a:spAutoFit/>
          </a:bodyPr>
          <a:lstStyle/>
          <a:p>
            <a:pPr algn="ctr"/>
            <a:r>
              <a:rPr sz="1400" b="0">
                <a:solidFill>
                  <a:srgbClr val="6B7280"/>
                </a:solidFill>
                <a:latin typeface="Calibri"/>
              </a:rPr>
              <a:t>Nouveau client : le profil déclaré remplace l'historique (démarrage à froid)</a:t>
            </a:r>
          </a:p>
        </p:txBody>
      </p:sp>
      <p:sp>
        <p:nvSpPr>
          <p:cNvPr id="32" name="TextBox 31"/>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26</a:t>
            </a: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Sept approches comparées (jeu de test, K = 7)</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graphicFrame>
        <p:nvGraphicFramePr>
          <p:cNvPr id="13" name="Chart 12"/>
          <p:cNvGraphicFramePr>
            <a:graphicFrameLocks noGrp="1"/>
          </p:cNvGraphicFramePr>
          <p:nvPr/>
        </p:nvGraphicFramePr>
        <p:xfrm>
          <a:off x="457200" y="1325880"/>
          <a:ext cx="7680960" cy="4937760"/>
        </p:xfrm>
        <a:graphic>
          <a:graphicData uri="http://schemas.openxmlformats.org/drawingml/2006/chart">
            <c:chart xmlns:c="http://schemas.openxmlformats.org/drawingml/2006/chart" xmlns:r="http://schemas.openxmlformats.org/officeDocument/2006/relationships" r:id="rId4"/>
          </a:graphicData>
        </a:graphic>
      </p:graphicFrame>
      <p:sp>
        <p:nvSpPr>
          <p:cNvPr id="14" name="Rounded Rectangle 13"/>
          <p:cNvSpPr/>
          <p:nvPr/>
        </p:nvSpPr>
        <p:spPr>
          <a:xfrm>
            <a:off x="8412480" y="1463040"/>
            <a:ext cx="3319272" cy="210312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85 %</a:t>
            </a:r>
          </a:p>
          <a:p>
            <a:pPr algn="ctr"/>
            <a:r>
              <a:rPr sz="1800" b="0">
                <a:solidFill>
                  <a:srgbClr val="FFFFFF"/>
                </a:solidFill>
                <a:latin typeface="Calibri"/>
              </a:rPr>
              <a:t>HitRate@7 du modèle hybride</a:t>
            </a:r>
          </a:p>
          <a:p>
            <a:pPr algn="ctr"/>
            <a:r>
              <a:rPr sz="1800" b="0">
                <a:solidFill>
                  <a:srgbClr val="FFFFFF"/>
                </a:solidFill>
                <a:latin typeface="Calibri"/>
              </a:rPr>
              <a:t>seuil visé : 70 %</a:t>
            </a:r>
          </a:p>
        </p:txBody>
      </p:sp>
      <p:sp>
        <p:nvSpPr>
          <p:cNvPr id="15" name="Rounded Rectangle 14"/>
          <p:cNvSpPr/>
          <p:nvPr/>
        </p:nvSpPr>
        <p:spPr>
          <a:xfrm>
            <a:off x="8412480" y="3840480"/>
            <a:ext cx="3319272" cy="2103120"/>
          </a:xfrm>
          <a:prstGeom prst="roundRect">
            <a:avLst>
              <a:gd name="adj" fmla="val 8000"/>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1F2A37"/>
                </a:solidFill>
                <a:latin typeface="Calibri"/>
              </a:rPr>
              <a:t>RMSE le plus bas (0,354) :</a:t>
            </a:r>
          </a:p>
          <a:p>
            <a:pPr algn="ctr"/>
            <a:r>
              <a:rPr sz="1500" b="0">
                <a:solidFill>
                  <a:srgbClr val="1F2A37"/>
                </a:solidFill>
                <a:latin typeface="Calibri"/>
              </a:rPr>
              <a:t>la factorisation matricielle,</a:t>
            </a:r>
          </a:p>
          <a:p>
            <a:pPr algn="ctr"/>
            <a:r>
              <a:rPr sz="1500" b="0">
                <a:solidFill>
                  <a:srgbClr val="1F2A37"/>
                </a:solidFill>
                <a:latin typeface="Calibri"/>
              </a:rPr>
              <a:t>pourtant dernière au classement</a:t>
            </a:r>
          </a:p>
        </p:txBody>
      </p:sp>
      <p:sp>
        <p:nvSpPr>
          <p:cNvPr id="16" name="TextBox 15"/>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27</a:t>
            </a: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Lecture critique des résultats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rot="21480000">
            <a:off x="731520" y="1554480"/>
            <a:ext cx="3291840" cy="210312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Biais de sélection</a:t>
            </a:r>
          </a:p>
          <a:p>
            <a:pPr algn="ctr"/>
            <a:r>
              <a:rPr sz="1600" b="0">
                <a:solidFill>
                  <a:srgbClr val="1F2A37"/>
                </a:solidFill>
                <a:latin typeface="Calibri"/>
              </a:rPr>
              <a:t>Poids hybrides et booster</a:t>
            </a:r>
          </a:p>
          <a:p>
            <a:pPr algn="ctr"/>
            <a:r>
              <a:rPr sz="1600" b="0">
                <a:solidFill>
                  <a:srgbClr val="1F2A37"/>
                </a:solidFill>
                <a:latin typeface="Calibri"/>
              </a:rPr>
              <a:t>choisis sur le jeu de test</a:t>
            </a:r>
          </a:p>
        </p:txBody>
      </p:sp>
      <p:sp>
        <p:nvSpPr>
          <p:cNvPr id="14" name="Oval 13"/>
          <p:cNvSpPr/>
          <p:nvPr/>
        </p:nvSpPr>
        <p:spPr>
          <a:xfrm>
            <a:off x="2258568" y="162763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rot="120000">
            <a:off x="4480559" y="2011680"/>
            <a:ext cx="3291840" cy="2103120"/>
          </a:xfrm>
          <a:prstGeom prst="rect">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Fuite d'information</a:t>
            </a:r>
          </a:p>
          <a:p>
            <a:pPr algn="ctr"/>
            <a:r>
              <a:rPr sz="1600" b="0">
                <a:solidFill>
                  <a:srgbClr val="1F2A37"/>
                </a:solidFill>
                <a:latin typeface="Calibri"/>
              </a:rPr>
              <a:t>Variables calculées avant</a:t>
            </a:r>
          </a:p>
          <a:p>
            <a:pPr algn="ctr"/>
            <a:r>
              <a:rPr sz="1600" b="0">
                <a:solidFill>
                  <a:srgbClr val="1F2A37"/>
                </a:solidFill>
                <a:latin typeface="Calibri"/>
              </a:rPr>
              <a:t>le découpage</a:t>
            </a:r>
          </a:p>
        </p:txBody>
      </p:sp>
      <p:sp>
        <p:nvSpPr>
          <p:cNvPr id="16" name="Oval 15"/>
          <p:cNvSpPr/>
          <p:nvPr/>
        </p:nvSpPr>
        <p:spPr>
          <a:xfrm>
            <a:off x="6007607" y="208483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rot="21420000">
            <a:off x="8229600" y="1554480"/>
            <a:ext cx="3291840" cy="210312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Pertinence peu sélective</a:t>
            </a:r>
          </a:p>
          <a:p>
            <a:pPr algn="ctr"/>
            <a:r>
              <a:rPr sz="1600" b="0">
                <a:solidFill>
                  <a:srgbClr val="1F2A37"/>
                </a:solidFill>
                <a:latin typeface="Calibri"/>
              </a:rPr>
              <a:t>97,6 % des interactions</a:t>
            </a:r>
          </a:p>
          <a:p>
            <a:pPr algn="ctr"/>
            <a:r>
              <a:rPr sz="1600" b="0">
                <a:solidFill>
                  <a:srgbClr val="1F2A37"/>
                </a:solidFill>
                <a:latin typeface="Calibri"/>
              </a:rPr>
              <a:t>au-dessus du seuil</a:t>
            </a:r>
          </a:p>
        </p:txBody>
      </p:sp>
      <p:sp>
        <p:nvSpPr>
          <p:cNvPr id="18" name="Oval 17"/>
          <p:cNvSpPr/>
          <p:nvPr/>
        </p:nvSpPr>
        <p:spPr>
          <a:xfrm>
            <a:off x="9756648" y="162763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457200" y="4754880"/>
            <a:ext cx="11274552" cy="118872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0">
                <a:solidFill>
                  <a:srgbClr val="FFFFFF"/>
                </a:solidFill>
                <a:latin typeface="Calibri"/>
              </a:rPr>
              <a:t>85 % est une borne haute · données majoritairement générées</a:t>
            </a:r>
          </a:p>
          <a:p>
            <a:pPr algn="ctr"/>
            <a:r>
              <a:rPr sz="1700" b="0">
                <a:solidFill>
                  <a:srgbClr val="FFFFFF"/>
                </a:solidFill>
                <a:latin typeface="Calibri"/>
              </a:rPr>
              <a:t>Ce qui est validé : la démarche et la chaîne technique, rejouable sur des données réelles</a:t>
            </a:r>
          </a:p>
        </p:txBody>
      </p:sp>
      <p:sp>
        <p:nvSpPr>
          <p:cNvPr id="20" name="TextBox 19"/>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Démonstration : TravelBI en direct</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ounded Rectangle 12"/>
          <p:cNvSpPr/>
          <p:nvPr/>
        </p:nvSpPr>
        <p:spPr>
          <a:xfrm>
            <a:off x="457200" y="2103120"/>
            <a:ext cx="1925726" cy="201168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1</a:t>
            </a:r>
          </a:p>
          <a:p>
            <a:pPr algn="ctr"/>
            <a:r>
              <a:rPr sz="1500" b="0">
                <a:solidFill>
                  <a:srgbClr val="FFFFFF"/>
                </a:solidFill>
                <a:latin typeface="Calibri"/>
              </a:rPr>
              <a:t>Tableau de bord</a:t>
            </a:r>
          </a:p>
          <a:p>
            <a:pPr algn="ctr"/>
            <a:r>
              <a:rPr sz="1500" b="0">
                <a:solidFill>
                  <a:srgbClr val="FFFFFF"/>
                </a:solidFill>
                <a:latin typeface="Calibri"/>
              </a:rPr>
              <a:t>année 2026</a:t>
            </a:r>
          </a:p>
        </p:txBody>
      </p:sp>
      <p:sp>
        <p:nvSpPr>
          <p:cNvPr id="14" name="Rounded Rectangle 13"/>
          <p:cNvSpPr/>
          <p:nvPr/>
        </p:nvSpPr>
        <p:spPr>
          <a:xfrm>
            <a:off x="2794406" y="2103120"/>
            <a:ext cx="1925726" cy="2011680"/>
          </a:xfrm>
          <a:prstGeom prst="roundRect">
            <a:avLst>
              <a:gd name="adj" fmla="val 8000"/>
            </a:avLst>
          </a:prstGeom>
          <a:solidFill>
            <a:srgbClr val="2A9FD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2</a:t>
            </a:r>
          </a:p>
          <a:p>
            <a:pPr algn="ctr"/>
            <a:r>
              <a:rPr sz="1500" b="0">
                <a:solidFill>
                  <a:srgbClr val="FFFFFF"/>
                </a:solidFill>
                <a:latin typeface="Calibri"/>
              </a:rPr>
              <a:t>Rapport Power BI</a:t>
            </a:r>
          </a:p>
          <a:p>
            <a:pPr algn="ctr"/>
            <a:r>
              <a:rPr sz="1500" b="0">
                <a:solidFill>
                  <a:srgbClr val="FFFFFF"/>
                </a:solidFill>
                <a:latin typeface="Calibri"/>
              </a:rPr>
              <a:t>intégré et filtré</a:t>
            </a:r>
          </a:p>
        </p:txBody>
      </p:sp>
      <p:sp>
        <p:nvSpPr>
          <p:cNvPr id="15" name="Rounded Rectangle 14"/>
          <p:cNvSpPr/>
          <p:nvPr/>
        </p:nvSpPr>
        <p:spPr>
          <a:xfrm>
            <a:off x="5131612" y="2103120"/>
            <a:ext cx="1925726" cy="201168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3</a:t>
            </a:r>
          </a:p>
          <a:p>
            <a:pPr algn="ctr"/>
            <a:r>
              <a:rPr sz="1500" b="0">
                <a:solidFill>
                  <a:srgbClr val="FFFFFF"/>
                </a:solidFill>
                <a:latin typeface="Calibri"/>
              </a:rPr>
              <a:t>Recommandation</a:t>
            </a:r>
          </a:p>
          <a:p>
            <a:pPr algn="ctr"/>
            <a:r>
              <a:rPr sz="1500" b="0">
                <a:solidFill>
                  <a:srgbClr val="FFFFFF"/>
                </a:solidFill>
                <a:latin typeface="Calibri"/>
              </a:rPr>
              <a:t>client CLI00001</a:t>
            </a:r>
          </a:p>
        </p:txBody>
      </p:sp>
      <p:sp>
        <p:nvSpPr>
          <p:cNvPr id="16" name="Rounded Rectangle 15"/>
          <p:cNvSpPr/>
          <p:nvPr/>
        </p:nvSpPr>
        <p:spPr>
          <a:xfrm>
            <a:off x="7468819" y="2103120"/>
            <a:ext cx="1925726" cy="2011680"/>
          </a:xfrm>
          <a:prstGeom prst="roundRect">
            <a:avLst>
              <a:gd name="adj" fmla="val 8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4</a:t>
            </a:r>
          </a:p>
          <a:p>
            <a:pPr algn="ctr"/>
            <a:r>
              <a:rPr sz="1500" b="0">
                <a:solidFill>
                  <a:srgbClr val="FFFFFF"/>
                </a:solidFill>
                <a:latin typeface="Calibri"/>
              </a:rPr>
              <a:t>Nouveau client</a:t>
            </a:r>
          </a:p>
          <a:p>
            <a:pPr algn="ctr"/>
            <a:r>
              <a:rPr sz="1500" b="0">
                <a:solidFill>
                  <a:srgbClr val="FFFFFF"/>
                </a:solidFill>
                <a:latin typeface="Calibri"/>
              </a:rPr>
              <a:t>par profil déclaré</a:t>
            </a:r>
          </a:p>
        </p:txBody>
      </p:sp>
      <p:sp>
        <p:nvSpPr>
          <p:cNvPr id="17" name="Rounded Rectangle 16"/>
          <p:cNvSpPr/>
          <p:nvPr/>
        </p:nvSpPr>
        <p:spPr>
          <a:xfrm>
            <a:off x="9806025" y="2103120"/>
            <a:ext cx="1925726" cy="2011680"/>
          </a:xfrm>
          <a:prstGeom prst="roundRect">
            <a:avLst>
              <a:gd name="adj" fmla="val 8000"/>
            </a:avLst>
          </a:prstGeom>
          <a:solidFill>
            <a:srgbClr val="0B4F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5</a:t>
            </a:r>
          </a:p>
          <a:p>
            <a:pPr algn="ctr"/>
            <a:r>
              <a:rPr sz="1500" b="0">
                <a:solidFill>
                  <a:srgbClr val="FFFFFF"/>
                </a:solidFill>
                <a:latin typeface="Calibri"/>
              </a:rPr>
              <a:t>Contrôle de cohérence</a:t>
            </a:r>
          </a:p>
          <a:p>
            <a:pPr algn="ctr"/>
            <a:r>
              <a:rPr sz="1500" b="0">
                <a:solidFill>
                  <a:srgbClr val="FFFFFF"/>
                </a:solidFill>
                <a:latin typeface="Calibri"/>
              </a:rPr>
              <a:t>avec le notebook</a:t>
            </a:r>
          </a:p>
        </p:txBody>
      </p:sp>
      <p:cxnSp>
        <p:nvCxnSpPr>
          <p:cNvPr id="18" name="Connector 17"/>
          <p:cNvCxnSpPr>
            <a:stCxn id="13" idx="3"/>
            <a:endCxn id="14" idx="1"/>
          </p:cNvCxnSpPr>
          <p:nvPr/>
        </p:nvCxnSpPr>
        <p:spPr>
          <a:xfrm>
            <a:off x="2382926" y="3108960"/>
            <a:ext cx="411480"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4" idx="3"/>
            <a:endCxn id="15" idx="1"/>
          </p:cNvCxnSpPr>
          <p:nvPr/>
        </p:nvCxnSpPr>
        <p:spPr>
          <a:xfrm>
            <a:off x="4720132" y="3108960"/>
            <a:ext cx="411480"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5" idx="3"/>
            <a:endCxn id="16" idx="1"/>
          </p:cNvCxnSpPr>
          <p:nvPr/>
        </p:nvCxnSpPr>
        <p:spPr>
          <a:xfrm>
            <a:off x="7057338" y="3108960"/>
            <a:ext cx="411481"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a:stCxn id="16" idx="3"/>
            <a:endCxn id="17" idx="1"/>
          </p:cNvCxnSpPr>
          <p:nvPr/>
        </p:nvCxnSpPr>
        <p:spPr>
          <a:xfrm>
            <a:off x="9394545" y="3108960"/>
            <a:ext cx="411480" cy="0"/>
          </a:xfrm>
          <a:prstGeom prst="line">
            <a:avLst/>
          </a:prstGeom>
          <a:ln w="22225">
            <a:solidFill>
              <a:srgbClr val="2A9FD8"/>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4572000"/>
            <a:ext cx="11274552" cy="457200"/>
          </a:xfrm>
          <a:prstGeom prst="rect">
            <a:avLst/>
          </a:prstGeom>
          <a:noFill/>
        </p:spPr>
        <p:txBody>
          <a:bodyPr wrap="square" anchor="t">
            <a:spAutoFit/>
          </a:bodyPr>
          <a:lstStyle/>
          <a:p>
            <a:pPr algn="ctr"/>
            <a:r>
              <a:rPr sz="1800" b="0">
                <a:solidFill>
                  <a:srgbClr val="6B7280"/>
                </a:solidFill>
                <a:latin typeface="Calibri"/>
              </a:rPr>
              <a:t>Deux parcours : le directeur, puis le conseiller face à un client</a:t>
            </a:r>
          </a:p>
        </p:txBody>
      </p:sp>
      <p:sp>
        <p:nvSpPr>
          <p:cNvPr id="23" name="TextBox 22"/>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29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Démonstration : captures de l'application</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a:off x="457200" y="1325880"/>
            <a:ext cx="5532120" cy="2377440"/>
          </a:xfrm>
          <a:prstGeom prst="rect">
            <a:avLst/>
          </a:prstGeom>
          <a:solidFill>
            <a:srgbClr val="FFFFFF"/>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6B7280"/>
                </a:solidFill>
                <a:latin typeface="Calibri"/>
              </a:rPr>
              <a:t>Insérer la figure 4.8</a:t>
            </a:r>
          </a:p>
          <a:p>
            <a:pPr algn="ctr"/>
            <a:r>
              <a:rPr sz="1600" b="0">
                <a:solidFill>
                  <a:srgbClr val="6B7280"/>
                </a:solidFill>
                <a:latin typeface="Calibri"/>
              </a:rPr>
              <a:t>Tableau de bord</a:t>
            </a:r>
          </a:p>
        </p:txBody>
      </p:sp>
      <p:sp>
        <p:nvSpPr>
          <p:cNvPr id="14" name="Rectangle 13"/>
          <p:cNvSpPr/>
          <p:nvPr/>
        </p:nvSpPr>
        <p:spPr>
          <a:xfrm>
            <a:off x="6217920" y="1325880"/>
            <a:ext cx="5532120" cy="2377440"/>
          </a:xfrm>
          <a:prstGeom prst="rect">
            <a:avLst/>
          </a:prstGeom>
          <a:solidFill>
            <a:srgbClr val="FFFFFF"/>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6B7280"/>
                </a:solidFill>
                <a:latin typeface="Calibri"/>
              </a:rPr>
              <a:t>Insérer la figure 4.9</a:t>
            </a:r>
          </a:p>
          <a:p>
            <a:pPr algn="ctr"/>
            <a:r>
              <a:rPr sz="1600" b="0">
                <a:solidFill>
                  <a:srgbClr val="6B7280"/>
                </a:solidFill>
                <a:latin typeface="Calibri"/>
              </a:rPr>
              <a:t>Recommandations CLI00001</a:t>
            </a:r>
          </a:p>
        </p:txBody>
      </p:sp>
      <p:sp>
        <p:nvSpPr>
          <p:cNvPr id="15" name="Rectangle 14"/>
          <p:cNvSpPr/>
          <p:nvPr/>
        </p:nvSpPr>
        <p:spPr>
          <a:xfrm>
            <a:off x="457200" y="3840480"/>
            <a:ext cx="5532120" cy="2377440"/>
          </a:xfrm>
          <a:prstGeom prst="rect">
            <a:avLst/>
          </a:prstGeom>
          <a:solidFill>
            <a:srgbClr val="FFFFFF"/>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6B7280"/>
                </a:solidFill>
                <a:latin typeface="Calibri"/>
              </a:rPr>
              <a:t>Insérer la figure 4.11</a:t>
            </a:r>
          </a:p>
          <a:p>
            <a:pPr algn="ctr"/>
            <a:r>
              <a:rPr sz="1600" b="0">
                <a:solidFill>
                  <a:srgbClr val="6B7280"/>
                </a:solidFill>
                <a:latin typeface="Calibri"/>
              </a:rPr>
              <a:t>Rapport Power BI intégré</a:t>
            </a:r>
          </a:p>
        </p:txBody>
      </p:sp>
      <p:sp>
        <p:nvSpPr>
          <p:cNvPr id="16" name="Rectangle 15"/>
          <p:cNvSpPr/>
          <p:nvPr/>
        </p:nvSpPr>
        <p:spPr>
          <a:xfrm>
            <a:off x="6217920" y="3840480"/>
            <a:ext cx="5532120" cy="2377440"/>
          </a:xfrm>
          <a:prstGeom prst="rect">
            <a:avLst/>
          </a:prstGeom>
          <a:solidFill>
            <a:srgbClr val="FFFFFF"/>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a:solidFill>
                  <a:srgbClr val="6B7280"/>
                </a:solidFill>
                <a:latin typeface="Calibri"/>
              </a:rPr>
              <a:t>Insérer la figure 4.12</a:t>
            </a:r>
          </a:p>
          <a:p>
            <a:pPr algn="ctr"/>
            <a:r>
              <a:rPr sz="1600" b="0">
                <a:solidFill>
                  <a:srgbClr val="6B7280"/>
                </a:solidFill>
                <a:latin typeface="Calibri"/>
              </a:rPr>
              <a:t>Contrôle de cohérence</a:t>
            </a:r>
          </a:p>
        </p:txBody>
      </p:sp>
      <p:sp>
        <p:nvSpPr>
          <p:cNvPr id="17" name="TextBox 16"/>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30</a:t>
            </a: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Conclusion</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rot="21420000">
            <a:off x="640080" y="1554480"/>
            <a:ext cx="2651760" cy="210312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Sprint 1</a:t>
            </a:r>
          </a:p>
          <a:p>
            <a:pPr algn="ctr"/>
            <a:r>
              <a:rPr sz="1600" b="0">
                <a:solidFill>
                  <a:srgbClr val="1F2A37"/>
                </a:solidFill>
                <a:latin typeface="Calibri"/>
              </a:rPr>
              <a:t>Données nettoyées, RFM,</a:t>
            </a:r>
          </a:p>
          <a:p>
            <a:pPr algn="ctr"/>
            <a:r>
              <a:rPr sz="1600" b="0">
                <a:solidFill>
                  <a:srgbClr val="1F2A37"/>
                </a:solidFill>
                <a:latin typeface="Calibri"/>
              </a:rPr>
              <a:t>cinq segments de clients</a:t>
            </a:r>
          </a:p>
        </p:txBody>
      </p:sp>
      <p:sp>
        <p:nvSpPr>
          <p:cNvPr id="14" name="TextBox 13"/>
          <p:cNvSpPr txBox="1"/>
          <p:nvPr/>
        </p:nvSpPr>
        <p:spPr>
          <a:xfrm>
            <a:off x="2606039" y="2880360"/>
            <a:ext cx="640080" cy="731520"/>
          </a:xfrm>
          <a:prstGeom prst="rect">
            <a:avLst/>
          </a:prstGeom>
          <a:noFill/>
        </p:spPr>
        <p:txBody>
          <a:bodyPr wrap="square" anchor="t">
            <a:spAutoFit/>
          </a:bodyPr>
          <a:lstStyle/>
          <a:p>
            <a:pPr algn="l"/>
            <a:r>
              <a:rPr sz="4000" b="1">
                <a:solidFill>
                  <a:srgbClr val="595959"/>
                </a:solidFill>
                <a:latin typeface="Calibri"/>
              </a:rPr>
              <a:t>✓</a:t>
            </a:r>
          </a:p>
        </p:txBody>
      </p:sp>
      <p:sp>
        <p:nvSpPr>
          <p:cNvPr id="15" name="Rectangle 14"/>
          <p:cNvSpPr/>
          <p:nvPr/>
        </p:nvSpPr>
        <p:spPr>
          <a:xfrm rot="120000">
            <a:off x="3474720" y="2926080"/>
            <a:ext cx="2651760" cy="2103120"/>
          </a:xfrm>
          <a:prstGeom prst="rect">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Sprint 2</a:t>
            </a:r>
          </a:p>
          <a:p>
            <a:pPr algn="ctr"/>
            <a:r>
              <a:rPr sz="1600" b="0">
                <a:solidFill>
                  <a:srgbClr val="1F2A37"/>
                </a:solidFill>
                <a:latin typeface="Calibri"/>
              </a:rPr>
              <a:t>Modèle en étoile et rapport</a:t>
            </a:r>
          </a:p>
          <a:p>
            <a:pPr algn="ctr"/>
            <a:r>
              <a:rPr sz="1600" b="0">
                <a:solidFill>
                  <a:srgbClr val="1F2A37"/>
                </a:solidFill>
                <a:latin typeface="Calibri"/>
              </a:rPr>
              <a:t>Power BI de cinq pages</a:t>
            </a:r>
          </a:p>
        </p:txBody>
      </p:sp>
      <p:sp>
        <p:nvSpPr>
          <p:cNvPr id="16" name="TextBox 15"/>
          <p:cNvSpPr txBox="1"/>
          <p:nvPr/>
        </p:nvSpPr>
        <p:spPr>
          <a:xfrm>
            <a:off x="5440679" y="4251960"/>
            <a:ext cx="640080" cy="731520"/>
          </a:xfrm>
          <a:prstGeom prst="rect">
            <a:avLst/>
          </a:prstGeom>
          <a:noFill/>
        </p:spPr>
        <p:txBody>
          <a:bodyPr wrap="square" anchor="t">
            <a:spAutoFit/>
          </a:bodyPr>
          <a:lstStyle/>
          <a:p>
            <a:pPr algn="l"/>
            <a:r>
              <a:rPr sz="4000" b="1">
                <a:solidFill>
                  <a:srgbClr val="595959"/>
                </a:solidFill>
                <a:latin typeface="Calibri"/>
              </a:rPr>
              <a:t>✓</a:t>
            </a:r>
          </a:p>
        </p:txBody>
      </p:sp>
      <p:sp>
        <p:nvSpPr>
          <p:cNvPr id="17" name="Rectangle 16"/>
          <p:cNvSpPr/>
          <p:nvPr/>
        </p:nvSpPr>
        <p:spPr>
          <a:xfrm rot="21480000">
            <a:off x="6309360" y="1554480"/>
            <a:ext cx="2651760" cy="210312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Sprint 3</a:t>
            </a:r>
          </a:p>
          <a:p>
            <a:pPr algn="ctr"/>
            <a:r>
              <a:rPr sz="1600" b="0">
                <a:solidFill>
                  <a:srgbClr val="1F2A37"/>
                </a:solidFill>
                <a:latin typeface="Calibri"/>
              </a:rPr>
              <a:t>Modèle hybride retenu</a:t>
            </a:r>
          </a:p>
          <a:p>
            <a:pPr algn="ctr"/>
            <a:r>
              <a:rPr sz="1600" b="0">
                <a:solidFill>
                  <a:srgbClr val="1F2A37"/>
                </a:solidFill>
                <a:latin typeface="Calibri"/>
              </a:rPr>
              <a:t>HitRate@7 85 %</a:t>
            </a:r>
          </a:p>
        </p:txBody>
      </p:sp>
      <p:sp>
        <p:nvSpPr>
          <p:cNvPr id="18" name="TextBox 17"/>
          <p:cNvSpPr txBox="1"/>
          <p:nvPr/>
        </p:nvSpPr>
        <p:spPr>
          <a:xfrm>
            <a:off x="8275320" y="2880360"/>
            <a:ext cx="640080" cy="731520"/>
          </a:xfrm>
          <a:prstGeom prst="rect">
            <a:avLst/>
          </a:prstGeom>
          <a:noFill/>
        </p:spPr>
        <p:txBody>
          <a:bodyPr wrap="square" anchor="t">
            <a:spAutoFit/>
          </a:bodyPr>
          <a:lstStyle/>
          <a:p>
            <a:pPr algn="l"/>
            <a:r>
              <a:rPr sz="4000" b="1">
                <a:solidFill>
                  <a:srgbClr val="595959"/>
                </a:solidFill>
                <a:latin typeface="Calibri"/>
              </a:rPr>
              <a:t>✓</a:t>
            </a:r>
          </a:p>
        </p:txBody>
      </p:sp>
      <p:sp>
        <p:nvSpPr>
          <p:cNvPr id="19" name="Rectangle 18"/>
          <p:cNvSpPr/>
          <p:nvPr/>
        </p:nvSpPr>
        <p:spPr>
          <a:xfrm rot="180000">
            <a:off x="9144000" y="2926080"/>
            <a:ext cx="2651760" cy="2103120"/>
          </a:xfrm>
          <a:prstGeom prst="rect">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Sprint 4</a:t>
            </a:r>
          </a:p>
          <a:p>
            <a:pPr algn="ctr"/>
            <a:r>
              <a:rPr sz="1600" b="0">
                <a:solidFill>
                  <a:srgbClr val="1F2A37"/>
                </a:solidFill>
                <a:latin typeface="Calibri"/>
              </a:rPr>
              <a:t>Application TravelBI</a:t>
            </a:r>
          </a:p>
          <a:p>
            <a:pPr algn="ctr"/>
            <a:r>
              <a:rPr sz="1600" b="0">
                <a:solidFill>
                  <a:srgbClr val="1F2A37"/>
                </a:solidFill>
                <a:latin typeface="Calibri"/>
              </a:rPr>
              <a:t>cohérence 40 / 40</a:t>
            </a:r>
          </a:p>
        </p:txBody>
      </p:sp>
      <p:sp>
        <p:nvSpPr>
          <p:cNvPr id="20" name="TextBox 19"/>
          <p:cNvSpPr txBox="1"/>
          <p:nvPr/>
        </p:nvSpPr>
        <p:spPr>
          <a:xfrm>
            <a:off x="11109960" y="4251960"/>
            <a:ext cx="640080" cy="731520"/>
          </a:xfrm>
          <a:prstGeom prst="rect">
            <a:avLst/>
          </a:prstGeom>
          <a:noFill/>
        </p:spPr>
        <p:txBody>
          <a:bodyPr wrap="square" anchor="t">
            <a:spAutoFit/>
          </a:bodyPr>
          <a:lstStyle/>
          <a:p>
            <a:pPr algn="l"/>
            <a:r>
              <a:rPr sz="4000" b="1">
                <a:solidFill>
                  <a:srgbClr val="595959"/>
                </a:solidFill>
                <a:latin typeface="Calibri"/>
              </a:rPr>
              <a:t>✓</a:t>
            </a:r>
          </a:p>
        </p:txBody>
      </p:sp>
      <p:sp>
        <p:nvSpPr>
          <p:cNvPr id="21" name="TextBox 20"/>
          <p:cNvSpPr txBox="1"/>
          <p:nvPr/>
        </p:nvSpPr>
        <p:spPr>
          <a:xfrm>
            <a:off x="457200" y="5577840"/>
            <a:ext cx="11274552" cy="548640"/>
          </a:xfrm>
          <a:prstGeom prst="rect">
            <a:avLst/>
          </a:prstGeom>
          <a:noFill/>
        </p:spPr>
        <p:txBody>
          <a:bodyPr wrap="square" anchor="t">
            <a:spAutoFit/>
          </a:bodyPr>
          <a:lstStyle/>
          <a:p>
            <a:pPr algn="ctr"/>
            <a:r>
              <a:rPr sz="1800" b="1">
                <a:solidFill>
                  <a:srgbClr val="595959"/>
                </a:solidFill>
                <a:latin typeface="Calibri"/>
              </a:rPr>
              <a:t>Des données dispersées à un outil d'aide à la décision utilisable par l'agence</a:t>
            </a:r>
          </a:p>
        </p:txBody>
      </p:sp>
      <p:sp>
        <p:nvSpPr>
          <p:cNvPr id="22" name="TextBox 21"/>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31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36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Contexte</a:t>
            </a:r>
          </a:p>
        </p:txBody>
      </p:sp>
      <p:sp>
        <p:nvSpPr>
          <p:cNvPr id="3" name="Chevron 2"/>
          <p:cNvSpPr/>
          <p:nvPr/>
        </p:nvSpPr>
        <p:spPr>
          <a:xfrm>
            <a:off x="227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Analyse et conception</a:t>
            </a:r>
          </a:p>
        </p:txBody>
      </p:sp>
      <p:sp>
        <p:nvSpPr>
          <p:cNvPr id="4" name="Chevron 3"/>
          <p:cNvSpPr/>
          <p:nvPr/>
        </p:nvSpPr>
        <p:spPr>
          <a:xfrm>
            <a:off x="417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Réalisation</a:t>
            </a:r>
          </a:p>
        </p:txBody>
      </p:sp>
      <p:sp>
        <p:nvSpPr>
          <p:cNvPr id="5" name="Chevron 4"/>
          <p:cNvSpPr/>
          <p:nvPr/>
        </p:nvSpPr>
        <p:spPr>
          <a:xfrm>
            <a:off x="6080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Moteur de recommandation</a:t>
            </a:r>
          </a:p>
        </p:txBody>
      </p:sp>
      <p:sp>
        <p:nvSpPr>
          <p:cNvPr id="6" name="Chevron 5"/>
          <p:cNvSpPr/>
          <p:nvPr/>
        </p:nvSpPr>
        <p:spPr>
          <a:xfrm>
            <a:off x="7985760" y="137160"/>
            <a:ext cx="2069592" cy="566928"/>
          </a:xfrm>
          <a:prstGeom prst="chevron">
            <a:avLst>
              <a:gd name="adj" fmla="val 30000"/>
            </a:avLst>
          </a:prstGeom>
          <a:solidFill>
            <a:srgbClr val="FFFFFF"/>
          </a:solidFill>
          <a:ln w="15875">
            <a:solidFill>
              <a:srgbClr val="E5E7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Démonstration</a:t>
            </a:r>
          </a:p>
        </p:txBody>
      </p:sp>
      <p:sp>
        <p:nvSpPr>
          <p:cNvPr id="7" name="Chevron 6"/>
          <p:cNvSpPr/>
          <p:nvPr/>
        </p:nvSpPr>
        <p:spPr>
          <a:xfrm>
            <a:off x="9890760" y="137160"/>
            <a:ext cx="2069592" cy="566928"/>
          </a:xfrm>
          <a:prstGeom prst="chevron">
            <a:avLst>
              <a:gd name="adj" fmla="val 30000"/>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F2A37"/>
                </a:solidFill>
                <a:latin typeface="Calibri"/>
              </a:rPr>
              <a:t>Conclusion</a:t>
            </a:r>
          </a:p>
        </p:txBody>
      </p:sp>
      <p:sp>
        <p:nvSpPr>
          <p:cNvPr id="8" name="Rectangle 7"/>
          <p:cNvSpPr/>
          <p:nvPr/>
        </p:nvSpPr>
        <p:spPr>
          <a:xfrm>
            <a:off x="457200" y="786384"/>
            <a:ext cx="11274552" cy="18288"/>
          </a:xfrm>
          <a:prstGeom prst="rect">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7200" y="804672"/>
            <a:ext cx="10058400" cy="457200"/>
          </a:xfrm>
          <a:prstGeom prst="rect">
            <a:avLst/>
          </a:prstGeom>
          <a:noFill/>
        </p:spPr>
        <p:txBody>
          <a:bodyPr wrap="square" anchor="t">
            <a:spAutoFit/>
          </a:bodyPr>
          <a:lstStyle/>
          <a:p>
            <a:pPr algn="l"/>
            <a:r>
              <a:rPr sz="2400" b="0">
                <a:solidFill>
                  <a:srgbClr val="595959"/>
                </a:solidFill>
                <a:latin typeface="Arial"/>
              </a:rPr>
              <a:t>Perspectives</a:t>
            </a:r>
          </a:p>
        </p:txBody>
      </p:sp>
      <p:sp>
        <p:nvSpPr>
          <p:cNvPr id="10" name="Rectangle 9"/>
          <p:cNvSpPr/>
          <p:nvPr/>
        </p:nvSpPr>
        <p:spPr>
          <a:xfrm>
            <a:off x="457200" y="6382512"/>
            <a:ext cx="11274552" cy="91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200400" y="6428232"/>
            <a:ext cx="5788152" cy="274320"/>
          </a:xfrm>
          <a:prstGeom prst="rect">
            <a:avLst/>
          </a:prstGeom>
          <a:noFill/>
        </p:spPr>
        <p:txBody>
          <a:bodyPr wrap="square" anchor="t">
            <a:spAutoFit/>
          </a:bodyPr>
          <a:lstStyle/>
          <a:p>
            <a:pPr algn="ctr"/>
            <a:r>
              <a:rPr sz="1000" b="0">
                <a:solidFill>
                  <a:srgbClr val="6B7280"/>
                </a:solidFill>
                <a:latin typeface="Calibri"/>
              </a:rPr>
              <a:t>Système décisionnel et moteur de recommandation de destinations</a:t>
            </a:r>
          </a:p>
        </p:txBody>
      </p:sp>
      <p:pic>
        <p:nvPicPr>
          <p:cNvPr id="12" name="Picture 11" descr="logo.png"/>
          <p:cNvPicPr>
            <a:picLocks noChangeAspect="1"/>
          </p:cNvPicPr>
          <p:nvPr/>
        </p:nvPicPr>
        <p:blipFill>
          <a:blip r:embed="rId3"/>
          <a:stretch>
            <a:fillRect/>
          </a:stretch>
        </p:blipFill>
        <p:spPr>
          <a:xfrm>
            <a:off x="10607040" y="6419088"/>
            <a:ext cx="1097966" cy="365760"/>
          </a:xfrm>
          <a:prstGeom prst="rect">
            <a:avLst/>
          </a:prstGeom>
        </p:spPr>
      </p:pic>
      <p:sp>
        <p:nvSpPr>
          <p:cNvPr id="13" name="Rectangle 12"/>
          <p:cNvSpPr/>
          <p:nvPr/>
        </p:nvSpPr>
        <p:spPr>
          <a:xfrm rot="21420000">
            <a:off x="640080" y="1554480"/>
            <a:ext cx="3291840" cy="182880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Court terme</a:t>
            </a:r>
          </a:p>
          <a:p>
            <a:pPr algn="ctr"/>
            <a:r>
              <a:rPr sz="1600" b="0">
                <a:solidFill>
                  <a:srgbClr val="1F2A37"/>
                </a:solidFill>
                <a:latin typeface="Calibri"/>
              </a:rPr>
              <a:t>Corriger le protocole</a:t>
            </a:r>
          </a:p>
          <a:p>
            <a:pPr algn="ctr"/>
            <a:r>
              <a:rPr sz="1600" b="0">
                <a:solidFill>
                  <a:srgbClr val="1F2A37"/>
                </a:solidFill>
                <a:latin typeface="Calibri"/>
              </a:rPr>
              <a:t>d'évaluation</a:t>
            </a:r>
          </a:p>
        </p:txBody>
      </p:sp>
      <p:sp>
        <p:nvSpPr>
          <p:cNvPr id="14" name="Oval 13"/>
          <p:cNvSpPr/>
          <p:nvPr/>
        </p:nvSpPr>
        <p:spPr>
          <a:xfrm>
            <a:off x="2167128" y="162763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rot="120000">
            <a:off x="1005840" y="3931920"/>
            <a:ext cx="3291840" cy="1828800"/>
          </a:xfrm>
          <a:prstGeom prst="rect">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Long terme</a:t>
            </a:r>
          </a:p>
          <a:p>
            <a:pPr algn="ctr"/>
            <a:r>
              <a:rPr sz="1600" b="0">
                <a:solidFill>
                  <a:srgbClr val="1F2A37"/>
                </a:solidFill>
                <a:latin typeface="Calibri"/>
              </a:rPr>
              <a:t>Collecter l'historique réel</a:t>
            </a:r>
          </a:p>
          <a:p>
            <a:pPr algn="ctr"/>
            <a:r>
              <a:rPr sz="1600" b="0">
                <a:solidFill>
                  <a:srgbClr val="1F2A37"/>
                </a:solidFill>
                <a:latin typeface="Calibri"/>
              </a:rPr>
              <a:t>et réentraîner</a:t>
            </a:r>
          </a:p>
        </p:txBody>
      </p:sp>
      <p:sp>
        <p:nvSpPr>
          <p:cNvPr id="16" name="Oval 15"/>
          <p:cNvSpPr/>
          <p:nvPr/>
        </p:nvSpPr>
        <p:spPr>
          <a:xfrm>
            <a:off x="2532888" y="400507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rot="120000">
            <a:off x="4434840" y="1554480"/>
            <a:ext cx="3291840" cy="182880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Court terme</a:t>
            </a:r>
          </a:p>
          <a:p>
            <a:pPr algn="ctr"/>
            <a:r>
              <a:rPr sz="1600" b="0">
                <a:solidFill>
                  <a:srgbClr val="1F2A37"/>
                </a:solidFill>
                <a:latin typeface="Calibri"/>
              </a:rPr>
              <a:t>Harmoniser les indicateurs</a:t>
            </a:r>
          </a:p>
          <a:p>
            <a:pPr algn="ctr"/>
            <a:r>
              <a:rPr sz="1600" b="0">
                <a:solidFill>
                  <a:srgbClr val="1F2A37"/>
                </a:solidFill>
                <a:latin typeface="Calibri"/>
              </a:rPr>
              <a:t>Power BI et application</a:t>
            </a:r>
          </a:p>
        </p:txBody>
      </p:sp>
      <p:sp>
        <p:nvSpPr>
          <p:cNvPr id="18" name="Oval 17"/>
          <p:cNvSpPr/>
          <p:nvPr/>
        </p:nvSpPr>
        <p:spPr>
          <a:xfrm>
            <a:off x="5961888" y="162763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rot="21480000">
            <a:off x="4800600" y="3931920"/>
            <a:ext cx="3291840" cy="1828800"/>
          </a:xfrm>
          <a:prstGeom prst="rect">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Long terme</a:t>
            </a:r>
          </a:p>
          <a:p>
            <a:pPr algn="ctr"/>
            <a:r>
              <a:rPr sz="1600" b="0">
                <a:solidFill>
                  <a:srgbClr val="1F2A37"/>
                </a:solidFill>
                <a:latin typeface="Calibri"/>
              </a:rPr>
              <a:t>Mise en production</a:t>
            </a:r>
          </a:p>
          <a:p>
            <a:pPr algn="ctr"/>
            <a:r>
              <a:rPr sz="1600" b="0">
                <a:solidFill>
                  <a:srgbClr val="1F2A37"/>
                </a:solidFill>
                <a:latin typeface="Calibri"/>
              </a:rPr>
              <a:t>sur un serveur multi-postes</a:t>
            </a:r>
          </a:p>
        </p:txBody>
      </p:sp>
      <p:sp>
        <p:nvSpPr>
          <p:cNvPr id="20" name="Oval 19"/>
          <p:cNvSpPr/>
          <p:nvPr/>
        </p:nvSpPr>
        <p:spPr>
          <a:xfrm>
            <a:off x="6327648" y="400507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rot="21480000">
            <a:off x="8229600" y="1554480"/>
            <a:ext cx="3291840" cy="182880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Court terme</a:t>
            </a:r>
          </a:p>
          <a:p>
            <a:pPr algn="ctr"/>
            <a:r>
              <a:rPr sz="1600" b="0">
                <a:solidFill>
                  <a:srgbClr val="1F2A37"/>
                </a:solidFill>
                <a:latin typeface="Calibri"/>
              </a:rPr>
              <a:t>Mesurer la diversité</a:t>
            </a:r>
          </a:p>
          <a:p>
            <a:pPr algn="ctr"/>
            <a:r>
              <a:rPr sz="1600" b="0">
                <a:solidFill>
                  <a:srgbClr val="1F2A37"/>
                </a:solidFill>
                <a:latin typeface="Calibri"/>
              </a:rPr>
              <a:t>des recommandations</a:t>
            </a:r>
          </a:p>
        </p:txBody>
      </p:sp>
      <p:sp>
        <p:nvSpPr>
          <p:cNvPr id="22" name="Oval 21"/>
          <p:cNvSpPr/>
          <p:nvPr/>
        </p:nvSpPr>
        <p:spPr>
          <a:xfrm>
            <a:off x="9756648" y="162763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rot="180000">
            <a:off x="8595360" y="3931920"/>
            <a:ext cx="3291840" cy="1828800"/>
          </a:xfrm>
          <a:prstGeom prst="rect">
            <a:avLst/>
          </a:prstGeom>
          <a:solidFill>
            <a:srgbClr val="F39A1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F2A37"/>
                </a:solidFill>
                <a:latin typeface="Calibri"/>
              </a:rPr>
              <a:t>Long terme</a:t>
            </a:r>
          </a:p>
          <a:p>
            <a:pPr algn="ctr"/>
            <a:r>
              <a:rPr sz="1600" b="0">
                <a:solidFill>
                  <a:srgbClr val="1F2A37"/>
                </a:solidFill>
                <a:latin typeface="Calibri"/>
              </a:rPr>
              <a:t>Expérimentation contrôlée</a:t>
            </a:r>
          </a:p>
          <a:p>
            <a:pPr algn="ctr"/>
            <a:r>
              <a:rPr sz="1600" b="0">
                <a:solidFill>
                  <a:srgbClr val="1F2A37"/>
                </a:solidFill>
                <a:latin typeface="Calibri"/>
              </a:rPr>
              <a:t>auprès des clients</a:t>
            </a:r>
          </a:p>
        </p:txBody>
      </p:sp>
      <p:sp>
        <p:nvSpPr>
          <p:cNvPr id="24" name="Oval 23"/>
          <p:cNvSpPr/>
          <p:nvPr/>
        </p:nvSpPr>
        <p:spPr>
          <a:xfrm>
            <a:off x="10122408" y="4005072"/>
            <a:ext cx="237744" cy="23774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457200" y="6428232"/>
            <a:ext cx="1371600" cy="274320"/>
          </a:xfrm>
          <a:prstGeom prst="rect">
            <a:avLst/>
          </a:prstGeom>
          <a:noFill/>
        </p:spPr>
        <p:txBody>
          <a:bodyPr wrap="square" anchor="t">
            <a:spAutoFit/>
          </a:bodyPr>
          <a:lstStyle/>
          <a:p>
            <a:pPr algn="l"/>
            <a:r>
              <a:rPr sz="1000" b="0">
                <a:solidFill>
                  <a:srgbClr val="6B7280"/>
                </a:solidFill>
                <a:latin typeface="Calibri"/>
              </a:rPr>
              <a:t>Page 32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3"/>
          <a:stretch>
            <a:fillRect/>
          </a:stretch>
        </p:blipFill>
        <p:spPr>
          <a:xfrm>
            <a:off x="4023360" y="914400"/>
            <a:ext cx="4117373" cy="1371600"/>
          </a:xfrm>
          <a:prstGeom prst="rect">
            <a:avLst/>
          </a:prstGeom>
        </p:spPr>
      </p:pic>
      <p:sp>
        <p:nvSpPr>
          <p:cNvPr id="3" name="TextBox 2"/>
          <p:cNvSpPr txBox="1"/>
          <p:nvPr/>
        </p:nvSpPr>
        <p:spPr>
          <a:xfrm>
            <a:off x="457200" y="2743200"/>
            <a:ext cx="11274552" cy="914400"/>
          </a:xfrm>
          <a:prstGeom prst="rect">
            <a:avLst/>
          </a:prstGeom>
          <a:noFill/>
        </p:spPr>
        <p:txBody>
          <a:bodyPr wrap="square" anchor="t">
            <a:spAutoFit/>
          </a:bodyPr>
          <a:lstStyle/>
          <a:p>
            <a:pPr algn="ctr"/>
            <a:r>
              <a:rPr sz="4400" b="1">
                <a:solidFill>
                  <a:srgbClr val="595959"/>
                </a:solidFill>
                <a:latin typeface="Arial"/>
              </a:rPr>
              <a:t>Merci pour votre attention</a:t>
            </a:r>
          </a:p>
        </p:txBody>
      </p:sp>
      <p:sp>
        <p:nvSpPr>
          <p:cNvPr id="4" name="TextBox 3"/>
          <p:cNvSpPr txBox="1"/>
          <p:nvPr/>
        </p:nvSpPr>
        <p:spPr>
          <a:xfrm>
            <a:off x="457200" y="5120640"/>
            <a:ext cx="11274552" cy="822960"/>
          </a:xfrm>
          <a:prstGeom prst="rect">
            <a:avLst/>
          </a:prstGeom>
          <a:noFill/>
        </p:spPr>
        <p:txBody>
          <a:bodyPr wrap="square" anchor="t">
            <a:spAutoFit/>
          </a:bodyPr>
          <a:lstStyle/>
          <a:p>
            <a:pPr algn="ctr"/>
            <a:r>
              <a:rPr sz="1500" b="0">
                <a:solidFill>
                  <a:srgbClr val="1F2A37"/>
                </a:solidFill>
                <a:latin typeface="Calibri"/>
              </a:rPr>
              <a:t>Ranim Nabi · Encadrants : M. Sirajeddine Miladi et M. Kamel Kharrat</a:t>
            </a:r>
          </a:p>
          <a:p>
            <a:pPr algn="ctr"/>
            <a:r>
              <a:rPr sz="1500" b="0">
                <a:solidFill>
                  <a:srgbClr val="1F2A37"/>
                </a:solidFill>
                <a:latin typeface="Calibri"/>
              </a:rPr>
              <a:t>2 Go Sunny Tunisia Trip · ESPRIT 2025-2026</a:t>
            </a: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Callout 1"/>
          <p:cNvSpPr/>
          <p:nvPr/>
        </p:nvSpPr>
        <p:spPr>
          <a:xfrm>
            <a:off x="2926080" y="1645920"/>
            <a:ext cx="6309360" cy="3291840"/>
          </a:xfrm>
          <a:prstGeom prst="wedgeEllipseCallout">
            <a:avLst>
              <a:gd name="adj1" fmla="val -30000"/>
              <a:gd name="adj2" fmla="val 70000"/>
            </a:avLst>
          </a:prstGeom>
          <a:solidFill>
            <a:srgbClr val="F39A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5400" b="1">
                <a:solidFill>
                  <a:srgbClr val="1F2A37"/>
                </a:solidFill>
                <a:latin typeface="Calibri"/>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7550</Words>
  <Application>Microsoft Office PowerPoint</Application>
  <PresentationFormat>Widescreen</PresentationFormat>
  <Paragraphs>901</Paragraphs>
  <Slides>33</Slides>
  <Notes>33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Anis Lahmer</cp:lastModifiedBy>
  <cp:revision>5</cp:revision>
  <dcterms:created xsi:type="dcterms:W3CDTF">2013-01-27T09:14:16Z</dcterms:created>
  <dcterms:modified xsi:type="dcterms:W3CDTF">2026-10-09T11:05:04Z</dcterms:modified>
  <cp:category/>
</cp:coreProperties>
</file>