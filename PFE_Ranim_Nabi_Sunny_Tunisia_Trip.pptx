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Je vous présente TravelBI, le système décisionnel que j'ai conçu pour l'agence 2 Go Sunny Tunisia Trip. Son ambition est simple : aider l'agence à mieux piloter son activité et à proposer à chaque client le voyage qui lui correspond.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 présentation suit dix-sept étapes, regroupées en quatre temps : comprendre le besoin de l'agence, concevoir la solution, la réaliser, puis démontrer sa valeur.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Choisir un voyage est un achat rare et personnel. Les clients attendent un conseil sur mesure, et l'agence a besoin de savoir ce qui se vend. Or les données existent : c'est l'opportunité que ce projet saisit.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L'agence 2 Go Sunny Tunisia Trip est basée à Monastir et dirigée par M. Adel Nabi. Elle vend des vols, des hôtels et des forfaits, et s'appuie principalement sur sa page Facebook.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Aujourd'hui, le parcours client tient en quatre étapes : le contact par Facebook ou téléphone, un conseil fondé sur l'expérience de l'agent, la réservation, puis un suivi sans indicateurs.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Cette organisation a quatre limites : une vision client fragmentée, un conseil qui dépend de l'agent présent, un pilotage à l'aveugle et, au final, des ventes manquées.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D'où la question centrale : comment transformer ces données en un outil qui aide l'agence à mieux décider et à proposer le bon voyage à chaque client, y compris à un nouveau client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 réponse, c'est TravelBI : une application unique qui offre trois services. Piloter l'activité pour la direction, recommander les bonnes destinations pour les conseillers, et mieux connaître les clients pour cibler les actions commerciales.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Fonctionnellement, le système doit permettre de suivre et filtrer l'activité, de segmenter la clientèle, de recommander des destinations à un client existant comme à un nouveau client, et d'expliquer chaque recommandation.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Au-delà des fonctions, six qualités étaient attendues : la fiabilité des chiffres, la rapidité, la transparence des conseils, la simplicité d'usage, l'autonomie hors ligne et la confidentialité des données clients.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diagramme de cas d'utilisation montre trois acteurs humains : le directeur, qui pilote ; le conseiller, qui recommande ; et l'analyste, qui prépare les données et les modèles. Power BI Service intervient comme acteur système pour la publication des rapports.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diagramme de classes sépare trois responsabilités : l'interface, avec la fenêtre principale et ses cinq pages ; le moteur de recommandation ; et le module d'indicateurs. Cette séparation permet de tester le calcul indépendamment de l'interface.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J'ai combiné deux démarches. Scrum m'a permis de livrer en quatre sprints, chacun validé avec mon encadrant : des données fiables, des tableaux de bord, le moteur de recommandation, puis l'application. CRISP-DM a structuré tout le travail sur les données, de la compréhension du métier au déploiement.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J'ai privilégié des outils éprouvés et peu coûteux : Python pour les données, trois bibliothèques de gradient boosting pour l'IA, Power BI pour les tableaux de bord, et PyQt6 pour une application de bureau distribuée en exécutable.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L'architecture logique empile cinq couches : les données de l'agence, leur préparation, l'intelligence, avec le moteur de recommandation, la restitution dans Power BI et enfin la présentation dans l'application. Chaque couche peut évoluer indépendamment.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Physiquement, trois éléments : le poste d'analyse, qui entraîne les modèles ; Power BI Service, qui héberge le rapport ; et le poste de l'agence, où TravelBI fonctionne en local, sans serveur à maintenir.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moteur fonctionne comme un conseiller expérimenté : il combine les goûts du client, l'expérience accumulée de l'agence apprise par un modèle LightGBM, et la popularité des destinations. J'ai aussi testé le filtrage par clients similaires, qui n'apportait rien sur ces données. Résultat : pour 85 % des clients, la liste de sept propositions contient au moins une bonne destination, au-delà de l'objectif de 70 %. Ce chiffre a été mesuré sur des données en grande partie reconstituées, et il devra être confirmé sur l'historique réel.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Plusieurs fonctionnalités font la différence au quotidien : conseiller un nouveau client dès sa première visite, donner au conseiller une explication prête à l'emploi pour chaque proposition, identifier les profils de clients à relancer, et ouvrir les rapports Power BI sans quitter l'application. Un contrôle automatique garantit que l'application reproduit exactement les résultats validés.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Place à la démonstration, racontée comme une journée à l'agence : le directeur consulte l'activité, filtre le rapport Power BI, puis un conseiller recommande des destinations à un client fidèle et à un nouveau client. En cas de problème technique, les captures des diapositives précédentes servent de secours.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conclusion, TravelBI apporte à l'agence une activité enfin visible, un conseil personnalisé, une meilleure connaissance de ses clients et un outil prêt à l'emploi. La prochaine étape essentielle est de le brancher sur l'historique réel pour confirmer les performances, puis de mesurer son impact sur les ventes.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Merci de votre attention. Je suis prête à répondre à vos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1.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slideLayout" Target="../slideLayouts/slideLayout1.xml"/><Relationship Id="rId9"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1.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slideLayout" Target="../slideLayouts/slideLayout1.xml"/><Relationship Id="rId9"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slideLayout" Target="../slideLayouts/slideLayout1.xml"/><Relationship Id="rId9"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1.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jp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slideLayout" Target="../slideLayouts/slideLayout1.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image" Target="../media/image-15-7.png"/><Relationship Id="rId8" Type="http://schemas.openxmlformats.org/officeDocument/2006/relationships/slideLayout" Target="../slideLayouts/slideLayout1.xml"/><Relationship Id="rId9"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slideLayout" Target="../slideLayouts/slideLayout1.xml"/><Relationship Id="rId7"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slideLayout" Target="../slideLayouts/slideLayout1.xml"/><Relationship Id="rId7"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jp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slideLayout" Target="../slideLayouts/slideLayout1.xml"/><Relationship Id="rId8"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slideLayout" Target="../slideLayouts/slideLayout1.xml"/><Relationship Id="rId7"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image" Target="../media/image-20-7.png"/><Relationship Id="rId8" Type="http://schemas.openxmlformats.org/officeDocument/2006/relationships/image" Target="../media/image-20-8.png"/><Relationship Id="rId9" Type="http://schemas.openxmlformats.org/officeDocument/2006/relationships/image" Target="../media/image-20-9.png"/><Relationship Id="rId10" Type="http://schemas.openxmlformats.org/officeDocument/2006/relationships/slideLayout" Target="../slideLayouts/slideLayout1.xml"/><Relationship Id="rId11"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21-image-1.pn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48640" y="411480"/>
            <a:ext cx="2011680" cy="658368"/>
          </a:xfrm>
          <a:prstGeom prst="roundRect">
            <a:avLst>
              <a:gd name="adj" fmla="val 16667"/>
            </a:avLst>
          </a:prstGeom>
          <a:solidFill>
            <a:srgbClr val="FFFFFF"/>
          </a:solidFill>
          <a:ln w="12700">
            <a:solidFill>
              <a:srgbClr val="FFFFFF"/>
            </a:solidFill>
            <a:prstDash val="solid"/>
          </a:ln>
        </p:spPr>
      </p:sp>
      <p:pic>
        <p:nvPicPr>
          <p:cNvPr id="3" name="Image 0" descr="assets/esprit.png">    </p:cNvPr>
          <p:cNvPicPr>
            <a:picLocks noChangeAspect="1"/>
          </p:cNvPicPr>
          <p:nvPr/>
        </p:nvPicPr>
        <p:blipFill>
          <a:blip r:embed="rId2"/>
          <a:stretch>
            <a:fillRect/>
          </a:stretch>
        </p:blipFill>
        <p:spPr>
          <a:xfrm>
            <a:off x="658368" y="531301"/>
            <a:ext cx="1792224" cy="418725"/>
          </a:xfrm>
          <a:prstGeom prst="rect">
            <a:avLst/>
          </a:prstGeom>
        </p:spPr>
      </p:pic>
      <p:sp>
        <p:nvSpPr>
          <p:cNvPr id="4" name="Shape 1"/>
          <p:cNvSpPr/>
          <p:nvPr/>
        </p:nvSpPr>
        <p:spPr>
          <a:xfrm>
            <a:off x="2743200" y="411480"/>
            <a:ext cx="2377440" cy="658368"/>
          </a:xfrm>
          <a:prstGeom prst="roundRect">
            <a:avLst>
              <a:gd name="adj" fmla="val 16667"/>
            </a:avLst>
          </a:prstGeom>
          <a:solidFill>
            <a:srgbClr val="FFFFFF"/>
          </a:solidFill>
          <a:ln w="12700">
            <a:solidFill>
              <a:srgbClr val="FFFFFF"/>
            </a:solidFill>
            <a:prstDash val="solid"/>
          </a:ln>
        </p:spPr>
      </p:sp>
      <p:pic>
        <p:nvPicPr>
          <p:cNvPr id="5" name="Image 1" descr="assets/logo_sunny.png">    </p:cNvPr>
          <p:cNvPicPr>
            <a:picLocks noChangeAspect="1"/>
          </p:cNvPicPr>
          <p:nvPr/>
        </p:nvPicPr>
        <p:blipFill>
          <a:blip r:embed="rId3"/>
          <a:stretch>
            <a:fillRect/>
          </a:stretch>
        </p:blipFill>
        <p:spPr>
          <a:xfrm>
            <a:off x="2834640" y="499178"/>
            <a:ext cx="2194560" cy="482973"/>
          </a:xfrm>
          <a:prstGeom prst="rect">
            <a:avLst/>
          </a:prstGeom>
        </p:spPr>
      </p:pic>
      <p:sp>
        <p:nvSpPr>
          <p:cNvPr id="6" name="Text 2"/>
          <p:cNvSpPr txBox="1"/>
          <p:nvPr/>
        </p:nvSpPr>
        <p:spPr>
          <a:xfrm>
            <a:off x="548640" y="1554480"/>
            <a:ext cx="8229600" cy="274320"/>
          </a:xfrm>
          <a:prstGeom prst="rect">
            <a:avLst/>
          </a:prstGeom>
          <a:noFill/>
          <a:ln/>
        </p:spPr>
        <p:txBody>
          <a:bodyPr wrap="square" lIns="0" tIns="0" rIns="0" bIns="0" rtlCol="0" anchor="t"/>
          <a:lstStyle/>
          <a:p>
            <a:pPr indent="0" marL="0">
              <a:buNone/>
            </a:pPr>
            <a:r>
              <a:rPr lang="en-US" sz="1200" b="1" spc="200" kern="0" dirty="0">
                <a:solidFill>
                  <a:srgbClr val="FDB52B"/>
                </a:solidFill>
                <a:latin typeface="Calibri" pitchFamily="34" charset="0"/>
                <a:ea typeface="Calibri" pitchFamily="34" charset="-122"/>
                <a:cs typeface="Calibri" pitchFamily="34" charset="-120"/>
              </a:rPr>
              <a:t>SOUTENANCE DE PROJET DE FIN D'ÉTUDES  ·  DATA SCIENCE</a:t>
            </a:r>
            <a:endParaRPr lang="en-US" sz="1200" dirty="0"/>
          </a:p>
        </p:txBody>
      </p:sp>
      <p:sp>
        <p:nvSpPr>
          <p:cNvPr id="7" name="Text 3"/>
          <p:cNvSpPr txBox="1"/>
          <p:nvPr/>
        </p:nvSpPr>
        <p:spPr>
          <a:xfrm>
            <a:off x="548640" y="1874520"/>
            <a:ext cx="8412480" cy="1463040"/>
          </a:xfrm>
          <a:prstGeom prst="rect">
            <a:avLst/>
          </a:prstGeom>
          <a:noFill/>
          <a:ln/>
        </p:spPr>
        <p:txBody>
          <a:bodyPr wrap="square" lIns="0" tIns="0" rIns="0" bIns="0" rtlCol="0" anchor="t"/>
          <a:lstStyle/>
          <a:p>
            <a:pPr indent="0" marL="0">
              <a:buNone/>
            </a:pPr>
            <a:r>
              <a:rPr lang="en-US" sz="4200" b="1" dirty="0">
                <a:solidFill>
                  <a:srgbClr val="FFFFFF"/>
                </a:solidFill>
                <a:latin typeface="Cambria" pitchFamily="34" charset="0"/>
                <a:ea typeface="Cambria" pitchFamily="34" charset="-122"/>
                <a:cs typeface="Cambria" pitchFamily="34" charset="-120"/>
              </a:rPr>
              <a:t>TravelBI : le bon voyage,</a:t>
            </a:r>
            <a:endParaRPr lang="en-US" sz="4200" dirty="0"/>
          </a:p>
          <a:p>
            <a:pPr indent="0" marL="0">
              <a:buNone/>
            </a:pPr>
            <a:r>
              <a:rPr lang="en-US" sz="4200" b="1" dirty="0">
                <a:solidFill>
                  <a:srgbClr val="FFFFFF"/>
                </a:solidFill>
                <a:latin typeface="Cambria" pitchFamily="34" charset="0"/>
                <a:ea typeface="Cambria" pitchFamily="34" charset="-122"/>
                <a:cs typeface="Cambria" pitchFamily="34" charset="-120"/>
              </a:rPr>
              <a:t>pour chaque client</a:t>
            </a:r>
            <a:endParaRPr lang="en-US" sz="4200" dirty="0"/>
          </a:p>
        </p:txBody>
      </p:sp>
      <p:sp>
        <p:nvSpPr>
          <p:cNvPr id="8" name="Text 4"/>
          <p:cNvSpPr txBox="1"/>
          <p:nvPr/>
        </p:nvSpPr>
        <p:spPr>
          <a:xfrm>
            <a:off x="548640" y="3383280"/>
            <a:ext cx="7863840" cy="685800"/>
          </a:xfrm>
          <a:prstGeom prst="rect">
            <a:avLst/>
          </a:prstGeom>
          <a:noFill/>
          <a:ln/>
        </p:spPr>
        <p:txBody>
          <a:bodyPr wrap="square" lIns="0" tIns="0" rIns="0" bIns="0" rtlCol="0" anchor="t"/>
          <a:lstStyle/>
          <a:p>
            <a:pPr indent="0" marL="0">
              <a:buNone/>
            </a:pPr>
            <a:r>
              <a:rPr lang="en-US" sz="1600" dirty="0">
                <a:solidFill>
                  <a:srgbClr val="CFE3F5"/>
                </a:solidFill>
                <a:latin typeface="Calibri" pitchFamily="34" charset="0"/>
                <a:ea typeface="Calibri" pitchFamily="34" charset="-122"/>
                <a:cs typeface="Calibri" pitchFamily="34" charset="-120"/>
              </a:rPr>
              <a:t>Un système décisionnel intelligent qui aide l'agence à piloter son activité et à proposer à chaque client la destination qui lui correspond</a:t>
            </a:r>
            <a:endParaRPr lang="en-US" sz="1600" dirty="0"/>
          </a:p>
        </p:txBody>
      </p:sp>
      <p:sp>
        <p:nvSpPr>
          <p:cNvPr id="9" name="Text 5"/>
          <p:cNvSpPr txBox="1"/>
          <p:nvPr/>
        </p:nvSpPr>
        <p:spPr>
          <a:xfrm>
            <a:off x="548640" y="4251960"/>
            <a:ext cx="2651760" cy="256032"/>
          </a:xfrm>
          <a:prstGeom prst="rect">
            <a:avLst/>
          </a:prstGeom>
          <a:noFill/>
          <a:ln/>
        </p:spPr>
        <p:txBody>
          <a:bodyPr wrap="square" lIns="0" tIns="0" rIns="0" bIns="0" rtlCol="0" anchor="t"/>
          <a:lstStyle/>
          <a:p>
            <a:pPr indent="0" marL="0">
              <a:buNone/>
            </a:pPr>
            <a:r>
              <a:rPr lang="en-US" sz="1000" b="1" spc="100" kern="0" dirty="0">
                <a:solidFill>
                  <a:srgbClr val="FDB52B"/>
                </a:solidFill>
                <a:latin typeface="Calibri" pitchFamily="34" charset="0"/>
                <a:ea typeface="Calibri" pitchFamily="34" charset="-122"/>
                <a:cs typeface="Calibri" pitchFamily="34" charset="-120"/>
              </a:rPr>
              <a:t>RÉALISÉ PAR</a:t>
            </a:r>
            <a:endParaRPr lang="en-US" sz="1000" dirty="0"/>
          </a:p>
        </p:txBody>
      </p:sp>
      <p:sp>
        <p:nvSpPr>
          <p:cNvPr id="10" name="Text 6"/>
          <p:cNvSpPr txBox="1"/>
          <p:nvPr/>
        </p:nvSpPr>
        <p:spPr>
          <a:xfrm>
            <a:off x="548640" y="4526280"/>
            <a:ext cx="2651760" cy="64008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Ranim Nabi</a:t>
            </a:r>
            <a:endParaRPr lang="en-US" sz="1400" dirty="0"/>
          </a:p>
        </p:txBody>
      </p:sp>
      <p:sp>
        <p:nvSpPr>
          <p:cNvPr id="11" name="Text 7"/>
          <p:cNvSpPr txBox="1"/>
          <p:nvPr/>
        </p:nvSpPr>
        <p:spPr>
          <a:xfrm>
            <a:off x="3383280" y="4251960"/>
            <a:ext cx="2651760" cy="256032"/>
          </a:xfrm>
          <a:prstGeom prst="rect">
            <a:avLst/>
          </a:prstGeom>
          <a:noFill/>
          <a:ln/>
        </p:spPr>
        <p:txBody>
          <a:bodyPr wrap="square" lIns="0" tIns="0" rIns="0" bIns="0" rtlCol="0" anchor="t"/>
          <a:lstStyle/>
          <a:p>
            <a:pPr indent="0" marL="0">
              <a:buNone/>
            </a:pPr>
            <a:r>
              <a:rPr lang="en-US" sz="1000" b="1" spc="100" kern="0" dirty="0">
                <a:solidFill>
                  <a:srgbClr val="FDB52B"/>
                </a:solidFill>
                <a:latin typeface="Calibri" pitchFamily="34" charset="0"/>
                <a:ea typeface="Calibri" pitchFamily="34" charset="-122"/>
                <a:cs typeface="Calibri" pitchFamily="34" charset="-120"/>
              </a:rPr>
              <a:t>ENCADRANTS ESPRIT</a:t>
            </a:r>
            <a:endParaRPr lang="en-US" sz="1000" dirty="0"/>
          </a:p>
        </p:txBody>
      </p:sp>
      <p:sp>
        <p:nvSpPr>
          <p:cNvPr id="12" name="Text 8"/>
          <p:cNvSpPr txBox="1"/>
          <p:nvPr/>
        </p:nvSpPr>
        <p:spPr>
          <a:xfrm>
            <a:off x="3383280" y="4526280"/>
            <a:ext cx="2651760" cy="64008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M. Sirajeddine Miladi</a:t>
            </a:r>
            <a:endParaRPr lang="en-US" sz="1400" dirty="0"/>
          </a:p>
          <a:p>
            <a:pPr indent="0" marL="0">
              <a:buNone/>
            </a:pPr>
            <a:r>
              <a:rPr lang="en-US" sz="1400" dirty="0">
                <a:solidFill>
                  <a:srgbClr val="FFFFFF"/>
                </a:solidFill>
                <a:latin typeface="Calibri" pitchFamily="34" charset="0"/>
                <a:ea typeface="Calibri" pitchFamily="34" charset="-122"/>
                <a:cs typeface="Calibri" pitchFamily="34" charset="-120"/>
              </a:rPr>
              <a:t>Mme Zoulaikha Ouali</a:t>
            </a:r>
            <a:endParaRPr lang="en-US" sz="1400" dirty="0"/>
          </a:p>
        </p:txBody>
      </p:sp>
      <p:sp>
        <p:nvSpPr>
          <p:cNvPr id="13" name="Text 9"/>
          <p:cNvSpPr txBox="1"/>
          <p:nvPr/>
        </p:nvSpPr>
        <p:spPr>
          <a:xfrm>
            <a:off x="6217920" y="4251960"/>
            <a:ext cx="2651760" cy="256032"/>
          </a:xfrm>
          <a:prstGeom prst="rect">
            <a:avLst/>
          </a:prstGeom>
          <a:noFill/>
          <a:ln/>
        </p:spPr>
        <p:txBody>
          <a:bodyPr wrap="square" lIns="0" tIns="0" rIns="0" bIns="0" rtlCol="0" anchor="t"/>
          <a:lstStyle/>
          <a:p>
            <a:pPr indent="0" marL="0">
              <a:buNone/>
            </a:pPr>
            <a:r>
              <a:rPr lang="en-US" sz="1000" b="1" spc="100" kern="0" dirty="0">
                <a:solidFill>
                  <a:srgbClr val="FDB52B"/>
                </a:solidFill>
                <a:latin typeface="Calibri" pitchFamily="34" charset="0"/>
                <a:ea typeface="Calibri" pitchFamily="34" charset="-122"/>
                <a:cs typeface="Calibri" pitchFamily="34" charset="-120"/>
              </a:rPr>
              <a:t>ENCADRANT PROFESSIONNEL</a:t>
            </a:r>
            <a:endParaRPr lang="en-US" sz="1000" dirty="0"/>
          </a:p>
        </p:txBody>
      </p:sp>
      <p:sp>
        <p:nvSpPr>
          <p:cNvPr id="14" name="Text 10"/>
          <p:cNvSpPr txBox="1"/>
          <p:nvPr/>
        </p:nvSpPr>
        <p:spPr>
          <a:xfrm>
            <a:off x="6217920" y="4526280"/>
            <a:ext cx="2651760" cy="64008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M. Kamel Kharrat</a:t>
            </a:r>
            <a:endParaRPr lang="en-US" sz="1400" dirty="0"/>
          </a:p>
        </p:txBody>
      </p:sp>
      <p:sp>
        <p:nvSpPr>
          <p:cNvPr id="15" name="Text 11"/>
          <p:cNvSpPr txBox="1"/>
          <p:nvPr/>
        </p:nvSpPr>
        <p:spPr>
          <a:xfrm>
            <a:off x="548640" y="6355080"/>
            <a:ext cx="4572000" cy="274320"/>
          </a:xfrm>
          <a:prstGeom prst="rect">
            <a:avLst/>
          </a:prstGeom>
          <a:noFill/>
          <a:ln/>
        </p:spPr>
        <p:txBody>
          <a:bodyPr wrap="square" lIns="0" tIns="0" rIns="0" bIns="0" rtlCol="0" anchor="t"/>
          <a:lstStyle/>
          <a:p>
            <a:pPr indent="0" marL="0">
              <a:buNone/>
            </a:pPr>
            <a:r>
              <a:rPr lang="en-US" sz="1100" dirty="0">
                <a:solidFill>
                  <a:srgbClr val="FFFFFF"/>
                </a:solidFill>
                <a:latin typeface="Calibri" pitchFamily="34" charset="0"/>
                <a:ea typeface="Calibri" pitchFamily="34" charset="-122"/>
                <a:cs typeface="Calibri" pitchFamily="34" charset="-120"/>
              </a:rPr>
              <a:t>Année universitaire 2025-2026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772400" cy="274320"/>
          </a:xfrm>
          <a:prstGeom prst="rect">
            <a:avLst/>
          </a:prstGeom>
          <a:noFill/>
          <a:ln/>
        </p:spPr>
        <p:txBody>
          <a:bodyPr wrap="square" lIns="0" tIns="0" rIns="0" bIns="0" rtlCol="0" anchor="t"/>
          <a:lstStyle/>
          <a:p>
            <a:pPr indent="0" marL="0">
              <a:buNone/>
            </a:pPr>
            <a:r>
              <a:rPr lang="en-US" sz="1100" b="1" spc="200" kern="0" dirty="0">
                <a:solidFill>
                  <a:srgbClr val="F39200"/>
                </a:solidFill>
                <a:latin typeface="Calibri" pitchFamily="34" charset="0"/>
                <a:ea typeface="Calibri" pitchFamily="34" charset="-122"/>
                <a:cs typeface="Calibri" pitchFamily="34" charset="-120"/>
              </a:rPr>
              <a:t>SOMMAIRE</a:t>
            </a:r>
            <a:endParaRPr lang="en-US" sz="1100" dirty="0"/>
          </a:p>
        </p:txBody>
      </p:sp>
      <p:sp>
        <p:nvSpPr>
          <p:cNvPr id="3" name="Text 1"/>
          <p:cNvSpPr txBox="1"/>
          <p:nvPr/>
        </p:nvSpPr>
        <p:spPr>
          <a:xfrm>
            <a:off x="548640" y="603504"/>
            <a:ext cx="9326880" cy="685800"/>
          </a:xfrm>
          <a:prstGeom prst="rect">
            <a:avLst/>
          </a:prstGeom>
          <a:noFill/>
          <a:ln/>
        </p:spPr>
        <p:txBody>
          <a:bodyPr wrap="square" lIns="0" tIns="0" rIns="0" bIns="0" rtlCol="0" anchor="ctr"/>
          <a:lstStyle/>
          <a:p>
            <a:pPr indent="0" marL="0">
              <a:buNone/>
            </a:pPr>
            <a:r>
              <a:rPr lang="en-US" sz="3000" b="1" dirty="0">
                <a:solidFill>
                  <a:srgbClr val="0A4A8C"/>
                </a:solidFill>
                <a:latin typeface="Cambria" pitchFamily="34" charset="0"/>
                <a:ea typeface="Cambria" pitchFamily="34" charset="-122"/>
                <a:cs typeface="Cambria" pitchFamily="34" charset="-120"/>
              </a:rPr>
              <a:t>Plan de la présentation</a:t>
            </a:r>
            <a:endParaRPr lang="en-US" sz="3000" dirty="0"/>
          </a:p>
        </p:txBody>
      </p:sp>
      <p:pic>
        <p:nvPicPr>
          <p:cNvPr id="4" name="Image 0" descr="assets/logo_sunny.png">    </p:cNvPr>
          <p:cNvPicPr>
            <a:picLocks noChangeAspect="1"/>
          </p:cNvPicPr>
          <p:nvPr/>
        </p:nvPicPr>
        <p:blipFill>
          <a:blip r:embed="rId1"/>
          <a:stretch>
            <a:fillRect/>
          </a:stretch>
        </p:blipFill>
        <p:spPr>
          <a:xfrm>
            <a:off x="10012680" y="481366"/>
            <a:ext cx="1691640" cy="372291"/>
          </a:xfrm>
          <a:prstGeom prst="rect">
            <a:avLst/>
          </a:prstGeom>
        </p:spPr>
      </p:pic>
      <p:sp>
        <p:nvSpPr>
          <p:cNvPr id="5" name="Text 2"/>
          <p:cNvSpPr txBox="1"/>
          <p:nvPr/>
        </p:nvSpPr>
        <p:spPr>
          <a:xfrm>
            <a:off x="548640" y="6428232"/>
            <a:ext cx="7315200" cy="228600"/>
          </a:xfrm>
          <a:prstGeom prst="rect">
            <a:avLst/>
          </a:prstGeom>
          <a:noFill/>
          <a:ln/>
        </p:spPr>
        <p:txBody>
          <a:bodyPr wrap="square" lIns="0" tIns="0" rIns="0" bIns="0" rtlCol="0" anchor="t"/>
          <a:lstStyle/>
          <a:p>
            <a:pPr indent="0" marL="0">
              <a:buNone/>
            </a:pPr>
            <a:r>
              <a:rPr lang="en-US" sz="900" dirty="0">
                <a:solidFill>
                  <a:srgbClr val="5B6B7F"/>
                </a:solidFill>
                <a:latin typeface="Calibri" pitchFamily="34" charset="0"/>
                <a:ea typeface="Calibri" pitchFamily="34" charset="-122"/>
                <a:cs typeface="Calibri" pitchFamily="34" charset="-120"/>
              </a:rPr>
              <a:t>Ranim Nabi  ·  PFE ESPRIT 2025-2026  ·  2 Go Sunny Tunisia Trip</a:t>
            </a:r>
            <a:endParaRPr lang="en-US" sz="900" dirty="0"/>
          </a:p>
        </p:txBody>
      </p:sp>
      <p:sp>
        <p:nvSpPr>
          <p:cNvPr id="6" name="Shape 3"/>
          <p:cNvSpPr/>
          <p:nvPr/>
        </p:nvSpPr>
        <p:spPr>
          <a:xfrm>
            <a:off x="11320272" y="6364224"/>
            <a:ext cx="347472" cy="347472"/>
          </a:xfrm>
          <a:prstGeom prst="ellipse">
            <a:avLst/>
          </a:prstGeom>
          <a:solidFill>
            <a:srgbClr val="F39200"/>
          </a:solidFill>
          <a:ln w="12700">
            <a:solidFill>
              <a:srgbClr val="F39200"/>
            </a:solidFill>
            <a:prstDash val="solid"/>
          </a:ln>
        </p:spPr>
      </p:sp>
      <p:sp>
        <p:nvSpPr>
          <p:cNvPr id="7" name="Text 4"/>
          <p:cNvSpPr txBox="1"/>
          <p:nvPr/>
        </p:nvSpPr>
        <p:spPr>
          <a:xfrm>
            <a:off x="11320272" y="6364224"/>
            <a:ext cx="347472"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02</a:t>
            </a:r>
            <a:endParaRPr lang="en-US" sz="1000" dirty="0"/>
          </a:p>
        </p:txBody>
      </p:sp>
      <p:sp>
        <p:nvSpPr>
          <p:cNvPr id="8" name="Shape 5"/>
          <p:cNvSpPr/>
          <p:nvPr/>
        </p:nvSpPr>
        <p:spPr>
          <a:xfrm>
            <a:off x="548640" y="1463040"/>
            <a:ext cx="2606040" cy="4663440"/>
          </a:xfrm>
          <a:prstGeom prst="roundRect">
            <a:avLst>
              <a:gd name="adj" fmla="val 4211"/>
            </a:avLst>
          </a:prstGeom>
          <a:solidFill>
            <a:srgbClr val="FEF6E4"/>
          </a:solidFill>
          <a:ln w="12700">
            <a:solidFill>
              <a:srgbClr val="FEF6E4"/>
            </a:solidFill>
            <a:prstDash val="solid"/>
          </a:ln>
          <a:effectLst>
            <a:outerShdw sx="100000" sy="100000" kx="0" ky="0" algn="bl" rotWithShape="0" blurRad="101600" dist="25400" dir="5400000">
              <a:srgbClr val="0A2540">
                <a:alpha val="12000"/>
              </a:srgbClr>
            </a:outerShdw>
          </a:effectLst>
        </p:spPr>
      </p:sp>
      <p:sp>
        <p:nvSpPr>
          <p:cNvPr id="9" name="Text 6"/>
          <p:cNvSpPr txBox="1"/>
          <p:nvPr/>
        </p:nvSpPr>
        <p:spPr>
          <a:xfrm>
            <a:off x="749808" y="1645920"/>
            <a:ext cx="2240280" cy="457200"/>
          </a:xfrm>
          <a:prstGeom prst="rect">
            <a:avLst/>
          </a:prstGeom>
          <a:noFill/>
          <a:ln/>
        </p:spPr>
        <p:txBody>
          <a:bodyPr wrap="square" lIns="0" tIns="0" rIns="0" bIns="0" rtlCol="0" anchor="t"/>
          <a:lstStyle/>
          <a:p>
            <a:pPr indent="0" marL="0">
              <a:buNone/>
            </a:pPr>
            <a:r>
              <a:rPr lang="en-US" sz="1100" b="1" spc="100" kern="0" dirty="0">
                <a:solidFill>
                  <a:srgbClr val="F39200"/>
                </a:solidFill>
                <a:latin typeface="Calibri" pitchFamily="34" charset="0"/>
                <a:ea typeface="Calibri" pitchFamily="34" charset="-122"/>
                <a:cs typeface="Calibri" pitchFamily="34" charset="-120"/>
              </a:rPr>
              <a:t>COMPRENDRE LE BESOIN</a:t>
            </a:r>
            <a:endParaRPr lang="en-US" sz="1100" dirty="0"/>
          </a:p>
        </p:txBody>
      </p:sp>
      <p:sp>
        <p:nvSpPr>
          <p:cNvPr id="10" name="Shape 7"/>
          <p:cNvSpPr/>
          <p:nvPr/>
        </p:nvSpPr>
        <p:spPr>
          <a:xfrm>
            <a:off x="749808" y="2240280"/>
            <a:ext cx="384048" cy="384048"/>
          </a:xfrm>
          <a:prstGeom prst="ellipse">
            <a:avLst/>
          </a:prstGeom>
          <a:solidFill>
            <a:srgbClr val="F39200"/>
          </a:solidFill>
          <a:ln w="12700">
            <a:solidFill>
              <a:srgbClr val="F39200"/>
            </a:solidFill>
            <a:prstDash val="solid"/>
          </a:ln>
        </p:spPr>
      </p:sp>
      <p:sp>
        <p:nvSpPr>
          <p:cNvPr id="11" name="Text 8"/>
          <p:cNvSpPr txBox="1"/>
          <p:nvPr/>
        </p:nvSpPr>
        <p:spPr>
          <a:xfrm>
            <a:off x="749808" y="2240280"/>
            <a:ext cx="384048"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01</a:t>
            </a:r>
            <a:endParaRPr lang="en-US" sz="1000" dirty="0"/>
          </a:p>
        </p:txBody>
      </p:sp>
      <p:sp>
        <p:nvSpPr>
          <p:cNvPr id="12" name="Text 9"/>
          <p:cNvSpPr txBox="1"/>
          <p:nvPr/>
        </p:nvSpPr>
        <p:spPr>
          <a:xfrm>
            <a:off x="1234440" y="2194560"/>
            <a:ext cx="1783080" cy="502920"/>
          </a:xfrm>
          <a:prstGeom prst="rect">
            <a:avLst/>
          </a:prstGeom>
          <a:noFill/>
          <a:ln/>
        </p:spPr>
        <p:txBody>
          <a:bodyPr wrap="square" lIns="0" tIns="0" rIns="0" bIns="0" rtlCol="0" anchor="ctr"/>
          <a:lstStyle/>
          <a:p>
            <a:pPr indent="0" marL="0">
              <a:buNone/>
            </a:pPr>
            <a:r>
              <a:rPr lang="en-US" sz="1300" b="1" dirty="0">
                <a:solidFill>
                  <a:srgbClr val="0A4A8C"/>
                </a:solidFill>
                <a:latin typeface="Calibri" pitchFamily="34" charset="0"/>
                <a:ea typeface="Calibri" pitchFamily="34" charset="-122"/>
                <a:cs typeface="Calibri" pitchFamily="34" charset="-120"/>
              </a:rPr>
              <a:t>Introduction</a:t>
            </a:r>
            <a:endParaRPr lang="en-US" sz="1300" dirty="0"/>
          </a:p>
        </p:txBody>
      </p:sp>
      <p:sp>
        <p:nvSpPr>
          <p:cNvPr id="13" name="Shape 10"/>
          <p:cNvSpPr/>
          <p:nvPr/>
        </p:nvSpPr>
        <p:spPr>
          <a:xfrm>
            <a:off x="749808" y="2880360"/>
            <a:ext cx="384048" cy="384048"/>
          </a:xfrm>
          <a:prstGeom prst="ellipse">
            <a:avLst/>
          </a:prstGeom>
          <a:solidFill>
            <a:srgbClr val="F39200"/>
          </a:solidFill>
          <a:ln w="12700">
            <a:solidFill>
              <a:srgbClr val="F39200"/>
            </a:solidFill>
            <a:prstDash val="solid"/>
          </a:ln>
        </p:spPr>
      </p:sp>
      <p:sp>
        <p:nvSpPr>
          <p:cNvPr id="14" name="Text 11"/>
          <p:cNvSpPr txBox="1"/>
          <p:nvPr/>
        </p:nvSpPr>
        <p:spPr>
          <a:xfrm>
            <a:off x="749808" y="2880360"/>
            <a:ext cx="384048"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02</a:t>
            </a:r>
            <a:endParaRPr lang="en-US" sz="1000" dirty="0"/>
          </a:p>
        </p:txBody>
      </p:sp>
      <p:sp>
        <p:nvSpPr>
          <p:cNvPr id="15" name="Text 12"/>
          <p:cNvSpPr txBox="1"/>
          <p:nvPr/>
        </p:nvSpPr>
        <p:spPr>
          <a:xfrm>
            <a:off x="1234440" y="2834640"/>
            <a:ext cx="1783080" cy="502920"/>
          </a:xfrm>
          <a:prstGeom prst="rect">
            <a:avLst/>
          </a:prstGeom>
          <a:noFill/>
          <a:ln/>
        </p:spPr>
        <p:txBody>
          <a:bodyPr wrap="square" lIns="0" tIns="0" rIns="0" bIns="0" rtlCol="0" anchor="ctr"/>
          <a:lstStyle/>
          <a:p>
            <a:pPr indent="0" marL="0">
              <a:buNone/>
            </a:pPr>
            <a:r>
              <a:rPr lang="en-US" sz="1300" b="1" dirty="0">
                <a:solidFill>
                  <a:srgbClr val="0A4A8C"/>
                </a:solidFill>
                <a:latin typeface="Calibri" pitchFamily="34" charset="0"/>
                <a:ea typeface="Calibri" pitchFamily="34" charset="-122"/>
                <a:cs typeface="Calibri" pitchFamily="34" charset="-120"/>
              </a:rPr>
              <a:t>Organisme d'accueil</a:t>
            </a:r>
            <a:endParaRPr lang="en-US" sz="1300" dirty="0"/>
          </a:p>
        </p:txBody>
      </p:sp>
      <p:sp>
        <p:nvSpPr>
          <p:cNvPr id="16" name="Shape 13"/>
          <p:cNvSpPr/>
          <p:nvPr/>
        </p:nvSpPr>
        <p:spPr>
          <a:xfrm>
            <a:off x="749808" y="3520440"/>
            <a:ext cx="384048" cy="384048"/>
          </a:xfrm>
          <a:prstGeom prst="ellipse">
            <a:avLst/>
          </a:prstGeom>
          <a:solidFill>
            <a:srgbClr val="F39200"/>
          </a:solidFill>
          <a:ln w="12700">
            <a:solidFill>
              <a:srgbClr val="F39200"/>
            </a:solidFill>
            <a:prstDash val="solid"/>
          </a:ln>
        </p:spPr>
      </p:sp>
      <p:sp>
        <p:nvSpPr>
          <p:cNvPr id="17" name="Text 14"/>
          <p:cNvSpPr txBox="1"/>
          <p:nvPr/>
        </p:nvSpPr>
        <p:spPr>
          <a:xfrm>
            <a:off x="749808" y="3520440"/>
            <a:ext cx="384048"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03</a:t>
            </a:r>
            <a:endParaRPr lang="en-US" sz="1000" dirty="0"/>
          </a:p>
        </p:txBody>
      </p:sp>
      <p:sp>
        <p:nvSpPr>
          <p:cNvPr id="18" name="Text 15"/>
          <p:cNvSpPr txBox="1"/>
          <p:nvPr/>
        </p:nvSpPr>
        <p:spPr>
          <a:xfrm>
            <a:off x="1234440" y="3474720"/>
            <a:ext cx="1783080" cy="502920"/>
          </a:xfrm>
          <a:prstGeom prst="rect">
            <a:avLst/>
          </a:prstGeom>
          <a:noFill/>
          <a:ln/>
        </p:spPr>
        <p:txBody>
          <a:bodyPr wrap="square" lIns="0" tIns="0" rIns="0" bIns="0" rtlCol="0" anchor="ctr"/>
          <a:lstStyle/>
          <a:p>
            <a:pPr indent="0" marL="0">
              <a:buNone/>
            </a:pPr>
            <a:r>
              <a:rPr lang="en-US" sz="1300" b="1" dirty="0">
                <a:solidFill>
                  <a:srgbClr val="0A4A8C"/>
                </a:solidFill>
                <a:latin typeface="Calibri" pitchFamily="34" charset="0"/>
                <a:ea typeface="Calibri" pitchFamily="34" charset="-122"/>
                <a:cs typeface="Calibri" pitchFamily="34" charset="-120"/>
              </a:rPr>
              <a:t>Étude de l'existant</a:t>
            </a:r>
            <a:endParaRPr lang="en-US" sz="1300" dirty="0"/>
          </a:p>
        </p:txBody>
      </p:sp>
      <p:sp>
        <p:nvSpPr>
          <p:cNvPr id="19" name="Shape 16"/>
          <p:cNvSpPr/>
          <p:nvPr/>
        </p:nvSpPr>
        <p:spPr>
          <a:xfrm>
            <a:off x="749808" y="4160520"/>
            <a:ext cx="384048" cy="384048"/>
          </a:xfrm>
          <a:prstGeom prst="ellipse">
            <a:avLst/>
          </a:prstGeom>
          <a:solidFill>
            <a:srgbClr val="F39200"/>
          </a:solidFill>
          <a:ln w="12700">
            <a:solidFill>
              <a:srgbClr val="F39200"/>
            </a:solidFill>
            <a:prstDash val="solid"/>
          </a:ln>
        </p:spPr>
      </p:sp>
      <p:sp>
        <p:nvSpPr>
          <p:cNvPr id="20" name="Text 17"/>
          <p:cNvSpPr txBox="1"/>
          <p:nvPr/>
        </p:nvSpPr>
        <p:spPr>
          <a:xfrm>
            <a:off x="749808" y="4160520"/>
            <a:ext cx="384048"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04</a:t>
            </a:r>
            <a:endParaRPr lang="en-US" sz="1000" dirty="0"/>
          </a:p>
        </p:txBody>
      </p:sp>
      <p:sp>
        <p:nvSpPr>
          <p:cNvPr id="21" name="Text 18"/>
          <p:cNvSpPr txBox="1"/>
          <p:nvPr/>
        </p:nvSpPr>
        <p:spPr>
          <a:xfrm>
            <a:off x="1234440" y="4114800"/>
            <a:ext cx="1783080" cy="502920"/>
          </a:xfrm>
          <a:prstGeom prst="rect">
            <a:avLst/>
          </a:prstGeom>
          <a:noFill/>
          <a:ln/>
        </p:spPr>
        <p:txBody>
          <a:bodyPr wrap="square" lIns="0" tIns="0" rIns="0" bIns="0" rtlCol="0" anchor="ctr"/>
          <a:lstStyle/>
          <a:p>
            <a:pPr indent="0" marL="0">
              <a:buNone/>
            </a:pPr>
            <a:r>
              <a:rPr lang="en-US" sz="1300" b="1" dirty="0">
                <a:solidFill>
                  <a:srgbClr val="0A4A8C"/>
                </a:solidFill>
                <a:latin typeface="Calibri" pitchFamily="34" charset="0"/>
                <a:ea typeface="Calibri" pitchFamily="34" charset="-122"/>
                <a:cs typeface="Calibri" pitchFamily="34" charset="-120"/>
              </a:rPr>
              <a:t>Critique de l'existant</a:t>
            </a:r>
            <a:endParaRPr lang="en-US" sz="1300" dirty="0"/>
          </a:p>
        </p:txBody>
      </p:sp>
      <p:sp>
        <p:nvSpPr>
          <p:cNvPr id="22" name="Shape 19"/>
          <p:cNvSpPr/>
          <p:nvPr/>
        </p:nvSpPr>
        <p:spPr>
          <a:xfrm>
            <a:off x="749808" y="4800600"/>
            <a:ext cx="384048" cy="384048"/>
          </a:xfrm>
          <a:prstGeom prst="ellipse">
            <a:avLst/>
          </a:prstGeom>
          <a:solidFill>
            <a:srgbClr val="F39200"/>
          </a:solidFill>
          <a:ln w="12700">
            <a:solidFill>
              <a:srgbClr val="F39200"/>
            </a:solidFill>
            <a:prstDash val="solid"/>
          </a:ln>
        </p:spPr>
      </p:sp>
      <p:sp>
        <p:nvSpPr>
          <p:cNvPr id="23" name="Text 20"/>
          <p:cNvSpPr txBox="1"/>
          <p:nvPr/>
        </p:nvSpPr>
        <p:spPr>
          <a:xfrm>
            <a:off x="749808" y="4800600"/>
            <a:ext cx="384048"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05</a:t>
            </a:r>
            <a:endParaRPr lang="en-US" sz="1000" dirty="0"/>
          </a:p>
        </p:txBody>
      </p:sp>
      <p:sp>
        <p:nvSpPr>
          <p:cNvPr id="24" name="Text 21"/>
          <p:cNvSpPr txBox="1"/>
          <p:nvPr/>
        </p:nvSpPr>
        <p:spPr>
          <a:xfrm>
            <a:off x="1234440" y="4754880"/>
            <a:ext cx="1783080" cy="502920"/>
          </a:xfrm>
          <a:prstGeom prst="rect">
            <a:avLst/>
          </a:prstGeom>
          <a:noFill/>
          <a:ln/>
        </p:spPr>
        <p:txBody>
          <a:bodyPr wrap="square" lIns="0" tIns="0" rIns="0" bIns="0" rtlCol="0" anchor="ctr"/>
          <a:lstStyle/>
          <a:p>
            <a:pPr indent="0" marL="0">
              <a:buNone/>
            </a:pPr>
            <a:r>
              <a:rPr lang="en-US" sz="1300" b="1" dirty="0">
                <a:solidFill>
                  <a:srgbClr val="0A4A8C"/>
                </a:solidFill>
                <a:latin typeface="Calibri" pitchFamily="34" charset="0"/>
                <a:ea typeface="Calibri" pitchFamily="34" charset="-122"/>
                <a:cs typeface="Calibri" pitchFamily="34" charset="-120"/>
              </a:rPr>
              <a:t>Problématique</a:t>
            </a:r>
            <a:endParaRPr lang="en-US" sz="1300" dirty="0"/>
          </a:p>
        </p:txBody>
      </p:sp>
      <p:sp>
        <p:nvSpPr>
          <p:cNvPr id="25" name="Shape 22"/>
          <p:cNvSpPr/>
          <p:nvPr/>
        </p:nvSpPr>
        <p:spPr>
          <a:xfrm>
            <a:off x="749808" y="5440680"/>
            <a:ext cx="384048" cy="384048"/>
          </a:xfrm>
          <a:prstGeom prst="ellipse">
            <a:avLst/>
          </a:prstGeom>
          <a:solidFill>
            <a:srgbClr val="F39200"/>
          </a:solidFill>
          <a:ln w="12700">
            <a:solidFill>
              <a:srgbClr val="F39200"/>
            </a:solidFill>
            <a:prstDash val="solid"/>
          </a:ln>
        </p:spPr>
      </p:sp>
      <p:sp>
        <p:nvSpPr>
          <p:cNvPr id="26" name="Text 23"/>
          <p:cNvSpPr txBox="1"/>
          <p:nvPr/>
        </p:nvSpPr>
        <p:spPr>
          <a:xfrm>
            <a:off x="749808" y="5440680"/>
            <a:ext cx="384048"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06</a:t>
            </a:r>
            <a:endParaRPr lang="en-US" sz="1000" dirty="0"/>
          </a:p>
        </p:txBody>
      </p:sp>
      <p:sp>
        <p:nvSpPr>
          <p:cNvPr id="27" name="Text 24"/>
          <p:cNvSpPr txBox="1"/>
          <p:nvPr/>
        </p:nvSpPr>
        <p:spPr>
          <a:xfrm>
            <a:off x="1234440" y="5394960"/>
            <a:ext cx="1783080" cy="502920"/>
          </a:xfrm>
          <a:prstGeom prst="rect">
            <a:avLst/>
          </a:prstGeom>
          <a:noFill/>
          <a:ln/>
        </p:spPr>
        <p:txBody>
          <a:bodyPr wrap="square" lIns="0" tIns="0" rIns="0" bIns="0" rtlCol="0" anchor="ctr"/>
          <a:lstStyle/>
          <a:p>
            <a:pPr indent="0" marL="0">
              <a:buNone/>
            </a:pPr>
            <a:r>
              <a:rPr lang="en-US" sz="1300" b="1" dirty="0">
                <a:solidFill>
                  <a:srgbClr val="0A4A8C"/>
                </a:solidFill>
                <a:latin typeface="Calibri" pitchFamily="34" charset="0"/>
                <a:ea typeface="Calibri" pitchFamily="34" charset="-122"/>
                <a:cs typeface="Calibri" pitchFamily="34" charset="-120"/>
              </a:rPr>
              <a:t>Solution proposée</a:t>
            </a:r>
            <a:endParaRPr lang="en-US" sz="1300" dirty="0"/>
          </a:p>
        </p:txBody>
      </p:sp>
      <p:sp>
        <p:nvSpPr>
          <p:cNvPr id="28" name="Shape 25"/>
          <p:cNvSpPr/>
          <p:nvPr/>
        </p:nvSpPr>
        <p:spPr>
          <a:xfrm>
            <a:off x="3364992" y="1463040"/>
            <a:ext cx="2606040" cy="4663440"/>
          </a:xfrm>
          <a:prstGeom prst="roundRect">
            <a:avLst>
              <a:gd name="adj" fmla="val 4211"/>
            </a:avLst>
          </a:prstGeom>
          <a:solidFill>
            <a:srgbClr val="EEF5FB"/>
          </a:solidFill>
          <a:ln w="12700">
            <a:solidFill>
              <a:srgbClr val="EEF5FB"/>
            </a:solidFill>
            <a:prstDash val="solid"/>
          </a:ln>
          <a:effectLst>
            <a:outerShdw sx="100000" sy="100000" kx="0" ky="0" algn="bl" rotWithShape="0" blurRad="101600" dist="25400" dir="5400000">
              <a:srgbClr val="0A2540">
                <a:alpha val="12000"/>
              </a:srgbClr>
            </a:outerShdw>
          </a:effectLst>
        </p:spPr>
      </p:sp>
      <p:sp>
        <p:nvSpPr>
          <p:cNvPr id="29" name="Text 26"/>
          <p:cNvSpPr txBox="1"/>
          <p:nvPr/>
        </p:nvSpPr>
        <p:spPr>
          <a:xfrm>
            <a:off x="3566160" y="1645920"/>
            <a:ext cx="2240280" cy="457200"/>
          </a:xfrm>
          <a:prstGeom prst="rect">
            <a:avLst/>
          </a:prstGeom>
          <a:noFill/>
          <a:ln/>
        </p:spPr>
        <p:txBody>
          <a:bodyPr wrap="square" lIns="0" tIns="0" rIns="0" bIns="0" rtlCol="0" anchor="t"/>
          <a:lstStyle/>
          <a:p>
            <a:pPr indent="0" marL="0">
              <a:buNone/>
            </a:pPr>
            <a:r>
              <a:rPr lang="en-US" sz="1100" b="1" spc="100" kern="0" dirty="0">
                <a:solidFill>
                  <a:srgbClr val="0A4A8C"/>
                </a:solidFill>
                <a:latin typeface="Calibri" pitchFamily="34" charset="0"/>
                <a:ea typeface="Calibri" pitchFamily="34" charset="-122"/>
                <a:cs typeface="Calibri" pitchFamily="34" charset="-120"/>
              </a:rPr>
              <a:t>CONCEVOIR LA SOLUTION</a:t>
            </a:r>
            <a:endParaRPr lang="en-US" sz="1100" dirty="0"/>
          </a:p>
        </p:txBody>
      </p:sp>
      <p:sp>
        <p:nvSpPr>
          <p:cNvPr id="30" name="Shape 27"/>
          <p:cNvSpPr/>
          <p:nvPr/>
        </p:nvSpPr>
        <p:spPr>
          <a:xfrm>
            <a:off x="3566160" y="2240280"/>
            <a:ext cx="384048" cy="384048"/>
          </a:xfrm>
          <a:prstGeom prst="ellipse">
            <a:avLst/>
          </a:prstGeom>
          <a:solidFill>
            <a:srgbClr val="0A4A8C"/>
          </a:solidFill>
          <a:ln w="12700">
            <a:solidFill>
              <a:srgbClr val="0A4A8C"/>
            </a:solidFill>
            <a:prstDash val="solid"/>
          </a:ln>
        </p:spPr>
      </p:sp>
      <p:sp>
        <p:nvSpPr>
          <p:cNvPr id="31" name="Text 28"/>
          <p:cNvSpPr txBox="1"/>
          <p:nvPr/>
        </p:nvSpPr>
        <p:spPr>
          <a:xfrm>
            <a:off x="3566160" y="2240280"/>
            <a:ext cx="384048"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07</a:t>
            </a:r>
            <a:endParaRPr lang="en-US" sz="1000" dirty="0"/>
          </a:p>
        </p:txBody>
      </p:sp>
      <p:sp>
        <p:nvSpPr>
          <p:cNvPr id="32" name="Text 29"/>
          <p:cNvSpPr txBox="1"/>
          <p:nvPr/>
        </p:nvSpPr>
        <p:spPr>
          <a:xfrm>
            <a:off x="4050792" y="2194560"/>
            <a:ext cx="1783080" cy="502920"/>
          </a:xfrm>
          <a:prstGeom prst="rect">
            <a:avLst/>
          </a:prstGeom>
          <a:noFill/>
          <a:ln/>
        </p:spPr>
        <p:txBody>
          <a:bodyPr wrap="square" lIns="0" tIns="0" rIns="0" bIns="0" rtlCol="0" anchor="ctr"/>
          <a:lstStyle/>
          <a:p>
            <a:pPr indent="0" marL="0">
              <a:buNone/>
            </a:pPr>
            <a:r>
              <a:rPr lang="en-US" sz="1300" b="1" dirty="0">
                <a:solidFill>
                  <a:srgbClr val="0A4A8C"/>
                </a:solidFill>
                <a:latin typeface="Calibri" pitchFamily="34" charset="0"/>
                <a:ea typeface="Calibri" pitchFamily="34" charset="-122"/>
                <a:cs typeface="Calibri" pitchFamily="34" charset="-120"/>
              </a:rPr>
              <a:t>Besoins fonctionnels</a:t>
            </a:r>
            <a:endParaRPr lang="en-US" sz="1300" dirty="0"/>
          </a:p>
        </p:txBody>
      </p:sp>
      <p:sp>
        <p:nvSpPr>
          <p:cNvPr id="33" name="Shape 30"/>
          <p:cNvSpPr/>
          <p:nvPr/>
        </p:nvSpPr>
        <p:spPr>
          <a:xfrm>
            <a:off x="3566160" y="2880360"/>
            <a:ext cx="384048" cy="384048"/>
          </a:xfrm>
          <a:prstGeom prst="ellipse">
            <a:avLst/>
          </a:prstGeom>
          <a:solidFill>
            <a:srgbClr val="0A4A8C"/>
          </a:solidFill>
          <a:ln w="12700">
            <a:solidFill>
              <a:srgbClr val="0A4A8C"/>
            </a:solidFill>
            <a:prstDash val="solid"/>
          </a:ln>
        </p:spPr>
      </p:sp>
      <p:sp>
        <p:nvSpPr>
          <p:cNvPr id="34" name="Text 31"/>
          <p:cNvSpPr txBox="1"/>
          <p:nvPr/>
        </p:nvSpPr>
        <p:spPr>
          <a:xfrm>
            <a:off x="3566160" y="2880360"/>
            <a:ext cx="384048"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08</a:t>
            </a:r>
            <a:endParaRPr lang="en-US" sz="1000" dirty="0"/>
          </a:p>
        </p:txBody>
      </p:sp>
      <p:sp>
        <p:nvSpPr>
          <p:cNvPr id="35" name="Text 32"/>
          <p:cNvSpPr txBox="1"/>
          <p:nvPr/>
        </p:nvSpPr>
        <p:spPr>
          <a:xfrm>
            <a:off x="4050792" y="2834640"/>
            <a:ext cx="1783080" cy="502920"/>
          </a:xfrm>
          <a:prstGeom prst="rect">
            <a:avLst/>
          </a:prstGeom>
          <a:noFill/>
          <a:ln/>
        </p:spPr>
        <p:txBody>
          <a:bodyPr wrap="square" lIns="0" tIns="0" rIns="0" bIns="0" rtlCol="0" anchor="ctr"/>
          <a:lstStyle/>
          <a:p>
            <a:pPr indent="0" marL="0">
              <a:buNone/>
            </a:pPr>
            <a:r>
              <a:rPr lang="en-US" sz="1300" b="1" dirty="0">
                <a:solidFill>
                  <a:srgbClr val="0A4A8C"/>
                </a:solidFill>
                <a:latin typeface="Calibri" pitchFamily="34" charset="0"/>
                <a:ea typeface="Calibri" pitchFamily="34" charset="-122"/>
                <a:cs typeface="Calibri" pitchFamily="34" charset="-120"/>
              </a:rPr>
              <a:t>Besoins non fonctionnels</a:t>
            </a:r>
            <a:endParaRPr lang="en-US" sz="1300" dirty="0"/>
          </a:p>
        </p:txBody>
      </p:sp>
      <p:sp>
        <p:nvSpPr>
          <p:cNvPr id="36" name="Shape 33"/>
          <p:cNvSpPr/>
          <p:nvPr/>
        </p:nvSpPr>
        <p:spPr>
          <a:xfrm>
            <a:off x="3566160" y="3520440"/>
            <a:ext cx="384048" cy="384048"/>
          </a:xfrm>
          <a:prstGeom prst="ellipse">
            <a:avLst/>
          </a:prstGeom>
          <a:solidFill>
            <a:srgbClr val="0A4A8C"/>
          </a:solidFill>
          <a:ln w="12700">
            <a:solidFill>
              <a:srgbClr val="0A4A8C"/>
            </a:solidFill>
            <a:prstDash val="solid"/>
          </a:ln>
        </p:spPr>
      </p:sp>
      <p:sp>
        <p:nvSpPr>
          <p:cNvPr id="37" name="Text 34"/>
          <p:cNvSpPr txBox="1"/>
          <p:nvPr/>
        </p:nvSpPr>
        <p:spPr>
          <a:xfrm>
            <a:off x="3566160" y="3520440"/>
            <a:ext cx="384048"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09</a:t>
            </a:r>
            <a:endParaRPr lang="en-US" sz="1000" dirty="0"/>
          </a:p>
        </p:txBody>
      </p:sp>
      <p:sp>
        <p:nvSpPr>
          <p:cNvPr id="38" name="Text 35"/>
          <p:cNvSpPr txBox="1"/>
          <p:nvPr/>
        </p:nvSpPr>
        <p:spPr>
          <a:xfrm>
            <a:off x="4050792" y="3474720"/>
            <a:ext cx="1783080" cy="502920"/>
          </a:xfrm>
          <a:prstGeom prst="rect">
            <a:avLst/>
          </a:prstGeom>
          <a:noFill/>
          <a:ln/>
        </p:spPr>
        <p:txBody>
          <a:bodyPr wrap="square" lIns="0" tIns="0" rIns="0" bIns="0" rtlCol="0" anchor="ctr"/>
          <a:lstStyle/>
          <a:p>
            <a:pPr indent="0" marL="0">
              <a:buNone/>
            </a:pPr>
            <a:r>
              <a:rPr lang="en-US" sz="1300" b="1" dirty="0">
                <a:solidFill>
                  <a:srgbClr val="0A4A8C"/>
                </a:solidFill>
                <a:latin typeface="Calibri" pitchFamily="34" charset="0"/>
                <a:ea typeface="Calibri" pitchFamily="34" charset="-122"/>
                <a:cs typeface="Calibri" pitchFamily="34" charset="-120"/>
              </a:rPr>
              <a:t>Diagramme de cas d'utilisation global</a:t>
            </a:r>
            <a:endParaRPr lang="en-US" sz="1300" dirty="0"/>
          </a:p>
        </p:txBody>
      </p:sp>
      <p:sp>
        <p:nvSpPr>
          <p:cNvPr id="39" name="Shape 36"/>
          <p:cNvSpPr/>
          <p:nvPr/>
        </p:nvSpPr>
        <p:spPr>
          <a:xfrm>
            <a:off x="3566160" y="4160520"/>
            <a:ext cx="384048" cy="384048"/>
          </a:xfrm>
          <a:prstGeom prst="ellipse">
            <a:avLst/>
          </a:prstGeom>
          <a:solidFill>
            <a:srgbClr val="0A4A8C"/>
          </a:solidFill>
          <a:ln w="12700">
            <a:solidFill>
              <a:srgbClr val="0A4A8C"/>
            </a:solidFill>
            <a:prstDash val="solid"/>
          </a:ln>
        </p:spPr>
      </p:sp>
      <p:sp>
        <p:nvSpPr>
          <p:cNvPr id="40" name="Text 37"/>
          <p:cNvSpPr txBox="1"/>
          <p:nvPr/>
        </p:nvSpPr>
        <p:spPr>
          <a:xfrm>
            <a:off x="3566160" y="4160520"/>
            <a:ext cx="384048"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10</a:t>
            </a:r>
            <a:endParaRPr lang="en-US" sz="1000" dirty="0"/>
          </a:p>
        </p:txBody>
      </p:sp>
      <p:sp>
        <p:nvSpPr>
          <p:cNvPr id="41" name="Text 38"/>
          <p:cNvSpPr txBox="1"/>
          <p:nvPr/>
        </p:nvSpPr>
        <p:spPr>
          <a:xfrm>
            <a:off x="4050792" y="4114800"/>
            <a:ext cx="1783080" cy="502920"/>
          </a:xfrm>
          <a:prstGeom prst="rect">
            <a:avLst/>
          </a:prstGeom>
          <a:noFill/>
          <a:ln/>
        </p:spPr>
        <p:txBody>
          <a:bodyPr wrap="square" lIns="0" tIns="0" rIns="0" bIns="0" rtlCol="0" anchor="ctr"/>
          <a:lstStyle/>
          <a:p>
            <a:pPr indent="0" marL="0">
              <a:buNone/>
            </a:pPr>
            <a:r>
              <a:rPr lang="en-US" sz="1300" b="1" dirty="0">
                <a:solidFill>
                  <a:srgbClr val="0A4A8C"/>
                </a:solidFill>
                <a:latin typeface="Calibri" pitchFamily="34" charset="0"/>
                <a:ea typeface="Calibri" pitchFamily="34" charset="-122"/>
                <a:cs typeface="Calibri" pitchFamily="34" charset="-120"/>
              </a:rPr>
              <a:t>Diagramme de classes</a:t>
            </a:r>
            <a:endParaRPr lang="en-US" sz="1300" dirty="0"/>
          </a:p>
        </p:txBody>
      </p:sp>
      <p:sp>
        <p:nvSpPr>
          <p:cNvPr id="42" name="Shape 39"/>
          <p:cNvSpPr/>
          <p:nvPr/>
        </p:nvSpPr>
        <p:spPr>
          <a:xfrm>
            <a:off x="6181344" y="1463040"/>
            <a:ext cx="2606040" cy="4663440"/>
          </a:xfrm>
          <a:prstGeom prst="roundRect">
            <a:avLst>
              <a:gd name="adj" fmla="val 4211"/>
            </a:avLst>
          </a:prstGeom>
          <a:solidFill>
            <a:srgbClr val="FEF6E4"/>
          </a:solidFill>
          <a:ln w="12700">
            <a:solidFill>
              <a:srgbClr val="FEF6E4"/>
            </a:solidFill>
            <a:prstDash val="solid"/>
          </a:ln>
          <a:effectLst>
            <a:outerShdw sx="100000" sy="100000" kx="0" ky="0" algn="bl" rotWithShape="0" blurRad="101600" dist="25400" dir="5400000">
              <a:srgbClr val="0A2540">
                <a:alpha val="12000"/>
              </a:srgbClr>
            </a:outerShdw>
          </a:effectLst>
        </p:spPr>
      </p:sp>
      <p:sp>
        <p:nvSpPr>
          <p:cNvPr id="43" name="Text 40"/>
          <p:cNvSpPr txBox="1"/>
          <p:nvPr/>
        </p:nvSpPr>
        <p:spPr>
          <a:xfrm>
            <a:off x="6382512" y="1645920"/>
            <a:ext cx="2240280" cy="457200"/>
          </a:xfrm>
          <a:prstGeom prst="rect">
            <a:avLst/>
          </a:prstGeom>
          <a:noFill/>
          <a:ln/>
        </p:spPr>
        <p:txBody>
          <a:bodyPr wrap="square" lIns="0" tIns="0" rIns="0" bIns="0" rtlCol="0" anchor="t"/>
          <a:lstStyle/>
          <a:p>
            <a:pPr indent="0" marL="0">
              <a:buNone/>
            </a:pPr>
            <a:r>
              <a:rPr lang="en-US" sz="1100" b="1" spc="100" kern="0" dirty="0">
                <a:solidFill>
                  <a:srgbClr val="F39200"/>
                </a:solidFill>
                <a:latin typeface="Calibri" pitchFamily="34" charset="0"/>
                <a:ea typeface="Calibri" pitchFamily="34" charset="-122"/>
                <a:cs typeface="Calibri" pitchFamily="34" charset="-120"/>
              </a:rPr>
              <a:t>RÉALISER</a:t>
            </a:r>
            <a:endParaRPr lang="en-US" sz="1100" dirty="0"/>
          </a:p>
        </p:txBody>
      </p:sp>
      <p:sp>
        <p:nvSpPr>
          <p:cNvPr id="44" name="Shape 41"/>
          <p:cNvSpPr/>
          <p:nvPr/>
        </p:nvSpPr>
        <p:spPr>
          <a:xfrm>
            <a:off x="6382512" y="2240280"/>
            <a:ext cx="384048" cy="384048"/>
          </a:xfrm>
          <a:prstGeom prst="ellipse">
            <a:avLst/>
          </a:prstGeom>
          <a:solidFill>
            <a:srgbClr val="F39200"/>
          </a:solidFill>
          <a:ln w="12700">
            <a:solidFill>
              <a:srgbClr val="F39200"/>
            </a:solidFill>
            <a:prstDash val="solid"/>
          </a:ln>
        </p:spPr>
      </p:sp>
      <p:sp>
        <p:nvSpPr>
          <p:cNvPr id="45" name="Text 42"/>
          <p:cNvSpPr txBox="1"/>
          <p:nvPr/>
        </p:nvSpPr>
        <p:spPr>
          <a:xfrm>
            <a:off x="6382512" y="2240280"/>
            <a:ext cx="384048"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11</a:t>
            </a:r>
            <a:endParaRPr lang="en-US" sz="1000" dirty="0"/>
          </a:p>
        </p:txBody>
      </p:sp>
      <p:sp>
        <p:nvSpPr>
          <p:cNvPr id="46" name="Text 43"/>
          <p:cNvSpPr txBox="1"/>
          <p:nvPr/>
        </p:nvSpPr>
        <p:spPr>
          <a:xfrm>
            <a:off x="6867144" y="2194560"/>
            <a:ext cx="1783080" cy="502920"/>
          </a:xfrm>
          <a:prstGeom prst="rect">
            <a:avLst/>
          </a:prstGeom>
          <a:noFill/>
          <a:ln/>
        </p:spPr>
        <p:txBody>
          <a:bodyPr wrap="square" lIns="0" tIns="0" rIns="0" bIns="0" rtlCol="0" anchor="ctr"/>
          <a:lstStyle/>
          <a:p>
            <a:pPr indent="0" marL="0">
              <a:buNone/>
            </a:pPr>
            <a:r>
              <a:rPr lang="en-US" sz="1300" b="1" dirty="0">
                <a:solidFill>
                  <a:srgbClr val="0A4A8C"/>
                </a:solidFill>
                <a:latin typeface="Calibri" pitchFamily="34" charset="0"/>
                <a:ea typeface="Calibri" pitchFamily="34" charset="-122"/>
                <a:cs typeface="Calibri" pitchFamily="34" charset="-120"/>
              </a:rPr>
              <a:t>Méthodologie de travail</a:t>
            </a:r>
            <a:endParaRPr lang="en-US" sz="1300" dirty="0"/>
          </a:p>
        </p:txBody>
      </p:sp>
      <p:sp>
        <p:nvSpPr>
          <p:cNvPr id="47" name="Shape 44"/>
          <p:cNvSpPr/>
          <p:nvPr/>
        </p:nvSpPr>
        <p:spPr>
          <a:xfrm>
            <a:off x="6382512" y="2880360"/>
            <a:ext cx="384048" cy="384048"/>
          </a:xfrm>
          <a:prstGeom prst="ellipse">
            <a:avLst/>
          </a:prstGeom>
          <a:solidFill>
            <a:srgbClr val="F39200"/>
          </a:solidFill>
          <a:ln w="12700">
            <a:solidFill>
              <a:srgbClr val="F39200"/>
            </a:solidFill>
            <a:prstDash val="solid"/>
          </a:ln>
        </p:spPr>
      </p:sp>
      <p:sp>
        <p:nvSpPr>
          <p:cNvPr id="48" name="Text 45"/>
          <p:cNvSpPr txBox="1"/>
          <p:nvPr/>
        </p:nvSpPr>
        <p:spPr>
          <a:xfrm>
            <a:off x="6382512" y="2880360"/>
            <a:ext cx="384048"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12</a:t>
            </a:r>
            <a:endParaRPr lang="en-US" sz="1000" dirty="0"/>
          </a:p>
        </p:txBody>
      </p:sp>
      <p:sp>
        <p:nvSpPr>
          <p:cNvPr id="49" name="Text 46"/>
          <p:cNvSpPr txBox="1"/>
          <p:nvPr/>
        </p:nvSpPr>
        <p:spPr>
          <a:xfrm>
            <a:off x="6867144" y="2834640"/>
            <a:ext cx="1783080" cy="502920"/>
          </a:xfrm>
          <a:prstGeom prst="rect">
            <a:avLst/>
          </a:prstGeom>
          <a:noFill/>
          <a:ln/>
        </p:spPr>
        <p:txBody>
          <a:bodyPr wrap="square" lIns="0" tIns="0" rIns="0" bIns="0" rtlCol="0" anchor="ctr"/>
          <a:lstStyle/>
          <a:p>
            <a:pPr indent="0" marL="0">
              <a:buNone/>
            </a:pPr>
            <a:r>
              <a:rPr lang="en-US" sz="1300" b="1" dirty="0">
                <a:solidFill>
                  <a:srgbClr val="0A4A8C"/>
                </a:solidFill>
                <a:latin typeface="Calibri" pitchFamily="34" charset="0"/>
                <a:ea typeface="Calibri" pitchFamily="34" charset="-122"/>
                <a:cs typeface="Calibri" pitchFamily="34" charset="-120"/>
              </a:rPr>
              <a:t>Technologies utilisées</a:t>
            </a:r>
            <a:endParaRPr lang="en-US" sz="1300" dirty="0"/>
          </a:p>
        </p:txBody>
      </p:sp>
      <p:sp>
        <p:nvSpPr>
          <p:cNvPr id="50" name="Shape 47"/>
          <p:cNvSpPr/>
          <p:nvPr/>
        </p:nvSpPr>
        <p:spPr>
          <a:xfrm>
            <a:off x="6382512" y="3520440"/>
            <a:ext cx="384048" cy="384048"/>
          </a:xfrm>
          <a:prstGeom prst="ellipse">
            <a:avLst/>
          </a:prstGeom>
          <a:solidFill>
            <a:srgbClr val="F39200"/>
          </a:solidFill>
          <a:ln w="12700">
            <a:solidFill>
              <a:srgbClr val="F39200"/>
            </a:solidFill>
            <a:prstDash val="solid"/>
          </a:ln>
        </p:spPr>
      </p:sp>
      <p:sp>
        <p:nvSpPr>
          <p:cNvPr id="51" name="Text 48"/>
          <p:cNvSpPr txBox="1"/>
          <p:nvPr/>
        </p:nvSpPr>
        <p:spPr>
          <a:xfrm>
            <a:off x="6382512" y="3520440"/>
            <a:ext cx="384048"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13</a:t>
            </a:r>
            <a:endParaRPr lang="en-US" sz="1000" dirty="0"/>
          </a:p>
        </p:txBody>
      </p:sp>
      <p:sp>
        <p:nvSpPr>
          <p:cNvPr id="52" name="Text 49"/>
          <p:cNvSpPr txBox="1"/>
          <p:nvPr/>
        </p:nvSpPr>
        <p:spPr>
          <a:xfrm>
            <a:off x="6867144" y="3474720"/>
            <a:ext cx="1783080" cy="502920"/>
          </a:xfrm>
          <a:prstGeom prst="rect">
            <a:avLst/>
          </a:prstGeom>
          <a:noFill/>
          <a:ln/>
        </p:spPr>
        <p:txBody>
          <a:bodyPr wrap="square" lIns="0" tIns="0" rIns="0" bIns="0" rtlCol="0" anchor="ctr"/>
          <a:lstStyle/>
          <a:p>
            <a:pPr indent="0" marL="0">
              <a:buNone/>
            </a:pPr>
            <a:r>
              <a:rPr lang="en-US" sz="1300" b="1" dirty="0">
                <a:solidFill>
                  <a:srgbClr val="0A4A8C"/>
                </a:solidFill>
                <a:latin typeface="Calibri" pitchFamily="34" charset="0"/>
                <a:ea typeface="Calibri" pitchFamily="34" charset="-122"/>
                <a:cs typeface="Calibri" pitchFamily="34" charset="-120"/>
              </a:rPr>
              <a:t>Architecture logique</a:t>
            </a:r>
            <a:endParaRPr lang="en-US" sz="1300" dirty="0"/>
          </a:p>
        </p:txBody>
      </p:sp>
      <p:sp>
        <p:nvSpPr>
          <p:cNvPr id="53" name="Shape 50"/>
          <p:cNvSpPr/>
          <p:nvPr/>
        </p:nvSpPr>
        <p:spPr>
          <a:xfrm>
            <a:off x="6382512" y="4160520"/>
            <a:ext cx="384048" cy="384048"/>
          </a:xfrm>
          <a:prstGeom prst="ellipse">
            <a:avLst/>
          </a:prstGeom>
          <a:solidFill>
            <a:srgbClr val="F39200"/>
          </a:solidFill>
          <a:ln w="12700">
            <a:solidFill>
              <a:srgbClr val="F39200"/>
            </a:solidFill>
            <a:prstDash val="solid"/>
          </a:ln>
        </p:spPr>
      </p:sp>
      <p:sp>
        <p:nvSpPr>
          <p:cNvPr id="54" name="Text 51"/>
          <p:cNvSpPr txBox="1"/>
          <p:nvPr/>
        </p:nvSpPr>
        <p:spPr>
          <a:xfrm>
            <a:off x="6382512" y="4160520"/>
            <a:ext cx="384048"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14</a:t>
            </a:r>
            <a:endParaRPr lang="en-US" sz="1000" dirty="0"/>
          </a:p>
        </p:txBody>
      </p:sp>
      <p:sp>
        <p:nvSpPr>
          <p:cNvPr id="55" name="Text 52"/>
          <p:cNvSpPr txBox="1"/>
          <p:nvPr/>
        </p:nvSpPr>
        <p:spPr>
          <a:xfrm>
            <a:off x="6867144" y="4114800"/>
            <a:ext cx="1783080" cy="502920"/>
          </a:xfrm>
          <a:prstGeom prst="rect">
            <a:avLst/>
          </a:prstGeom>
          <a:noFill/>
          <a:ln/>
        </p:spPr>
        <p:txBody>
          <a:bodyPr wrap="square" lIns="0" tIns="0" rIns="0" bIns="0" rtlCol="0" anchor="ctr"/>
          <a:lstStyle/>
          <a:p>
            <a:pPr indent="0" marL="0">
              <a:buNone/>
            </a:pPr>
            <a:r>
              <a:rPr lang="en-US" sz="1300" b="1" dirty="0">
                <a:solidFill>
                  <a:srgbClr val="0A4A8C"/>
                </a:solidFill>
                <a:latin typeface="Calibri" pitchFamily="34" charset="0"/>
                <a:ea typeface="Calibri" pitchFamily="34" charset="-122"/>
                <a:cs typeface="Calibri" pitchFamily="34" charset="-120"/>
              </a:rPr>
              <a:t>Architecture physique</a:t>
            </a:r>
            <a:endParaRPr lang="en-US" sz="1300" dirty="0"/>
          </a:p>
        </p:txBody>
      </p:sp>
      <p:sp>
        <p:nvSpPr>
          <p:cNvPr id="56" name="Shape 53"/>
          <p:cNvSpPr/>
          <p:nvPr/>
        </p:nvSpPr>
        <p:spPr>
          <a:xfrm>
            <a:off x="8997696" y="1463040"/>
            <a:ext cx="2606040" cy="4663440"/>
          </a:xfrm>
          <a:prstGeom prst="roundRect">
            <a:avLst>
              <a:gd name="adj" fmla="val 4211"/>
            </a:avLst>
          </a:prstGeom>
          <a:solidFill>
            <a:srgbClr val="EEF5FB"/>
          </a:solidFill>
          <a:ln w="12700">
            <a:solidFill>
              <a:srgbClr val="EEF5FB"/>
            </a:solidFill>
            <a:prstDash val="solid"/>
          </a:ln>
          <a:effectLst>
            <a:outerShdw sx="100000" sy="100000" kx="0" ky="0" algn="bl" rotWithShape="0" blurRad="101600" dist="25400" dir="5400000">
              <a:srgbClr val="0A2540">
                <a:alpha val="12000"/>
              </a:srgbClr>
            </a:outerShdw>
          </a:effectLst>
        </p:spPr>
      </p:sp>
      <p:sp>
        <p:nvSpPr>
          <p:cNvPr id="57" name="Text 54"/>
          <p:cNvSpPr txBox="1"/>
          <p:nvPr/>
        </p:nvSpPr>
        <p:spPr>
          <a:xfrm>
            <a:off x="9198864" y="1645920"/>
            <a:ext cx="2240280" cy="457200"/>
          </a:xfrm>
          <a:prstGeom prst="rect">
            <a:avLst/>
          </a:prstGeom>
          <a:noFill/>
          <a:ln/>
        </p:spPr>
        <p:txBody>
          <a:bodyPr wrap="square" lIns="0" tIns="0" rIns="0" bIns="0" rtlCol="0" anchor="t"/>
          <a:lstStyle/>
          <a:p>
            <a:pPr indent="0" marL="0">
              <a:buNone/>
            </a:pPr>
            <a:r>
              <a:rPr lang="en-US" sz="1100" b="1" spc="100" kern="0" dirty="0">
                <a:solidFill>
                  <a:srgbClr val="0A4A8C"/>
                </a:solidFill>
                <a:latin typeface="Calibri" pitchFamily="34" charset="0"/>
                <a:ea typeface="Calibri" pitchFamily="34" charset="-122"/>
                <a:cs typeface="Calibri" pitchFamily="34" charset="-120"/>
              </a:rPr>
              <a:t>DÉMONTRER LA VALEUR</a:t>
            </a:r>
            <a:endParaRPr lang="en-US" sz="1100" dirty="0"/>
          </a:p>
        </p:txBody>
      </p:sp>
      <p:sp>
        <p:nvSpPr>
          <p:cNvPr id="58" name="Shape 55"/>
          <p:cNvSpPr/>
          <p:nvPr/>
        </p:nvSpPr>
        <p:spPr>
          <a:xfrm>
            <a:off x="9198864" y="2240280"/>
            <a:ext cx="384048" cy="384048"/>
          </a:xfrm>
          <a:prstGeom prst="ellipse">
            <a:avLst/>
          </a:prstGeom>
          <a:solidFill>
            <a:srgbClr val="0A4A8C"/>
          </a:solidFill>
          <a:ln w="12700">
            <a:solidFill>
              <a:srgbClr val="0A4A8C"/>
            </a:solidFill>
            <a:prstDash val="solid"/>
          </a:ln>
        </p:spPr>
      </p:sp>
      <p:sp>
        <p:nvSpPr>
          <p:cNvPr id="59" name="Text 56"/>
          <p:cNvSpPr txBox="1"/>
          <p:nvPr/>
        </p:nvSpPr>
        <p:spPr>
          <a:xfrm>
            <a:off x="9198864" y="2240280"/>
            <a:ext cx="384048"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15</a:t>
            </a:r>
            <a:endParaRPr lang="en-US" sz="1000" dirty="0"/>
          </a:p>
        </p:txBody>
      </p:sp>
      <p:sp>
        <p:nvSpPr>
          <p:cNvPr id="60" name="Text 57"/>
          <p:cNvSpPr txBox="1"/>
          <p:nvPr/>
        </p:nvSpPr>
        <p:spPr>
          <a:xfrm>
            <a:off x="9683496" y="2194560"/>
            <a:ext cx="1783080" cy="502920"/>
          </a:xfrm>
          <a:prstGeom prst="rect">
            <a:avLst/>
          </a:prstGeom>
          <a:noFill/>
          <a:ln/>
        </p:spPr>
        <p:txBody>
          <a:bodyPr wrap="square" lIns="0" tIns="0" rIns="0" bIns="0" rtlCol="0" anchor="ctr"/>
          <a:lstStyle/>
          <a:p>
            <a:pPr indent="0" marL="0">
              <a:buNone/>
            </a:pPr>
            <a:r>
              <a:rPr lang="en-US" sz="1300" b="1" dirty="0">
                <a:solidFill>
                  <a:srgbClr val="0A4A8C"/>
                </a:solidFill>
                <a:latin typeface="Calibri" pitchFamily="34" charset="0"/>
                <a:ea typeface="Calibri" pitchFamily="34" charset="-122"/>
                <a:cs typeface="Calibri" pitchFamily="34" charset="-120"/>
              </a:rPr>
              <a:t>Modèles IA et fonctionnalités avancées</a:t>
            </a:r>
            <a:endParaRPr lang="en-US" sz="1300" dirty="0"/>
          </a:p>
        </p:txBody>
      </p:sp>
      <p:sp>
        <p:nvSpPr>
          <p:cNvPr id="61" name="Shape 58"/>
          <p:cNvSpPr/>
          <p:nvPr/>
        </p:nvSpPr>
        <p:spPr>
          <a:xfrm>
            <a:off x="9198864" y="2880360"/>
            <a:ext cx="384048" cy="384048"/>
          </a:xfrm>
          <a:prstGeom prst="ellipse">
            <a:avLst/>
          </a:prstGeom>
          <a:solidFill>
            <a:srgbClr val="0A4A8C"/>
          </a:solidFill>
          <a:ln w="12700">
            <a:solidFill>
              <a:srgbClr val="0A4A8C"/>
            </a:solidFill>
            <a:prstDash val="solid"/>
          </a:ln>
        </p:spPr>
      </p:sp>
      <p:sp>
        <p:nvSpPr>
          <p:cNvPr id="62" name="Text 59"/>
          <p:cNvSpPr txBox="1"/>
          <p:nvPr/>
        </p:nvSpPr>
        <p:spPr>
          <a:xfrm>
            <a:off x="9198864" y="2880360"/>
            <a:ext cx="384048"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16</a:t>
            </a:r>
            <a:endParaRPr lang="en-US" sz="1000" dirty="0"/>
          </a:p>
        </p:txBody>
      </p:sp>
      <p:sp>
        <p:nvSpPr>
          <p:cNvPr id="63" name="Text 60"/>
          <p:cNvSpPr txBox="1"/>
          <p:nvPr/>
        </p:nvSpPr>
        <p:spPr>
          <a:xfrm>
            <a:off x="9683496" y="2834640"/>
            <a:ext cx="1783080" cy="502920"/>
          </a:xfrm>
          <a:prstGeom prst="rect">
            <a:avLst/>
          </a:prstGeom>
          <a:noFill/>
          <a:ln/>
        </p:spPr>
        <p:txBody>
          <a:bodyPr wrap="square" lIns="0" tIns="0" rIns="0" bIns="0" rtlCol="0" anchor="ctr"/>
          <a:lstStyle/>
          <a:p>
            <a:pPr indent="0" marL="0">
              <a:buNone/>
            </a:pPr>
            <a:r>
              <a:rPr lang="en-US" sz="1300" b="1" dirty="0">
                <a:solidFill>
                  <a:srgbClr val="0A4A8C"/>
                </a:solidFill>
                <a:latin typeface="Calibri" pitchFamily="34" charset="0"/>
                <a:ea typeface="Calibri" pitchFamily="34" charset="-122"/>
                <a:cs typeface="Calibri" pitchFamily="34" charset="-120"/>
              </a:rPr>
              <a:t>Démonstration live</a:t>
            </a:r>
            <a:endParaRPr lang="en-US" sz="1300" dirty="0"/>
          </a:p>
        </p:txBody>
      </p:sp>
      <p:sp>
        <p:nvSpPr>
          <p:cNvPr id="64" name="Shape 61"/>
          <p:cNvSpPr/>
          <p:nvPr/>
        </p:nvSpPr>
        <p:spPr>
          <a:xfrm>
            <a:off x="9198864" y="3520440"/>
            <a:ext cx="384048" cy="384048"/>
          </a:xfrm>
          <a:prstGeom prst="ellipse">
            <a:avLst/>
          </a:prstGeom>
          <a:solidFill>
            <a:srgbClr val="0A4A8C"/>
          </a:solidFill>
          <a:ln w="12700">
            <a:solidFill>
              <a:srgbClr val="0A4A8C"/>
            </a:solidFill>
            <a:prstDash val="solid"/>
          </a:ln>
        </p:spPr>
      </p:sp>
      <p:sp>
        <p:nvSpPr>
          <p:cNvPr id="65" name="Text 62"/>
          <p:cNvSpPr txBox="1"/>
          <p:nvPr/>
        </p:nvSpPr>
        <p:spPr>
          <a:xfrm>
            <a:off x="9198864" y="3520440"/>
            <a:ext cx="384048"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17</a:t>
            </a:r>
            <a:endParaRPr lang="en-US" sz="1000" dirty="0"/>
          </a:p>
        </p:txBody>
      </p:sp>
      <p:sp>
        <p:nvSpPr>
          <p:cNvPr id="66" name="Text 63"/>
          <p:cNvSpPr txBox="1"/>
          <p:nvPr/>
        </p:nvSpPr>
        <p:spPr>
          <a:xfrm>
            <a:off x="9683496" y="3474720"/>
            <a:ext cx="1783080" cy="502920"/>
          </a:xfrm>
          <a:prstGeom prst="rect">
            <a:avLst/>
          </a:prstGeom>
          <a:noFill/>
          <a:ln/>
        </p:spPr>
        <p:txBody>
          <a:bodyPr wrap="square" lIns="0" tIns="0" rIns="0" bIns="0" rtlCol="0" anchor="ctr"/>
          <a:lstStyle/>
          <a:p>
            <a:pPr indent="0" marL="0">
              <a:buNone/>
            </a:pPr>
            <a:r>
              <a:rPr lang="en-US" sz="1300" b="1" dirty="0">
                <a:solidFill>
                  <a:srgbClr val="0A4A8C"/>
                </a:solidFill>
                <a:latin typeface="Calibri" pitchFamily="34" charset="0"/>
                <a:ea typeface="Calibri" pitchFamily="34" charset="-122"/>
                <a:cs typeface="Calibri" pitchFamily="34" charset="-120"/>
              </a:rPr>
              <a:t>Conclusion et perspectives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772400" cy="274320"/>
          </a:xfrm>
          <a:prstGeom prst="rect">
            <a:avLst/>
          </a:prstGeom>
          <a:noFill/>
          <a:ln/>
        </p:spPr>
        <p:txBody>
          <a:bodyPr wrap="square" lIns="0" tIns="0" rIns="0" bIns="0" rtlCol="0" anchor="t"/>
          <a:lstStyle/>
          <a:p>
            <a:pPr indent="0" marL="0">
              <a:buNone/>
            </a:pPr>
            <a:r>
              <a:rPr lang="en-US" sz="1100" b="1" spc="200" kern="0" dirty="0">
                <a:solidFill>
                  <a:srgbClr val="F39200"/>
                </a:solidFill>
                <a:latin typeface="Calibri" pitchFamily="34" charset="0"/>
                <a:ea typeface="Calibri" pitchFamily="34" charset="-122"/>
                <a:cs typeface="Calibri" pitchFamily="34" charset="-120"/>
              </a:rPr>
              <a:t>CONTEXTE</a:t>
            </a:r>
            <a:endParaRPr lang="en-US" sz="1100" dirty="0"/>
          </a:p>
        </p:txBody>
      </p:sp>
      <p:sp>
        <p:nvSpPr>
          <p:cNvPr id="3" name="Text 1"/>
          <p:cNvSpPr txBox="1"/>
          <p:nvPr/>
        </p:nvSpPr>
        <p:spPr>
          <a:xfrm>
            <a:off x="548640" y="603504"/>
            <a:ext cx="9326880" cy="685800"/>
          </a:xfrm>
          <a:prstGeom prst="rect">
            <a:avLst/>
          </a:prstGeom>
          <a:noFill/>
          <a:ln/>
        </p:spPr>
        <p:txBody>
          <a:bodyPr wrap="square" lIns="0" tIns="0" rIns="0" bIns="0" rtlCol="0" anchor="ctr"/>
          <a:lstStyle/>
          <a:p>
            <a:pPr indent="0" marL="0">
              <a:buNone/>
            </a:pPr>
            <a:r>
              <a:rPr lang="en-US" sz="3000" b="1" dirty="0">
                <a:solidFill>
                  <a:srgbClr val="0A4A8C"/>
                </a:solidFill>
                <a:latin typeface="Cambria" pitchFamily="34" charset="0"/>
                <a:ea typeface="Cambria" pitchFamily="34" charset="-122"/>
                <a:cs typeface="Cambria" pitchFamily="34" charset="-120"/>
              </a:rPr>
              <a:t>Introduction</a:t>
            </a:r>
            <a:endParaRPr lang="en-US" sz="3000" dirty="0"/>
          </a:p>
        </p:txBody>
      </p:sp>
      <p:pic>
        <p:nvPicPr>
          <p:cNvPr id="4" name="Image 0" descr="assets/logo_sunny.png">    </p:cNvPr>
          <p:cNvPicPr>
            <a:picLocks noChangeAspect="1"/>
          </p:cNvPicPr>
          <p:nvPr/>
        </p:nvPicPr>
        <p:blipFill>
          <a:blip r:embed="rId1"/>
          <a:stretch>
            <a:fillRect/>
          </a:stretch>
        </p:blipFill>
        <p:spPr>
          <a:xfrm>
            <a:off x="10012680" y="481366"/>
            <a:ext cx="1691640" cy="372291"/>
          </a:xfrm>
          <a:prstGeom prst="rect">
            <a:avLst/>
          </a:prstGeom>
        </p:spPr>
      </p:pic>
      <p:sp>
        <p:nvSpPr>
          <p:cNvPr id="5" name="Text 2"/>
          <p:cNvSpPr txBox="1"/>
          <p:nvPr/>
        </p:nvSpPr>
        <p:spPr>
          <a:xfrm>
            <a:off x="548640" y="6428232"/>
            <a:ext cx="7315200" cy="228600"/>
          </a:xfrm>
          <a:prstGeom prst="rect">
            <a:avLst/>
          </a:prstGeom>
          <a:noFill/>
          <a:ln/>
        </p:spPr>
        <p:txBody>
          <a:bodyPr wrap="square" lIns="0" tIns="0" rIns="0" bIns="0" rtlCol="0" anchor="t"/>
          <a:lstStyle/>
          <a:p>
            <a:pPr indent="0" marL="0">
              <a:buNone/>
            </a:pPr>
            <a:r>
              <a:rPr lang="en-US" sz="900" dirty="0">
                <a:solidFill>
                  <a:srgbClr val="5B6B7F"/>
                </a:solidFill>
                <a:latin typeface="Calibri" pitchFamily="34" charset="0"/>
                <a:ea typeface="Calibri" pitchFamily="34" charset="-122"/>
                <a:cs typeface="Calibri" pitchFamily="34" charset="-120"/>
              </a:rPr>
              <a:t>Ranim Nabi  ·  PFE ESPRIT 2025-2026  ·  2 Go Sunny Tunisia Trip</a:t>
            </a:r>
            <a:endParaRPr lang="en-US" sz="900" dirty="0"/>
          </a:p>
        </p:txBody>
      </p:sp>
      <p:sp>
        <p:nvSpPr>
          <p:cNvPr id="6" name="Shape 3"/>
          <p:cNvSpPr/>
          <p:nvPr/>
        </p:nvSpPr>
        <p:spPr>
          <a:xfrm>
            <a:off x="11320272" y="6364224"/>
            <a:ext cx="347472" cy="347472"/>
          </a:xfrm>
          <a:prstGeom prst="ellipse">
            <a:avLst/>
          </a:prstGeom>
          <a:solidFill>
            <a:srgbClr val="F39200"/>
          </a:solidFill>
          <a:ln w="12700">
            <a:solidFill>
              <a:srgbClr val="F39200"/>
            </a:solidFill>
            <a:prstDash val="solid"/>
          </a:ln>
        </p:spPr>
      </p:sp>
      <p:sp>
        <p:nvSpPr>
          <p:cNvPr id="7" name="Text 4"/>
          <p:cNvSpPr txBox="1"/>
          <p:nvPr/>
        </p:nvSpPr>
        <p:spPr>
          <a:xfrm>
            <a:off x="11320272" y="6364224"/>
            <a:ext cx="347472"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03</a:t>
            </a:r>
            <a:endParaRPr lang="en-US" sz="1000" dirty="0"/>
          </a:p>
        </p:txBody>
      </p:sp>
      <p:sp>
        <p:nvSpPr>
          <p:cNvPr id="8" name="Text 5"/>
          <p:cNvSpPr txBox="1"/>
          <p:nvPr/>
        </p:nvSpPr>
        <p:spPr>
          <a:xfrm>
            <a:off x="548640" y="1463040"/>
            <a:ext cx="11064240" cy="777240"/>
          </a:xfrm>
          <a:prstGeom prst="rect">
            <a:avLst/>
          </a:prstGeom>
          <a:noFill/>
          <a:ln/>
        </p:spPr>
        <p:txBody>
          <a:bodyPr wrap="square" lIns="0" tIns="0" rIns="0" bIns="0" rtlCol="0" anchor="t"/>
          <a:lstStyle/>
          <a:p>
            <a:pPr indent="0" marL="0">
              <a:buNone/>
            </a:pPr>
            <a:r>
              <a:rPr lang="en-US" sz="1700" dirty="0">
                <a:solidFill>
                  <a:srgbClr val="1B2A3A"/>
                </a:solidFill>
                <a:latin typeface="Calibri" pitchFamily="34" charset="0"/>
                <a:ea typeface="Calibri" pitchFamily="34" charset="-122"/>
                <a:cs typeface="Calibri" pitchFamily="34" charset="-120"/>
              </a:rPr>
              <a:t>Choisir une destination est un achat rare, coûteux et très personnel. Le client attend un conseil sur mesure ; l'agence, elle, doit savoir ce qui se vend, quand, et à qui.</a:t>
            </a:r>
            <a:endParaRPr lang="en-US" sz="1700" dirty="0"/>
          </a:p>
        </p:txBody>
      </p:sp>
      <p:sp>
        <p:nvSpPr>
          <p:cNvPr id="9" name="Shape 6"/>
          <p:cNvSpPr/>
          <p:nvPr/>
        </p:nvSpPr>
        <p:spPr>
          <a:xfrm>
            <a:off x="548640" y="2514600"/>
            <a:ext cx="3584448" cy="3566160"/>
          </a:xfrm>
          <a:prstGeom prst="roundRect">
            <a:avLst>
              <a:gd name="adj" fmla="val 3077"/>
            </a:avLst>
          </a:prstGeom>
          <a:solidFill>
            <a:srgbClr val="EEF5FB"/>
          </a:solidFill>
          <a:ln w="12700">
            <a:solidFill>
              <a:srgbClr val="EEF5FB"/>
            </a:solidFill>
            <a:prstDash val="solid"/>
          </a:ln>
          <a:effectLst>
            <a:outerShdw sx="100000" sy="100000" kx="0" ky="0" algn="bl" rotWithShape="0" blurRad="101600" dist="25400" dir="5400000">
              <a:srgbClr val="0A2540">
                <a:alpha val="12000"/>
              </a:srgbClr>
            </a:outerShdw>
          </a:effectLst>
        </p:spPr>
      </p:sp>
      <p:sp>
        <p:nvSpPr>
          <p:cNvPr id="10" name="Shape 7"/>
          <p:cNvSpPr/>
          <p:nvPr/>
        </p:nvSpPr>
        <p:spPr>
          <a:xfrm>
            <a:off x="1883664" y="2788920"/>
            <a:ext cx="914400" cy="914400"/>
          </a:xfrm>
          <a:prstGeom prst="ellipse">
            <a:avLst/>
          </a:prstGeom>
          <a:solidFill>
            <a:srgbClr val="0A4A8C"/>
          </a:solidFill>
          <a:ln w="12700">
            <a:solidFill>
              <a:srgbClr val="0A4A8C"/>
            </a:solidFill>
            <a:prstDash val="solid"/>
          </a:ln>
        </p:spPr>
      </p:sp>
      <p:pic>
        <p:nvPicPr>
          <p:cNvPr id="11" name="Image 1" descr="preencoded.png">    </p:cNvPr>
          <p:cNvPicPr>
            <a:picLocks noChangeAspect="1"/>
          </p:cNvPicPr>
          <p:nvPr/>
        </p:nvPicPr>
        <p:blipFill>
          <a:blip r:embed="rId2"/>
          <a:stretch>
            <a:fillRect/>
          </a:stretch>
        </p:blipFill>
        <p:spPr>
          <a:xfrm>
            <a:off x="2121408" y="3026664"/>
            <a:ext cx="438912" cy="438912"/>
          </a:xfrm>
          <a:prstGeom prst="rect">
            <a:avLst/>
          </a:prstGeom>
        </p:spPr>
      </p:pic>
      <p:sp>
        <p:nvSpPr>
          <p:cNvPr id="12" name="Text 8"/>
          <p:cNvSpPr txBox="1"/>
          <p:nvPr/>
        </p:nvSpPr>
        <p:spPr>
          <a:xfrm>
            <a:off x="777240" y="3886200"/>
            <a:ext cx="3127248" cy="457200"/>
          </a:xfrm>
          <a:prstGeom prst="rect">
            <a:avLst/>
          </a:prstGeom>
          <a:noFill/>
          <a:ln/>
        </p:spPr>
        <p:txBody>
          <a:bodyPr wrap="square" lIns="0" tIns="0" rIns="0" bIns="0" rtlCol="0" anchor="t"/>
          <a:lstStyle/>
          <a:p>
            <a:pPr algn="ctr" indent="0" marL="0">
              <a:buNone/>
            </a:pPr>
            <a:r>
              <a:rPr lang="en-US" sz="2000" b="1" dirty="0">
                <a:solidFill>
                  <a:srgbClr val="0A4A8C"/>
                </a:solidFill>
                <a:latin typeface="Cambria" pitchFamily="34" charset="0"/>
                <a:ea typeface="Cambria" pitchFamily="34" charset="-122"/>
                <a:cs typeface="Cambria" pitchFamily="34" charset="-120"/>
              </a:rPr>
              <a:t>Des clients exigeants</a:t>
            </a:r>
            <a:endParaRPr lang="en-US" sz="2000" dirty="0"/>
          </a:p>
        </p:txBody>
      </p:sp>
      <p:sp>
        <p:nvSpPr>
          <p:cNvPr id="13" name="Text 9"/>
          <p:cNvSpPr txBox="1"/>
          <p:nvPr/>
        </p:nvSpPr>
        <p:spPr>
          <a:xfrm>
            <a:off x="868680" y="4434840"/>
            <a:ext cx="2944368" cy="1371600"/>
          </a:xfrm>
          <a:prstGeom prst="rect">
            <a:avLst/>
          </a:prstGeom>
          <a:noFill/>
          <a:ln/>
        </p:spPr>
        <p:txBody>
          <a:bodyPr wrap="square" lIns="0" tIns="0" rIns="0" bIns="0" rtlCol="0" anchor="t"/>
          <a:lstStyle/>
          <a:p>
            <a:pPr algn="ctr" indent="0" marL="0">
              <a:buNone/>
            </a:pPr>
            <a:r>
              <a:rPr lang="en-US" sz="1400" dirty="0">
                <a:solidFill>
                  <a:srgbClr val="5B6B7F"/>
                </a:solidFill>
                <a:latin typeface="Calibri" pitchFamily="34" charset="0"/>
                <a:ea typeface="Calibri" pitchFamily="34" charset="-122"/>
                <a:cs typeface="Calibri" pitchFamily="34" charset="-120"/>
              </a:rPr>
              <a:t>Ils comparent les offres en ligne et attendent une proposition qui leur ressemble</a:t>
            </a:r>
            <a:endParaRPr lang="en-US" sz="1400" dirty="0"/>
          </a:p>
        </p:txBody>
      </p:sp>
      <p:sp>
        <p:nvSpPr>
          <p:cNvPr id="14" name="Shape 10"/>
          <p:cNvSpPr/>
          <p:nvPr/>
        </p:nvSpPr>
        <p:spPr>
          <a:xfrm>
            <a:off x="4297680" y="2514600"/>
            <a:ext cx="3584448" cy="3566160"/>
          </a:xfrm>
          <a:prstGeom prst="roundRect">
            <a:avLst>
              <a:gd name="adj" fmla="val 3077"/>
            </a:avLst>
          </a:prstGeom>
          <a:solidFill>
            <a:srgbClr val="FEF6E4"/>
          </a:solidFill>
          <a:ln w="12700">
            <a:solidFill>
              <a:srgbClr val="FEF6E4"/>
            </a:solidFill>
            <a:prstDash val="solid"/>
          </a:ln>
          <a:effectLst>
            <a:outerShdw sx="100000" sy="100000" kx="0" ky="0" algn="bl" rotWithShape="0" blurRad="101600" dist="25400" dir="5400000">
              <a:srgbClr val="0A2540">
                <a:alpha val="12000"/>
              </a:srgbClr>
            </a:outerShdw>
          </a:effectLst>
        </p:spPr>
      </p:sp>
      <p:sp>
        <p:nvSpPr>
          <p:cNvPr id="15" name="Shape 11"/>
          <p:cNvSpPr/>
          <p:nvPr/>
        </p:nvSpPr>
        <p:spPr>
          <a:xfrm>
            <a:off x="5632704" y="2788920"/>
            <a:ext cx="914400" cy="914400"/>
          </a:xfrm>
          <a:prstGeom prst="ellipse">
            <a:avLst/>
          </a:prstGeom>
          <a:solidFill>
            <a:srgbClr val="F39200"/>
          </a:solidFill>
          <a:ln w="12700">
            <a:solidFill>
              <a:srgbClr val="F39200"/>
            </a:solidFill>
            <a:prstDash val="solid"/>
          </a:ln>
        </p:spPr>
      </p:sp>
      <p:pic>
        <p:nvPicPr>
          <p:cNvPr id="16" name="Image 2" descr="preencoded.png">    </p:cNvPr>
          <p:cNvPicPr>
            <a:picLocks noChangeAspect="1"/>
          </p:cNvPicPr>
          <p:nvPr/>
        </p:nvPicPr>
        <p:blipFill>
          <a:blip r:embed="rId3"/>
          <a:stretch>
            <a:fillRect/>
          </a:stretch>
        </p:blipFill>
        <p:spPr>
          <a:xfrm>
            <a:off x="5870448" y="3026664"/>
            <a:ext cx="438912" cy="438912"/>
          </a:xfrm>
          <a:prstGeom prst="rect">
            <a:avLst/>
          </a:prstGeom>
        </p:spPr>
      </p:pic>
      <p:sp>
        <p:nvSpPr>
          <p:cNvPr id="17" name="Text 12"/>
          <p:cNvSpPr txBox="1"/>
          <p:nvPr/>
        </p:nvSpPr>
        <p:spPr>
          <a:xfrm>
            <a:off x="4526280" y="3886200"/>
            <a:ext cx="3127248" cy="457200"/>
          </a:xfrm>
          <a:prstGeom prst="rect">
            <a:avLst/>
          </a:prstGeom>
          <a:noFill/>
          <a:ln/>
        </p:spPr>
        <p:txBody>
          <a:bodyPr wrap="square" lIns="0" tIns="0" rIns="0" bIns="0" rtlCol="0" anchor="t"/>
          <a:lstStyle/>
          <a:p>
            <a:pPr algn="ctr" indent="0" marL="0">
              <a:buNone/>
            </a:pPr>
            <a:r>
              <a:rPr lang="en-US" sz="2000" b="1" dirty="0">
                <a:solidFill>
                  <a:srgbClr val="0A4A8C"/>
                </a:solidFill>
                <a:latin typeface="Cambria" pitchFamily="34" charset="0"/>
                <a:ea typeface="Cambria" pitchFamily="34" charset="-122"/>
                <a:cs typeface="Cambria" pitchFamily="34" charset="-120"/>
              </a:rPr>
              <a:t>Des données inexploitées</a:t>
            </a:r>
            <a:endParaRPr lang="en-US" sz="2000" dirty="0"/>
          </a:p>
        </p:txBody>
      </p:sp>
      <p:sp>
        <p:nvSpPr>
          <p:cNvPr id="18" name="Text 13"/>
          <p:cNvSpPr txBox="1"/>
          <p:nvPr/>
        </p:nvSpPr>
        <p:spPr>
          <a:xfrm>
            <a:off x="4617720" y="4434840"/>
            <a:ext cx="2944368" cy="1371600"/>
          </a:xfrm>
          <a:prstGeom prst="rect">
            <a:avLst/>
          </a:prstGeom>
          <a:noFill/>
          <a:ln/>
        </p:spPr>
        <p:txBody>
          <a:bodyPr wrap="square" lIns="0" tIns="0" rIns="0" bIns="0" rtlCol="0" anchor="t"/>
          <a:lstStyle/>
          <a:p>
            <a:pPr algn="ctr" indent="0" marL="0">
              <a:buNone/>
            </a:pPr>
            <a:r>
              <a:rPr lang="en-US" sz="1400" dirty="0">
                <a:solidFill>
                  <a:srgbClr val="5B6B7F"/>
                </a:solidFill>
                <a:latin typeface="Calibri" pitchFamily="34" charset="0"/>
                <a:ea typeface="Calibri" pitchFamily="34" charset="-122"/>
                <a:cs typeface="Calibri" pitchFamily="34" charset="-120"/>
              </a:rPr>
              <a:t>Clients, réservations, destinations : une mine d'informations qui dort</a:t>
            </a:r>
            <a:endParaRPr lang="en-US" sz="1400" dirty="0"/>
          </a:p>
        </p:txBody>
      </p:sp>
      <p:sp>
        <p:nvSpPr>
          <p:cNvPr id="19" name="Shape 14"/>
          <p:cNvSpPr/>
          <p:nvPr/>
        </p:nvSpPr>
        <p:spPr>
          <a:xfrm>
            <a:off x="8046720" y="2514600"/>
            <a:ext cx="3584448" cy="3566160"/>
          </a:xfrm>
          <a:prstGeom prst="roundRect">
            <a:avLst>
              <a:gd name="adj" fmla="val 3077"/>
            </a:avLst>
          </a:prstGeom>
          <a:solidFill>
            <a:srgbClr val="0A4A8C"/>
          </a:solidFill>
          <a:ln w="12700">
            <a:solidFill>
              <a:srgbClr val="0A4A8C"/>
            </a:solidFill>
            <a:prstDash val="solid"/>
          </a:ln>
          <a:effectLst>
            <a:outerShdw sx="100000" sy="100000" kx="0" ky="0" algn="bl" rotWithShape="0" blurRad="101600" dist="25400" dir="5400000">
              <a:srgbClr val="0A2540">
                <a:alpha val="12000"/>
              </a:srgbClr>
            </a:outerShdw>
          </a:effectLst>
        </p:spPr>
      </p:sp>
      <p:sp>
        <p:nvSpPr>
          <p:cNvPr id="20" name="Shape 15"/>
          <p:cNvSpPr/>
          <p:nvPr/>
        </p:nvSpPr>
        <p:spPr>
          <a:xfrm>
            <a:off x="9381744" y="2788920"/>
            <a:ext cx="914400" cy="914400"/>
          </a:xfrm>
          <a:prstGeom prst="ellipse">
            <a:avLst/>
          </a:prstGeom>
          <a:solidFill>
            <a:srgbClr val="F39200"/>
          </a:solidFill>
          <a:ln w="12700">
            <a:solidFill>
              <a:srgbClr val="F39200"/>
            </a:solidFill>
            <a:prstDash val="solid"/>
          </a:ln>
        </p:spPr>
      </p:sp>
      <p:pic>
        <p:nvPicPr>
          <p:cNvPr id="21" name="Image 3" descr="preencoded.png">    </p:cNvPr>
          <p:cNvPicPr>
            <a:picLocks noChangeAspect="1"/>
          </p:cNvPicPr>
          <p:nvPr/>
        </p:nvPicPr>
        <p:blipFill>
          <a:blip r:embed="rId4"/>
          <a:stretch>
            <a:fillRect/>
          </a:stretch>
        </p:blipFill>
        <p:spPr>
          <a:xfrm>
            <a:off x="9619488" y="3026664"/>
            <a:ext cx="438912" cy="438912"/>
          </a:xfrm>
          <a:prstGeom prst="rect">
            <a:avLst/>
          </a:prstGeom>
        </p:spPr>
      </p:pic>
      <p:sp>
        <p:nvSpPr>
          <p:cNvPr id="22" name="Text 16"/>
          <p:cNvSpPr txBox="1"/>
          <p:nvPr/>
        </p:nvSpPr>
        <p:spPr>
          <a:xfrm>
            <a:off x="8275320" y="3886200"/>
            <a:ext cx="3127248" cy="457200"/>
          </a:xfrm>
          <a:prstGeom prst="rect">
            <a:avLst/>
          </a:prstGeom>
          <a:noFill/>
          <a:ln/>
        </p:spPr>
        <p:txBody>
          <a:bodyPr wrap="square" lIns="0" tIns="0" rIns="0" bIns="0" rtlCol="0" anchor="t"/>
          <a:lstStyle/>
          <a:p>
            <a:pPr algn="ctr" indent="0" marL="0">
              <a:buNone/>
            </a:pPr>
            <a:r>
              <a:rPr lang="en-US" sz="2000" b="1" dirty="0">
                <a:solidFill>
                  <a:srgbClr val="FFFFFF"/>
                </a:solidFill>
                <a:latin typeface="Cambria" pitchFamily="34" charset="0"/>
                <a:ea typeface="Cambria" pitchFamily="34" charset="-122"/>
                <a:cs typeface="Cambria" pitchFamily="34" charset="-120"/>
              </a:rPr>
              <a:t>Une opportunité</a:t>
            </a:r>
            <a:endParaRPr lang="en-US" sz="2000" dirty="0"/>
          </a:p>
        </p:txBody>
      </p:sp>
      <p:sp>
        <p:nvSpPr>
          <p:cNvPr id="23" name="Text 17"/>
          <p:cNvSpPr txBox="1"/>
          <p:nvPr/>
        </p:nvSpPr>
        <p:spPr>
          <a:xfrm>
            <a:off x="8366760" y="4434840"/>
            <a:ext cx="2944368" cy="1371600"/>
          </a:xfrm>
          <a:prstGeom prst="rect">
            <a:avLst/>
          </a:prstGeom>
          <a:noFill/>
          <a:ln/>
        </p:spPr>
        <p:txBody>
          <a:bodyPr wrap="square" lIns="0" tIns="0" rIns="0" bIns="0" rtlCol="0" anchor="t"/>
          <a:lstStyle/>
          <a:p>
            <a:pPr algn="ctr" indent="0" marL="0">
              <a:buNone/>
            </a:pPr>
            <a:r>
              <a:rPr lang="en-US" sz="1400" dirty="0">
                <a:solidFill>
                  <a:srgbClr val="CFE3F5"/>
                </a:solidFill>
                <a:latin typeface="Calibri" pitchFamily="34" charset="0"/>
                <a:ea typeface="Calibri" pitchFamily="34" charset="-122"/>
                <a:cs typeface="Calibri" pitchFamily="34" charset="-120"/>
              </a:rPr>
              <a:t>Transformer ces données en décisions et en ventes grâce à la BI et à l'IA</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772400" cy="274320"/>
          </a:xfrm>
          <a:prstGeom prst="rect">
            <a:avLst/>
          </a:prstGeom>
          <a:noFill/>
          <a:ln/>
        </p:spPr>
        <p:txBody>
          <a:bodyPr wrap="square" lIns="0" tIns="0" rIns="0" bIns="0" rtlCol="0" anchor="t"/>
          <a:lstStyle/>
          <a:p>
            <a:pPr indent="0" marL="0">
              <a:buNone/>
            </a:pPr>
            <a:r>
              <a:rPr lang="en-US" sz="1100" b="1" spc="200" kern="0" dirty="0">
                <a:solidFill>
                  <a:srgbClr val="F39200"/>
                </a:solidFill>
                <a:latin typeface="Calibri" pitchFamily="34" charset="0"/>
                <a:ea typeface="Calibri" pitchFamily="34" charset="-122"/>
                <a:cs typeface="Calibri" pitchFamily="34" charset="-120"/>
              </a:rPr>
              <a:t>CONTEXTE</a:t>
            </a:r>
            <a:endParaRPr lang="en-US" sz="1100" dirty="0"/>
          </a:p>
        </p:txBody>
      </p:sp>
      <p:sp>
        <p:nvSpPr>
          <p:cNvPr id="3" name="Text 1"/>
          <p:cNvSpPr txBox="1"/>
          <p:nvPr/>
        </p:nvSpPr>
        <p:spPr>
          <a:xfrm>
            <a:off x="548640" y="603504"/>
            <a:ext cx="9326880" cy="685800"/>
          </a:xfrm>
          <a:prstGeom prst="rect">
            <a:avLst/>
          </a:prstGeom>
          <a:noFill/>
          <a:ln/>
        </p:spPr>
        <p:txBody>
          <a:bodyPr wrap="square" lIns="0" tIns="0" rIns="0" bIns="0" rtlCol="0" anchor="ctr"/>
          <a:lstStyle/>
          <a:p>
            <a:pPr indent="0" marL="0">
              <a:buNone/>
            </a:pPr>
            <a:r>
              <a:rPr lang="en-US" sz="3000" b="1" dirty="0">
                <a:solidFill>
                  <a:srgbClr val="0A4A8C"/>
                </a:solidFill>
                <a:latin typeface="Cambria" pitchFamily="34" charset="0"/>
                <a:ea typeface="Cambria" pitchFamily="34" charset="-122"/>
                <a:cs typeface="Cambria" pitchFamily="34" charset="-120"/>
              </a:rPr>
              <a:t>Organisme d'accueil</a:t>
            </a:r>
            <a:endParaRPr lang="en-US" sz="3000" dirty="0"/>
          </a:p>
        </p:txBody>
      </p:sp>
      <p:pic>
        <p:nvPicPr>
          <p:cNvPr id="4" name="Image 0" descr="assets/logo_sunny.png">    </p:cNvPr>
          <p:cNvPicPr>
            <a:picLocks noChangeAspect="1"/>
          </p:cNvPicPr>
          <p:nvPr/>
        </p:nvPicPr>
        <p:blipFill>
          <a:blip r:embed="rId1"/>
          <a:stretch>
            <a:fillRect/>
          </a:stretch>
        </p:blipFill>
        <p:spPr>
          <a:xfrm>
            <a:off x="10012680" y="481366"/>
            <a:ext cx="1691640" cy="372291"/>
          </a:xfrm>
          <a:prstGeom prst="rect">
            <a:avLst/>
          </a:prstGeom>
        </p:spPr>
      </p:pic>
      <p:sp>
        <p:nvSpPr>
          <p:cNvPr id="5" name="Text 2"/>
          <p:cNvSpPr txBox="1"/>
          <p:nvPr/>
        </p:nvSpPr>
        <p:spPr>
          <a:xfrm>
            <a:off x="548640" y="6428232"/>
            <a:ext cx="7315200" cy="228600"/>
          </a:xfrm>
          <a:prstGeom prst="rect">
            <a:avLst/>
          </a:prstGeom>
          <a:noFill/>
          <a:ln/>
        </p:spPr>
        <p:txBody>
          <a:bodyPr wrap="square" lIns="0" tIns="0" rIns="0" bIns="0" rtlCol="0" anchor="t"/>
          <a:lstStyle/>
          <a:p>
            <a:pPr indent="0" marL="0">
              <a:buNone/>
            </a:pPr>
            <a:r>
              <a:rPr lang="en-US" sz="900" dirty="0">
                <a:solidFill>
                  <a:srgbClr val="5B6B7F"/>
                </a:solidFill>
                <a:latin typeface="Calibri" pitchFamily="34" charset="0"/>
                <a:ea typeface="Calibri" pitchFamily="34" charset="-122"/>
                <a:cs typeface="Calibri" pitchFamily="34" charset="-120"/>
              </a:rPr>
              <a:t>Ranim Nabi  ·  PFE ESPRIT 2025-2026  ·  2 Go Sunny Tunisia Trip</a:t>
            </a:r>
            <a:endParaRPr lang="en-US" sz="900" dirty="0"/>
          </a:p>
        </p:txBody>
      </p:sp>
      <p:sp>
        <p:nvSpPr>
          <p:cNvPr id="6" name="Shape 3"/>
          <p:cNvSpPr/>
          <p:nvPr/>
        </p:nvSpPr>
        <p:spPr>
          <a:xfrm>
            <a:off x="11320272" y="6364224"/>
            <a:ext cx="347472" cy="347472"/>
          </a:xfrm>
          <a:prstGeom prst="ellipse">
            <a:avLst/>
          </a:prstGeom>
          <a:solidFill>
            <a:srgbClr val="F39200"/>
          </a:solidFill>
          <a:ln w="12700">
            <a:solidFill>
              <a:srgbClr val="F39200"/>
            </a:solidFill>
            <a:prstDash val="solid"/>
          </a:ln>
        </p:spPr>
      </p:sp>
      <p:sp>
        <p:nvSpPr>
          <p:cNvPr id="7" name="Text 4"/>
          <p:cNvSpPr txBox="1"/>
          <p:nvPr/>
        </p:nvSpPr>
        <p:spPr>
          <a:xfrm>
            <a:off x="11320272" y="6364224"/>
            <a:ext cx="347472"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04</a:t>
            </a:r>
            <a:endParaRPr lang="en-US" sz="1000" dirty="0"/>
          </a:p>
        </p:txBody>
      </p:sp>
      <p:sp>
        <p:nvSpPr>
          <p:cNvPr id="8" name="Shape 5"/>
          <p:cNvSpPr/>
          <p:nvPr/>
        </p:nvSpPr>
        <p:spPr>
          <a:xfrm>
            <a:off x="548640" y="1508760"/>
            <a:ext cx="5577840" cy="4526280"/>
          </a:xfrm>
          <a:prstGeom prst="roundRect">
            <a:avLst>
              <a:gd name="adj" fmla="val 2424"/>
            </a:avLst>
          </a:prstGeom>
          <a:solidFill>
            <a:srgbClr val="FFFFFF"/>
          </a:solidFill>
          <a:ln w="12700">
            <a:solidFill>
              <a:srgbClr val="D5E3F0"/>
            </a:solidFill>
            <a:prstDash val="solid"/>
          </a:ln>
          <a:effectLst>
            <a:outerShdw sx="100000" sy="100000" kx="0" ky="0" algn="bl" rotWithShape="0" blurRad="101600" dist="25400" dir="5400000">
              <a:srgbClr val="0A2540">
                <a:alpha val="12000"/>
              </a:srgbClr>
            </a:outerShdw>
          </a:effectLst>
        </p:spPr>
      </p:sp>
      <p:pic>
        <p:nvPicPr>
          <p:cNvPr id="9" name="Image 1" descr="assets/logo_sunny.png">    </p:cNvPr>
          <p:cNvPicPr>
            <a:picLocks noChangeAspect="1"/>
          </p:cNvPicPr>
          <p:nvPr/>
        </p:nvPicPr>
        <p:blipFill>
          <a:blip r:embed="rId2"/>
          <a:stretch>
            <a:fillRect/>
          </a:stretch>
        </p:blipFill>
        <p:spPr>
          <a:xfrm>
            <a:off x="914400" y="1844158"/>
            <a:ext cx="4846320" cy="1066565"/>
          </a:xfrm>
          <a:prstGeom prst="rect">
            <a:avLst/>
          </a:prstGeom>
        </p:spPr>
      </p:pic>
      <p:sp>
        <p:nvSpPr>
          <p:cNvPr id="10" name="Text 6"/>
          <p:cNvSpPr txBox="1"/>
          <p:nvPr/>
        </p:nvSpPr>
        <p:spPr>
          <a:xfrm>
            <a:off x="914400" y="3246120"/>
            <a:ext cx="4846320" cy="1005840"/>
          </a:xfrm>
          <a:prstGeom prst="rect">
            <a:avLst/>
          </a:prstGeom>
          <a:noFill/>
          <a:ln/>
        </p:spPr>
        <p:txBody>
          <a:bodyPr wrap="square" lIns="0" tIns="0" rIns="0" bIns="0" rtlCol="0" anchor="t"/>
          <a:lstStyle/>
          <a:p>
            <a:pPr indent="0" marL="0">
              <a:buNone/>
            </a:pPr>
            <a:r>
              <a:rPr lang="en-US" sz="1600" dirty="0">
                <a:solidFill>
                  <a:srgbClr val="1B2A3A"/>
                </a:solidFill>
                <a:latin typeface="Calibri" pitchFamily="34" charset="0"/>
                <a:ea typeface="Calibri" pitchFamily="34" charset="-122"/>
                <a:cs typeface="Calibri" pitchFamily="34" charset="-120"/>
              </a:rPr>
              <a:t>Agence de voyages basée à Monastir : vols, hôtels, forfaits et conseil personnalisé pour organiser le séjour idéal.</a:t>
            </a:r>
            <a:endParaRPr lang="en-US" sz="1600" dirty="0"/>
          </a:p>
        </p:txBody>
      </p:sp>
      <p:sp>
        <p:nvSpPr>
          <p:cNvPr id="11" name="Text 7"/>
          <p:cNvSpPr txBox="1"/>
          <p:nvPr/>
        </p:nvSpPr>
        <p:spPr>
          <a:xfrm>
            <a:off x="914400" y="4480560"/>
            <a:ext cx="4846320" cy="914400"/>
          </a:xfrm>
          <a:prstGeom prst="rect">
            <a:avLst/>
          </a:prstGeom>
          <a:noFill/>
          <a:ln/>
        </p:spPr>
        <p:txBody>
          <a:bodyPr wrap="square" lIns="0" tIns="0" rIns="0" bIns="0" rtlCol="0" anchor="t"/>
          <a:lstStyle/>
          <a:p>
            <a:pPr indent="0" marL="0">
              <a:buNone/>
            </a:pPr>
            <a:r>
              <a:rPr lang="en-US" sz="1600" i="1" dirty="0">
                <a:solidFill>
                  <a:srgbClr val="F39200"/>
                </a:solidFill>
                <a:latin typeface="Calibri" pitchFamily="34" charset="0"/>
                <a:ea typeface="Calibri" pitchFamily="34" charset="-122"/>
                <a:cs typeface="Calibri" pitchFamily="34" charset="-120"/>
              </a:rPr>
              <a:t>Une agence à taille humaine, prête à franchir le cap du numérique et de la donnée.</a:t>
            </a:r>
            <a:endParaRPr lang="en-US" sz="1600" dirty="0"/>
          </a:p>
        </p:txBody>
      </p:sp>
      <p:sp>
        <p:nvSpPr>
          <p:cNvPr id="12" name="Shape 8"/>
          <p:cNvSpPr/>
          <p:nvPr/>
        </p:nvSpPr>
        <p:spPr>
          <a:xfrm>
            <a:off x="6446520" y="1572768"/>
            <a:ext cx="5212080" cy="768096"/>
          </a:xfrm>
          <a:prstGeom prst="roundRect">
            <a:avLst>
              <a:gd name="adj" fmla="val 14286"/>
            </a:avLst>
          </a:prstGeom>
          <a:solidFill>
            <a:srgbClr val="EEF5FB"/>
          </a:solidFill>
          <a:ln w="12700">
            <a:solidFill>
              <a:srgbClr val="EEF5FB"/>
            </a:solidFill>
            <a:prstDash val="solid"/>
          </a:ln>
          <a:effectLst>
            <a:outerShdw sx="100000" sy="100000" kx="0" ky="0" algn="bl" rotWithShape="0" blurRad="101600" dist="25400" dir="5400000">
              <a:srgbClr val="0A2540">
                <a:alpha val="12000"/>
              </a:srgbClr>
            </a:outerShdw>
          </a:effectLst>
        </p:spPr>
      </p:sp>
      <p:sp>
        <p:nvSpPr>
          <p:cNvPr id="13" name="Shape 9"/>
          <p:cNvSpPr/>
          <p:nvPr/>
        </p:nvSpPr>
        <p:spPr>
          <a:xfrm>
            <a:off x="6629400" y="1700784"/>
            <a:ext cx="512064" cy="512064"/>
          </a:xfrm>
          <a:prstGeom prst="ellipse">
            <a:avLst/>
          </a:prstGeom>
          <a:solidFill>
            <a:srgbClr val="0A4A8C"/>
          </a:solidFill>
          <a:ln w="12700">
            <a:solidFill>
              <a:srgbClr val="0A4A8C"/>
            </a:solidFill>
            <a:prstDash val="solid"/>
          </a:ln>
        </p:spPr>
      </p:sp>
      <p:pic>
        <p:nvPicPr>
          <p:cNvPr id="14" name="Image 2" descr="preencoded.png">    </p:cNvPr>
          <p:cNvPicPr>
            <a:picLocks noChangeAspect="1"/>
          </p:cNvPicPr>
          <p:nvPr/>
        </p:nvPicPr>
        <p:blipFill>
          <a:blip r:embed="rId3"/>
          <a:stretch>
            <a:fillRect/>
          </a:stretch>
        </p:blipFill>
        <p:spPr>
          <a:xfrm>
            <a:off x="6762537" y="1833921"/>
            <a:ext cx="245791" cy="245791"/>
          </a:xfrm>
          <a:prstGeom prst="rect">
            <a:avLst/>
          </a:prstGeom>
        </p:spPr>
      </p:pic>
      <p:sp>
        <p:nvSpPr>
          <p:cNvPr id="15" name="Text 10"/>
          <p:cNvSpPr txBox="1"/>
          <p:nvPr/>
        </p:nvSpPr>
        <p:spPr>
          <a:xfrm>
            <a:off x="7315200" y="1691640"/>
            <a:ext cx="4114800" cy="228600"/>
          </a:xfrm>
          <a:prstGeom prst="rect">
            <a:avLst/>
          </a:prstGeom>
          <a:noFill/>
          <a:ln/>
        </p:spPr>
        <p:txBody>
          <a:bodyPr wrap="square" lIns="0" tIns="0" rIns="0" bIns="0" rtlCol="0" anchor="t"/>
          <a:lstStyle/>
          <a:p>
            <a:pPr indent="0" marL="0">
              <a:buNone/>
            </a:pPr>
            <a:r>
              <a:rPr lang="en-US" sz="1000" b="1" spc="100" kern="0" dirty="0">
                <a:solidFill>
                  <a:srgbClr val="5B6B7F"/>
                </a:solidFill>
                <a:latin typeface="Calibri" pitchFamily="34" charset="0"/>
                <a:ea typeface="Calibri" pitchFamily="34" charset="-122"/>
                <a:cs typeface="Calibri" pitchFamily="34" charset="-120"/>
              </a:rPr>
              <a:t>DIRECTEUR</a:t>
            </a:r>
            <a:endParaRPr lang="en-US" sz="1000" dirty="0"/>
          </a:p>
        </p:txBody>
      </p:sp>
      <p:sp>
        <p:nvSpPr>
          <p:cNvPr id="16" name="Text 11"/>
          <p:cNvSpPr txBox="1"/>
          <p:nvPr/>
        </p:nvSpPr>
        <p:spPr>
          <a:xfrm>
            <a:off x="7315200" y="1920240"/>
            <a:ext cx="4206240" cy="320040"/>
          </a:xfrm>
          <a:prstGeom prst="rect">
            <a:avLst/>
          </a:prstGeom>
          <a:noFill/>
          <a:ln/>
        </p:spPr>
        <p:txBody>
          <a:bodyPr wrap="square" lIns="0" tIns="0" rIns="0" bIns="0" rtlCol="0" anchor="t"/>
          <a:lstStyle/>
          <a:p>
            <a:pPr indent="0" marL="0">
              <a:buNone/>
            </a:pPr>
            <a:r>
              <a:rPr lang="en-US" sz="1500" b="1" dirty="0">
                <a:solidFill>
                  <a:srgbClr val="0A4A8C"/>
                </a:solidFill>
                <a:latin typeface="Calibri" pitchFamily="34" charset="0"/>
                <a:ea typeface="Calibri" pitchFamily="34" charset="-122"/>
                <a:cs typeface="Calibri" pitchFamily="34" charset="-120"/>
              </a:rPr>
              <a:t>M. Adel Nabi</a:t>
            </a:r>
            <a:endParaRPr lang="en-US" sz="1500" dirty="0"/>
          </a:p>
        </p:txBody>
      </p:sp>
      <p:sp>
        <p:nvSpPr>
          <p:cNvPr id="17" name="Shape 12"/>
          <p:cNvSpPr/>
          <p:nvPr/>
        </p:nvSpPr>
        <p:spPr>
          <a:xfrm>
            <a:off x="6446520" y="2478024"/>
            <a:ext cx="5212080" cy="768096"/>
          </a:xfrm>
          <a:prstGeom prst="roundRect">
            <a:avLst>
              <a:gd name="adj" fmla="val 14286"/>
            </a:avLst>
          </a:prstGeom>
          <a:solidFill>
            <a:srgbClr val="EEF5FB"/>
          </a:solidFill>
          <a:ln w="12700">
            <a:solidFill>
              <a:srgbClr val="EEF5FB"/>
            </a:solidFill>
            <a:prstDash val="solid"/>
          </a:ln>
          <a:effectLst>
            <a:outerShdw sx="100000" sy="100000" kx="0" ky="0" algn="bl" rotWithShape="0" blurRad="101600" dist="25400" dir="5400000">
              <a:srgbClr val="0A2540">
                <a:alpha val="12000"/>
              </a:srgbClr>
            </a:outerShdw>
          </a:effectLst>
        </p:spPr>
      </p:sp>
      <p:sp>
        <p:nvSpPr>
          <p:cNvPr id="18" name="Shape 13"/>
          <p:cNvSpPr/>
          <p:nvPr/>
        </p:nvSpPr>
        <p:spPr>
          <a:xfrm>
            <a:off x="6629400" y="2606040"/>
            <a:ext cx="512064" cy="512064"/>
          </a:xfrm>
          <a:prstGeom prst="ellipse">
            <a:avLst/>
          </a:prstGeom>
          <a:solidFill>
            <a:srgbClr val="F39200"/>
          </a:solidFill>
          <a:ln w="12700">
            <a:solidFill>
              <a:srgbClr val="F39200"/>
            </a:solidFill>
            <a:prstDash val="solid"/>
          </a:ln>
        </p:spPr>
      </p:sp>
      <p:pic>
        <p:nvPicPr>
          <p:cNvPr id="19" name="Image 3" descr="preencoded.png">    </p:cNvPr>
          <p:cNvPicPr>
            <a:picLocks noChangeAspect="1"/>
          </p:cNvPicPr>
          <p:nvPr/>
        </p:nvPicPr>
        <p:blipFill>
          <a:blip r:embed="rId4"/>
          <a:stretch>
            <a:fillRect/>
          </a:stretch>
        </p:blipFill>
        <p:spPr>
          <a:xfrm>
            <a:off x="6762537" y="2739177"/>
            <a:ext cx="245791" cy="245791"/>
          </a:xfrm>
          <a:prstGeom prst="rect">
            <a:avLst/>
          </a:prstGeom>
        </p:spPr>
      </p:pic>
      <p:sp>
        <p:nvSpPr>
          <p:cNvPr id="20" name="Text 14"/>
          <p:cNvSpPr txBox="1"/>
          <p:nvPr/>
        </p:nvSpPr>
        <p:spPr>
          <a:xfrm>
            <a:off x="7315200" y="2596896"/>
            <a:ext cx="4114800" cy="228600"/>
          </a:xfrm>
          <a:prstGeom prst="rect">
            <a:avLst/>
          </a:prstGeom>
          <a:noFill/>
          <a:ln/>
        </p:spPr>
        <p:txBody>
          <a:bodyPr wrap="square" lIns="0" tIns="0" rIns="0" bIns="0" rtlCol="0" anchor="t"/>
          <a:lstStyle/>
          <a:p>
            <a:pPr indent="0" marL="0">
              <a:buNone/>
            </a:pPr>
            <a:r>
              <a:rPr lang="en-US" sz="1000" b="1" spc="100" kern="0" dirty="0">
                <a:solidFill>
                  <a:srgbClr val="5B6B7F"/>
                </a:solidFill>
                <a:latin typeface="Calibri" pitchFamily="34" charset="0"/>
                <a:ea typeface="Calibri" pitchFamily="34" charset="-122"/>
                <a:cs typeface="Calibri" pitchFamily="34" charset="-120"/>
              </a:rPr>
              <a:t>SIÈGE</a:t>
            </a:r>
            <a:endParaRPr lang="en-US" sz="1000" dirty="0"/>
          </a:p>
        </p:txBody>
      </p:sp>
      <p:sp>
        <p:nvSpPr>
          <p:cNvPr id="21" name="Text 15"/>
          <p:cNvSpPr txBox="1"/>
          <p:nvPr/>
        </p:nvSpPr>
        <p:spPr>
          <a:xfrm>
            <a:off x="7315200" y="2825496"/>
            <a:ext cx="4206240" cy="320040"/>
          </a:xfrm>
          <a:prstGeom prst="rect">
            <a:avLst/>
          </a:prstGeom>
          <a:noFill/>
          <a:ln/>
        </p:spPr>
        <p:txBody>
          <a:bodyPr wrap="square" lIns="0" tIns="0" rIns="0" bIns="0" rtlCol="0" anchor="t"/>
          <a:lstStyle/>
          <a:p>
            <a:pPr indent="0" marL="0">
              <a:buNone/>
            </a:pPr>
            <a:r>
              <a:rPr lang="en-US" sz="1500" b="1" dirty="0">
                <a:solidFill>
                  <a:srgbClr val="0A4A8C"/>
                </a:solidFill>
                <a:latin typeface="Calibri" pitchFamily="34" charset="0"/>
                <a:ea typeface="Calibri" pitchFamily="34" charset="-122"/>
                <a:cs typeface="Calibri" pitchFamily="34" charset="-120"/>
              </a:rPr>
              <a:t>Av. Habib Bourguiba, 5000 Monastir</a:t>
            </a:r>
            <a:endParaRPr lang="en-US" sz="1500" dirty="0"/>
          </a:p>
        </p:txBody>
      </p:sp>
      <p:sp>
        <p:nvSpPr>
          <p:cNvPr id="22" name="Shape 16"/>
          <p:cNvSpPr/>
          <p:nvPr/>
        </p:nvSpPr>
        <p:spPr>
          <a:xfrm>
            <a:off x="6446520" y="3383280"/>
            <a:ext cx="5212080" cy="768096"/>
          </a:xfrm>
          <a:prstGeom prst="roundRect">
            <a:avLst>
              <a:gd name="adj" fmla="val 14286"/>
            </a:avLst>
          </a:prstGeom>
          <a:solidFill>
            <a:srgbClr val="EEF5FB"/>
          </a:solidFill>
          <a:ln w="12700">
            <a:solidFill>
              <a:srgbClr val="EEF5FB"/>
            </a:solidFill>
            <a:prstDash val="solid"/>
          </a:ln>
          <a:effectLst>
            <a:outerShdw sx="100000" sy="100000" kx="0" ky="0" algn="bl" rotWithShape="0" blurRad="101600" dist="25400" dir="5400000">
              <a:srgbClr val="0A2540">
                <a:alpha val="12000"/>
              </a:srgbClr>
            </a:outerShdw>
          </a:effectLst>
        </p:spPr>
      </p:sp>
      <p:sp>
        <p:nvSpPr>
          <p:cNvPr id="23" name="Shape 17"/>
          <p:cNvSpPr/>
          <p:nvPr/>
        </p:nvSpPr>
        <p:spPr>
          <a:xfrm>
            <a:off x="6629400" y="3511296"/>
            <a:ext cx="512064" cy="512064"/>
          </a:xfrm>
          <a:prstGeom prst="ellipse">
            <a:avLst/>
          </a:prstGeom>
          <a:solidFill>
            <a:srgbClr val="0A4A8C"/>
          </a:solidFill>
          <a:ln w="12700">
            <a:solidFill>
              <a:srgbClr val="0A4A8C"/>
            </a:solidFill>
            <a:prstDash val="solid"/>
          </a:ln>
        </p:spPr>
      </p:sp>
      <p:pic>
        <p:nvPicPr>
          <p:cNvPr id="24" name="Image 4" descr="preencoded.png">    </p:cNvPr>
          <p:cNvPicPr>
            <a:picLocks noChangeAspect="1"/>
          </p:cNvPicPr>
          <p:nvPr/>
        </p:nvPicPr>
        <p:blipFill>
          <a:blip r:embed="rId5"/>
          <a:stretch>
            <a:fillRect/>
          </a:stretch>
        </p:blipFill>
        <p:spPr>
          <a:xfrm>
            <a:off x="6762537" y="3644433"/>
            <a:ext cx="245791" cy="245791"/>
          </a:xfrm>
          <a:prstGeom prst="rect">
            <a:avLst/>
          </a:prstGeom>
        </p:spPr>
      </p:pic>
      <p:sp>
        <p:nvSpPr>
          <p:cNvPr id="25" name="Text 18"/>
          <p:cNvSpPr txBox="1"/>
          <p:nvPr/>
        </p:nvSpPr>
        <p:spPr>
          <a:xfrm>
            <a:off x="7315200" y="3502152"/>
            <a:ext cx="4114800" cy="228600"/>
          </a:xfrm>
          <a:prstGeom prst="rect">
            <a:avLst/>
          </a:prstGeom>
          <a:noFill/>
          <a:ln/>
        </p:spPr>
        <p:txBody>
          <a:bodyPr wrap="square" lIns="0" tIns="0" rIns="0" bIns="0" rtlCol="0" anchor="t"/>
          <a:lstStyle/>
          <a:p>
            <a:pPr indent="0" marL="0">
              <a:buNone/>
            </a:pPr>
            <a:r>
              <a:rPr lang="en-US" sz="1000" b="1" spc="100" kern="0" dirty="0">
                <a:solidFill>
                  <a:srgbClr val="5B6B7F"/>
                </a:solidFill>
                <a:latin typeface="Calibri" pitchFamily="34" charset="0"/>
                <a:ea typeface="Calibri" pitchFamily="34" charset="-122"/>
                <a:cs typeface="Calibri" pitchFamily="34" charset="-120"/>
              </a:rPr>
              <a:t>TÉLÉPHONE</a:t>
            </a:r>
            <a:endParaRPr lang="en-US" sz="1000" dirty="0"/>
          </a:p>
        </p:txBody>
      </p:sp>
      <p:sp>
        <p:nvSpPr>
          <p:cNvPr id="26" name="Text 19"/>
          <p:cNvSpPr txBox="1"/>
          <p:nvPr/>
        </p:nvSpPr>
        <p:spPr>
          <a:xfrm>
            <a:off x="7315200" y="3730752"/>
            <a:ext cx="4206240" cy="320040"/>
          </a:xfrm>
          <a:prstGeom prst="rect">
            <a:avLst/>
          </a:prstGeom>
          <a:noFill/>
          <a:ln/>
        </p:spPr>
        <p:txBody>
          <a:bodyPr wrap="square" lIns="0" tIns="0" rIns="0" bIns="0" rtlCol="0" anchor="t"/>
          <a:lstStyle/>
          <a:p>
            <a:pPr indent="0" marL="0">
              <a:buNone/>
            </a:pPr>
            <a:r>
              <a:rPr lang="en-US" sz="1500" b="1" dirty="0">
                <a:solidFill>
                  <a:srgbClr val="0A4A8C"/>
                </a:solidFill>
                <a:latin typeface="Calibri" pitchFamily="34" charset="0"/>
                <a:ea typeface="Calibri" pitchFamily="34" charset="-122"/>
                <a:cs typeface="Calibri" pitchFamily="34" charset="-120"/>
              </a:rPr>
              <a:t>+216 73 425 730</a:t>
            </a:r>
            <a:endParaRPr lang="en-US" sz="1500" dirty="0"/>
          </a:p>
        </p:txBody>
      </p:sp>
      <p:sp>
        <p:nvSpPr>
          <p:cNvPr id="27" name="Shape 20"/>
          <p:cNvSpPr/>
          <p:nvPr/>
        </p:nvSpPr>
        <p:spPr>
          <a:xfrm>
            <a:off x="6446520" y="4288536"/>
            <a:ext cx="5212080" cy="768096"/>
          </a:xfrm>
          <a:prstGeom prst="roundRect">
            <a:avLst>
              <a:gd name="adj" fmla="val 14286"/>
            </a:avLst>
          </a:prstGeom>
          <a:solidFill>
            <a:srgbClr val="EEF5FB"/>
          </a:solidFill>
          <a:ln w="12700">
            <a:solidFill>
              <a:srgbClr val="EEF5FB"/>
            </a:solidFill>
            <a:prstDash val="solid"/>
          </a:ln>
          <a:effectLst>
            <a:outerShdw sx="100000" sy="100000" kx="0" ky="0" algn="bl" rotWithShape="0" blurRad="101600" dist="25400" dir="5400000">
              <a:srgbClr val="0A2540">
                <a:alpha val="12000"/>
              </a:srgbClr>
            </a:outerShdw>
          </a:effectLst>
        </p:spPr>
      </p:sp>
      <p:sp>
        <p:nvSpPr>
          <p:cNvPr id="28" name="Shape 21"/>
          <p:cNvSpPr/>
          <p:nvPr/>
        </p:nvSpPr>
        <p:spPr>
          <a:xfrm>
            <a:off x="6629400" y="4416552"/>
            <a:ext cx="512064" cy="512064"/>
          </a:xfrm>
          <a:prstGeom prst="ellipse">
            <a:avLst/>
          </a:prstGeom>
          <a:solidFill>
            <a:srgbClr val="F39200"/>
          </a:solidFill>
          <a:ln w="12700">
            <a:solidFill>
              <a:srgbClr val="F39200"/>
            </a:solidFill>
            <a:prstDash val="solid"/>
          </a:ln>
        </p:spPr>
      </p:sp>
      <p:pic>
        <p:nvPicPr>
          <p:cNvPr id="29" name="Image 5" descr="preencoded.png">    </p:cNvPr>
          <p:cNvPicPr>
            <a:picLocks noChangeAspect="1"/>
          </p:cNvPicPr>
          <p:nvPr/>
        </p:nvPicPr>
        <p:blipFill>
          <a:blip r:embed="rId6"/>
          <a:stretch>
            <a:fillRect/>
          </a:stretch>
        </p:blipFill>
        <p:spPr>
          <a:xfrm>
            <a:off x="6762537" y="4549689"/>
            <a:ext cx="245791" cy="245791"/>
          </a:xfrm>
          <a:prstGeom prst="rect">
            <a:avLst/>
          </a:prstGeom>
        </p:spPr>
      </p:pic>
      <p:sp>
        <p:nvSpPr>
          <p:cNvPr id="30" name="Text 22"/>
          <p:cNvSpPr txBox="1"/>
          <p:nvPr/>
        </p:nvSpPr>
        <p:spPr>
          <a:xfrm>
            <a:off x="7315200" y="4407408"/>
            <a:ext cx="4114800" cy="228600"/>
          </a:xfrm>
          <a:prstGeom prst="rect">
            <a:avLst/>
          </a:prstGeom>
          <a:noFill/>
          <a:ln/>
        </p:spPr>
        <p:txBody>
          <a:bodyPr wrap="square" lIns="0" tIns="0" rIns="0" bIns="0" rtlCol="0" anchor="t"/>
          <a:lstStyle/>
          <a:p>
            <a:pPr indent="0" marL="0">
              <a:buNone/>
            </a:pPr>
            <a:r>
              <a:rPr lang="en-US" sz="1000" b="1" spc="100" kern="0" dirty="0">
                <a:solidFill>
                  <a:srgbClr val="5B6B7F"/>
                </a:solidFill>
                <a:latin typeface="Calibri" pitchFamily="34" charset="0"/>
                <a:ea typeface="Calibri" pitchFamily="34" charset="-122"/>
                <a:cs typeface="Calibri" pitchFamily="34" charset="-120"/>
              </a:rPr>
              <a:t>RÉSERVATIONS</a:t>
            </a:r>
            <a:endParaRPr lang="en-US" sz="1000" dirty="0"/>
          </a:p>
        </p:txBody>
      </p:sp>
      <p:sp>
        <p:nvSpPr>
          <p:cNvPr id="31" name="Text 23"/>
          <p:cNvSpPr txBox="1"/>
          <p:nvPr/>
        </p:nvSpPr>
        <p:spPr>
          <a:xfrm>
            <a:off x="7315200" y="4636008"/>
            <a:ext cx="4206240" cy="320040"/>
          </a:xfrm>
          <a:prstGeom prst="rect">
            <a:avLst/>
          </a:prstGeom>
          <a:noFill/>
          <a:ln/>
        </p:spPr>
        <p:txBody>
          <a:bodyPr wrap="square" lIns="0" tIns="0" rIns="0" bIns="0" rtlCol="0" anchor="t"/>
          <a:lstStyle/>
          <a:p>
            <a:pPr indent="0" marL="0">
              <a:buNone/>
            </a:pPr>
            <a:r>
              <a:rPr lang="en-US" sz="1500" b="1" dirty="0">
                <a:solidFill>
                  <a:srgbClr val="0A4A8C"/>
                </a:solidFill>
                <a:latin typeface="Calibri" pitchFamily="34" charset="0"/>
                <a:ea typeface="Calibri" pitchFamily="34" charset="-122"/>
                <a:cs typeface="Calibri" pitchFamily="34" charset="-120"/>
              </a:rPr>
              <a:t>2go.resa@topnet.tn</a:t>
            </a:r>
            <a:endParaRPr lang="en-US" sz="1500" dirty="0"/>
          </a:p>
        </p:txBody>
      </p:sp>
      <p:sp>
        <p:nvSpPr>
          <p:cNvPr id="32" name="Shape 24"/>
          <p:cNvSpPr/>
          <p:nvPr/>
        </p:nvSpPr>
        <p:spPr>
          <a:xfrm>
            <a:off x="6446520" y="5193792"/>
            <a:ext cx="5212080" cy="768096"/>
          </a:xfrm>
          <a:prstGeom prst="roundRect">
            <a:avLst>
              <a:gd name="adj" fmla="val 14286"/>
            </a:avLst>
          </a:prstGeom>
          <a:solidFill>
            <a:srgbClr val="EEF5FB"/>
          </a:solidFill>
          <a:ln w="12700">
            <a:solidFill>
              <a:srgbClr val="EEF5FB"/>
            </a:solidFill>
            <a:prstDash val="solid"/>
          </a:ln>
          <a:effectLst>
            <a:outerShdw sx="100000" sy="100000" kx="0" ky="0" algn="bl" rotWithShape="0" blurRad="101600" dist="25400" dir="5400000">
              <a:srgbClr val="0A2540">
                <a:alpha val="12000"/>
              </a:srgbClr>
            </a:outerShdw>
          </a:effectLst>
        </p:spPr>
      </p:sp>
      <p:sp>
        <p:nvSpPr>
          <p:cNvPr id="33" name="Shape 25"/>
          <p:cNvSpPr/>
          <p:nvPr/>
        </p:nvSpPr>
        <p:spPr>
          <a:xfrm>
            <a:off x="6629400" y="5321808"/>
            <a:ext cx="512064" cy="512064"/>
          </a:xfrm>
          <a:prstGeom prst="ellipse">
            <a:avLst/>
          </a:prstGeom>
          <a:solidFill>
            <a:srgbClr val="0A4A8C"/>
          </a:solidFill>
          <a:ln w="12700">
            <a:solidFill>
              <a:srgbClr val="0A4A8C"/>
            </a:solidFill>
            <a:prstDash val="solid"/>
          </a:ln>
        </p:spPr>
      </p:sp>
      <p:pic>
        <p:nvPicPr>
          <p:cNvPr id="34" name="Image 6" descr="preencoded.png">    </p:cNvPr>
          <p:cNvPicPr>
            <a:picLocks noChangeAspect="1"/>
          </p:cNvPicPr>
          <p:nvPr/>
        </p:nvPicPr>
        <p:blipFill>
          <a:blip r:embed="rId7"/>
          <a:stretch>
            <a:fillRect/>
          </a:stretch>
        </p:blipFill>
        <p:spPr>
          <a:xfrm>
            <a:off x="6762537" y="5454945"/>
            <a:ext cx="245791" cy="245791"/>
          </a:xfrm>
          <a:prstGeom prst="rect">
            <a:avLst/>
          </a:prstGeom>
        </p:spPr>
      </p:pic>
      <p:sp>
        <p:nvSpPr>
          <p:cNvPr id="35" name="Text 26"/>
          <p:cNvSpPr txBox="1"/>
          <p:nvPr/>
        </p:nvSpPr>
        <p:spPr>
          <a:xfrm>
            <a:off x="7315200" y="5312664"/>
            <a:ext cx="4114800" cy="228600"/>
          </a:xfrm>
          <a:prstGeom prst="rect">
            <a:avLst/>
          </a:prstGeom>
          <a:noFill/>
          <a:ln/>
        </p:spPr>
        <p:txBody>
          <a:bodyPr wrap="square" lIns="0" tIns="0" rIns="0" bIns="0" rtlCol="0" anchor="t"/>
          <a:lstStyle/>
          <a:p>
            <a:pPr indent="0" marL="0">
              <a:buNone/>
            </a:pPr>
            <a:r>
              <a:rPr lang="en-US" sz="1000" b="1" spc="100" kern="0" dirty="0">
                <a:solidFill>
                  <a:srgbClr val="5B6B7F"/>
                </a:solidFill>
                <a:latin typeface="Calibri" pitchFamily="34" charset="0"/>
                <a:ea typeface="Calibri" pitchFamily="34" charset="-122"/>
                <a:cs typeface="Calibri" pitchFamily="34" charset="-120"/>
              </a:rPr>
              <a:t>CANAL PRINCIPAL</a:t>
            </a:r>
            <a:endParaRPr lang="en-US" sz="1000" dirty="0"/>
          </a:p>
        </p:txBody>
      </p:sp>
      <p:sp>
        <p:nvSpPr>
          <p:cNvPr id="36" name="Text 27"/>
          <p:cNvSpPr txBox="1"/>
          <p:nvPr/>
        </p:nvSpPr>
        <p:spPr>
          <a:xfrm>
            <a:off x="7315200" y="5541264"/>
            <a:ext cx="4206240" cy="320040"/>
          </a:xfrm>
          <a:prstGeom prst="rect">
            <a:avLst/>
          </a:prstGeom>
          <a:noFill/>
          <a:ln/>
        </p:spPr>
        <p:txBody>
          <a:bodyPr wrap="square" lIns="0" tIns="0" rIns="0" bIns="0" rtlCol="0" anchor="t"/>
          <a:lstStyle/>
          <a:p>
            <a:pPr indent="0" marL="0">
              <a:buNone/>
            </a:pPr>
            <a:r>
              <a:rPr lang="en-US" sz="1500" b="1" dirty="0">
                <a:solidFill>
                  <a:srgbClr val="0A4A8C"/>
                </a:solidFill>
                <a:latin typeface="Calibri" pitchFamily="34" charset="0"/>
                <a:ea typeface="Calibri" pitchFamily="34" charset="-122"/>
                <a:cs typeface="Calibri" pitchFamily="34" charset="-120"/>
              </a:rPr>
              <a:t>Page Facebook de l'agence</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772400" cy="274320"/>
          </a:xfrm>
          <a:prstGeom prst="rect">
            <a:avLst/>
          </a:prstGeom>
          <a:noFill/>
          <a:ln/>
        </p:spPr>
        <p:txBody>
          <a:bodyPr wrap="square" lIns="0" tIns="0" rIns="0" bIns="0" rtlCol="0" anchor="t"/>
          <a:lstStyle/>
          <a:p>
            <a:pPr indent="0" marL="0">
              <a:buNone/>
            </a:pPr>
            <a:r>
              <a:rPr lang="en-US" sz="1100" b="1" spc="200" kern="0" dirty="0">
                <a:solidFill>
                  <a:srgbClr val="F39200"/>
                </a:solidFill>
                <a:latin typeface="Calibri" pitchFamily="34" charset="0"/>
                <a:ea typeface="Calibri" pitchFamily="34" charset="-122"/>
                <a:cs typeface="Calibri" pitchFamily="34" charset="-120"/>
              </a:rPr>
              <a:t>ANALYSE DE L'EXISTANT</a:t>
            </a:r>
            <a:endParaRPr lang="en-US" sz="1100" dirty="0"/>
          </a:p>
        </p:txBody>
      </p:sp>
      <p:sp>
        <p:nvSpPr>
          <p:cNvPr id="3" name="Text 1"/>
          <p:cNvSpPr txBox="1"/>
          <p:nvPr/>
        </p:nvSpPr>
        <p:spPr>
          <a:xfrm>
            <a:off x="548640" y="603504"/>
            <a:ext cx="9326880" cy="685800"/>
          </a:xfrm>
          <a:prstGeom prst="rect">
            <a:avLst/>
          </a:prstGeom>
          <a:noFill/>
          <a:ln/>
        </p:spPr>
        <p:txBody>
          <a:bodyPr wrap="square" lIns="0" tIns="0" rIns="0" bIns="0" rtlCol="0" anchor="ctr"/>
          <a:lstStyle/>
          <a:p>
            <a:pPr indent="0" marL="0">
              <a:buNone/>
            </a:pPr>
            <a:r>
              <a:rPr lang="en-US" sz="3000" b="1" dirty="0">
                <a:solidFill>
                  <a:srgbClr val="0A4A8C"/>
                </a:solidFill>
                <a:latin typeface="Cambria" pitchFamily="34" charset="0"/>
                <a:ea typeface="Cambria" pitchFamily="34" charset="-122"/>
                <a:cs typeface="Cambria" pitchFamily="34" charset="-120"/>
              </a:rPr>
              <a:t>Étude de l'existant</a:t>
            </a:r>
            <a:endParaRPr lang="en-US" sz="3000" dirty="0"/>
          </a:p>
        </p:txBody>
      </p:sp>
      <p:pic>
        <p:nvPicPr>
          <p:cNvPr id="4" name="Image 0" descr="assets/logo_sunny.png">    </p:cNvPr>
          <p:cNvPicPr>
            <a:picLocks noChangeAspect="1"/>
          </p:cNvPicPr>
          <p:nvPr/>
        </p:nvPicPr>
        <p:blipFill>
          <a:blip r:embed="rId1"/>
          <a:stretch>
            <a:fillRect/>
          </a:stretch>
        </p:blipFill>
        <p:spPr>
          <a:xfrm>
            <a:off x="10012680" y="481366"/>
            <a:ext cx="1691640" cy="372291"/>
          </a:xfrm>
          <a:prstGeom prst="rect">
            <a:avLst/>
          </a:prstGeom>
        </p:spPr>
      </p:pic>
      <p:sp>
        <p:nvSpPr>
          <p:cNvPr id="5" name="Text 2"/>
          <p:cNvSpPr txBox="1"/>
          <p:nvPr/>
        </p:nvSpPr>
        <p:spPr>
          <a:xfrm>
            <a:off x="548640" y="6428232"/>
            <a:ext cx="7315200" cy="228600"/>
          </a:xfrm>
          <a:prstGeom prst="rect">
            <a:avLst/>
          </a:prstGeom>
          <a:noFill/>
          <a:ln/>
        </p:spPr>
        <p:txBody>
          <a:bodyPr wrap="square" lIns="0" tIns="0" rIns="0" bIns="0" rtlCol="0" anchor="t"/>
          <a:lstStyle/>
          <a:p>
            <a:pPr indent="0" marL="0">
              <a:buNone/>
            </a:pPr>
            <a:r>
              <a:rPr lang="en-US" sz="900" dirty="0">
                <a:solidFill>
                  <a:srgbClr val="5B6B7F"/>
                </a:solidFill>
                <a:latin typeface="Calibri" pitchFamily="34" charset="0"/>
                <a:ea typeface="Calibri" pitchFamily="34" charset="-122"/>
                <a:cs typeface="Calibri" pitchFamily="34" charset="-120"/>
              </a:rPr>
              <a:t>Ranim Nabi  ·  PFE ESPRIT 2025-2026  ·  2 Go Sunny Tunisia Trip</a:t>
            </a:r>
            <a:endParaRPr lang="en-US" sz="900" dirty="0"/>
          </a:p>
        </p:txBody>
      </p:sp>
      <p:sp>
        <p:nvSpPr>
          <p:cNvPr id="6" name="Shape 3"/>
          <p:cNvSpPr/>
          <p:nvPr/>
        </p:nvSpPr>
        <p:spPr>
          <a:xfrm>
            <a:off x="11320272" y="6364224"/>
            <a:ext cx="347472" cy="347472"/>
          </a:xfrm>
          <a:prstGeom prst="ellipse">
            <a:avLst/>
          </a:prstGeom>
          <a:solidFill>
            <a:srgbClr val="F39200"/>
          </a:solidFill>
          <a:ln w="12700">
            <a:solidFill>
              <a:srgbClr val="F39200"/>
            </a:solidFill>
            <a:prstDash val="solid"/>
          </a:ln>
        </p:spPr>
      </p:sp>
      <p:sp>
        <p:nvSpPr>
          <p:cNvPr id="7" name="Text 4"/>
          <p:cNvSpPr txBox="1"/>
          <p:nvPr/>
        </p:nvSpPr>
        <p:spPr>
          <a:xfrm>
            <a:off x="11320272" y="6364224"/>
            <a:ext cx="347472"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05</a:t>
            </a:r>
            <a:endParaRPr lang="en-US" sz="1000" dirty="0"/>
          </a:p>
        </p:txBody>
      </p:sp>
      <p:sp>
        <p:nvSpPr>
          <p:cNvPr id="8" name="Text 5"/>
          <p:cNvSpPr txBox="1"/>
          <p:nvPr/>
        </p:nvSpPr>
        <p:spPr>
          <a:xfrm>
            <a:off x="548640" y="1463040"/>
            <a:ext cx="10972800" cy="365760"/>
          </a:xfrm>
          <a:prstGeom prst="rect">
            <a:avLst/>
          </a:prstGeom>
          <a:noFill/>
          <a:ln/>
        </p:spPr>
        <p:txBody>
          <a:bodyPr wrap="square" lIns="0" tIns="0" rIns="0" bIns="0" rtlCol="0" anchor="t"/>
          <a:lstStyle/>
          <a:p>
            <a:pPr indent="0" marL="0">
              <a:buNone/>
            </a:pPr>
            <a:r>
              <a:rPr lang="en-US" sz="1700" dirty="0">
                <a:solidFill>
                  <a:srgbClr val="5B6B7F"/>
                </a:solidFill>
                <a:latin typeface="Calibri" pitchFamily="34" charset="0"/>
                <a:ea typeface="Calibri" pitchFamily="34" charset="-122"/>
                <a:cs typeface="Calibri" pitchFamily="34" charset="-120"/>
              </a:rPr>
              <a:t>Le parcours d'un client aujourd'hui</a:t>
            </a:r>
            <a:endParaRPr lang="en-US" sz="1700" dirty="0"/>
          </a:p>
        </p:txBody>
      </p:sp>
      <p:sp>
        <p:nvSpPr>
          <p:cNvPr id="9" name="Shape 6"/>
          <p:cNvSpPr/>
          <p:nvPr/>
        </p:nvSpPr>
        <p:spPr>
          <a:xfrm>
            <a:off x="548640" y="2103120"/>
            <a:ext cx="2606040" cy="3931920"/>
          </a:xfrm>
          <a:prstGeom prst="roundRect">
            <a:avLst>
              <a:gd name="adj" fmla="val 4211"/>
            </a:avLst>
          </a:prstGeom>
          <a:solidFill>
            <a:srgbClr val="EEF5FB"/>
          </a:solidFill>
          <a:ln w="12700">
            <a:solidFill>
              <a:srgbClr val="EEF5FB"/>
            </a:solidFill>
            <a:prstDash val="solid"/>
          </a:ln>
          <a:effectLst>
            <a:outerShdw sx="100000" sy="100000" kx="0" ky="0" algn="bl" rotWithShape="0" blurRad="101600" dist="25400" dir="5400000">
              <a:srgbClr val="0A2540">
                <a:alpha val="12000"/>
              </a:srgbClr>
            </a:outerShdw>
          </a:effectLst>
        </p:spPr>
      </p:sp>
      <p:sp>
        <p:nvSpPr>
          <p:cNvPr id="10" name="Shape 7"/>
          <p:cNvSpPr/>
          <p:nvPr/>
        </p:nvSpPr>
        <p:spPr>
          <a:xfrm>
            <a:off x="777240" y="2331720"/>
            <a:ext cx="502920" cy="502920"/>
          </a:xfrm>
          <a:prstGeom prst="ellipse">
            <a:avLst/>
          </a:prstGeom>
          <a:solidFill>
            <a:srgbClr val="F39200"/>
          </a:solidFill>
          <a:ln w="12700">
            <a:solidFill>
              <a:srgbClr val="F39200"/>
            </a:solidFill>
            <a:prstDash val="solid"/>
          </a:ln>
        </p:spPr>
      </p:sp>
      <p:sp>
        <p:nvSpPr>
          <p:cNvPr id="11" name="Text 8"/>
          <p:cNvSpPr txBox="1"/>
          <p:nvPr/>
        </p:nvSpPr>
        <p:spPr>
          <a:xfrm>
            <a:off x="777240" y="233172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2" name="Shape 9"/>
          <p:cNvSpPr/>
          <p:nvPr/>
        </p:nvSpPr>
        <p:spPr>
          <a:xfrm>
            <a:off x="1399032" y="3063240"/>
            <a:ext cx="914400" cy="914400"/>
          </a:xfrm>
          <a:prstGeom prst="ellipse">
            <a:avLst/>
          </a:prstGeom>
          <a:solidFill>
            <a:srgbClr val="0A4A8C"/>
          </a:solidFill>
          <a:ln w="12700">
            <a:solidFill>
              <a:srgbClr val="0A4A8C"/>
            </a:solidFill>
            <a:prstDash val="solid"/>
          </a:ln>
        </p:spPr>
      </p:sp>
      <p:pic>
        <p:nvPicPr>
          <p:cNvPr id="13" name="Image 1" descr="preencoded.png">    </p:cNvPr>
          <p:cNvPicPr>
            <a:picLocks noChangeAspect="1"/>
          </p:cNvPicPr>
          <p:nvPr/>
        </p:nvPicPr>
        <p:blipFill>
          <a:blip r:embed="rId2"/>
          <a:stretch>
            <a:fillRect/>
          </a:stretch>
        </p:blipFill>
        <p:spPr>
          <a:xfrm>
            <a:off x="1636776" y="3300984"/>
            <a:ext cx="438912" cy="438912"/>
          </a:xfrm>
          <a:prstGeom prst="rect">
            <a:avLst/>
          </a:prstGeom>
        </p:spPr>
      </p:pic>
      <p:sp>
        <p:nvSpPr>
          <p:cNvPr id="14" name="Text 10"/>
          <p:cNvSpPr txBox="1"/>
          <p:nvPr/>
        </p:nvSpPr>
        <p:spPr>
          <a:xfrm>
            <a:off x="731520" y="4160520"/>
            <a:ext cx="2240280" cy="457200"/>
          </a:xfrm>
          <a:prstGeom prst="rect">
            <a:avLst/>
          </a:prstGeom>
          <a:noFill/>
          <a:ln/>
        </p:spPr>
        <p:txBody>
          <a:bodyPr wrap="square" lIns="0" tIns="0" rIns="0" bIns="0" rtlCol="0" anchor="t"/>
          <a:lstStyle/>
          <a:p>
            <a:pPr algn="ctr" indent="0" marL="0">
              <a:buNone/>
            </a:pPr>
            <a:r>
              <a:rPr lang="en-US" sz="2000" b="1" dirty="0">
                <a:solidFill>
                  <a:srgbClr val="0A4A8C"/>
                </a:solidFill>
                <a:latin typeface="Cambria" pitchFamily="34" charset="0"/>
                <a:ea typeface="Cambria" pitchFamily="34" charset="-122"/>
                <a:cs typeface="Cambria" pitchFamily="34" charset="-120"/>
              </a:rPr>
              <a:t>Prise de contact</a:t>
            </a:r>
            <a:endParaRPr lang="en-US" sz="2000" dirty="0"/>
          </a:p>
        </p:txBody>
      </p:sp>
      <p:sp>
        <p:nvSpPr>
          <p:cNvPr id="15" name="Text 11"/>
          <p:cNvSpPr txBox="1"/>
          <p:nvPr/>
        </p:nvSpPr>
        <p:spPr>
          <a:xfrm>
            <a:off x="777240" y="4663440"/>
            <a:ext cx="2148840" cy="1188720"/>
          </a:xfrm>
          <a:prstGeom prst="rect">
            <a:avLst/>
          </a:prstGeom>
          <a:noFill/>
          <a:ln/>
        </p:spPr>
        <p:txBody>
          <a:bodyPr wrap="square" lIns="0" tIns="0" rIns="0" bIns="0" rtlCol="0" anchor="t"/>
          <a:lstStyle/>
          <a:p>
            <a:pPr algn="ctr" indent="0" marL="0">
              <a:buNone/>
            </a:pPr>
            <a:r>
              <a:rPr lang="en-US" sz="1400" dirty="0">
                <a:solidFill>
                  <a:srgbClr val="5B6B7F"/>
                </a:solidFill>
                <a:latin typeface="Calibri" pitchFamily="34" charset="0"/>
                <a:ea typeface="Calibri" pitchFamily="34" charset="-122"/>
                <a:cs typeface="Calibri" pitchFamily="34" charset="-120"/>
              </a:rPr>
              <a:t>Le client écrit sur Facebook ou appelle l'agence</a:t>
            </a:r>
            <a:endParaRPr lang="en-US" sz="1400" dirty="0"/>
          </a:p>
        </p:txBody>
      </p:sp>
      <p:sp>
        <p:nvSpPr>
          <p:cNvPr id="16" name="Text 12"/>
          <p:cNvSpPr txBox="1"/>
          <p:nvPr/>
        </p:nvSpPr>
        <p:spPr>
          <a:xfrm>
            <a:off x="3154680" y="3246120"/>
            <a:ext cx="210312" cy="548640"/>
          </a:xfrm>
          <a:prstGeom prst="rect">
            <a:avLst/>
          </a:prstGeom>
          <a:noFill/>
          <a:ln/>
        </p:spPr>
        <p:txBody>
          <a:bodyPr wrap="square" lIns="0" tIns="0" rIns="0" bIns="0" rtlCol="0" anchor="ctr"/>
          <a:lstStyle/>
          <a:p>
            <a:pPr algn="ctr" indent="0" marL="0">
              <a:buNone/>
            </a:pPr>
            <a:r>
              <a:rPr lang="en-US" sz="3000" b="1" dirty="0">
                <a:solidFill>
                  <a:srgbClr val="F39200"/>
                </a:solidFill>
                <a:latin typeface="Calibri" pitchFamily="34" charset="0"/>
                <a:ea typeface="Calibri" pitchFamily="34" charset="-122"/>
                <a:cs typeface="Calibri" pitchFamily="34" charset="-120"/>
              </a:rPr>
              <a:t>›</a:t>
            </a:r>
            <a:endParaRPr lang="en-US" sz="3000" dirty="0"/>
          </a:p>
        </p:txBody>
      </p:sp>
      <p:sp>
        <p:nvSpPr>
          <p:cNvPr id="17" name="Shape 13"/>
          <p:cNvSpPr/>
          <p:nvPr/>
        </p:nvSpPr>
        <p:spPr>
          <a:xfrm>
            <a:off x="3364992" y="2103120"/>
            <a:ext cx="2606040" cy="3931920"/>
          </a:xfrm>
          <a:prstGeom prst="roundRect">
            <a:avLst>
              <a:gd name="adj" fmla="val 4211"/>
            </a:avLst>
          </a:prstGeom>
          <a:solidFill>
            <a:srgbClr val="EEF5FB"/>
          </a:solidFill>
          <a:ln w="12700">
            <a:solidFill>
              <a:srgbClr val="EEF5FB"/>
            </a:solidFill>
            <a:prstDash val="solid"/>
          </a:ln>
          <a:effectLst>
            <a:outerShdw sx="100000" sy="100000" kx="0" ky="0" algn="bl" rotWithShape="0" blurRad="101600" dist="25400" dir="5400000">
              <a:srgbClr val="0A2540">
                <a:alpha val="12000"/>
              </a:srgbClr>
            </a:outerShdw>
          </a:effectLst>
        </p:spPr>
      </p:sp>
      <p:sp>
        <p:nvSpPr>
          <p:cNvPr id="18" name="Shape 14"/>
          <p:cNvSpPr/>
          <p:nvPr/>
        </p:nvSpPr>
        <p:spPr>
          <a:xfrm>
            <a:off x="3593592" y="2331720"/>
            <a:ext cx="502920" cy="502920"/>
          </a:xfrm>
          <a:prstGeom prst="ellipse">
            <a:avLst/>
          </a:prstGeom>
          <a:solidFill>
            <a:srgbClr val="F39200"/>
          </a:solidFill>
          <a:ln w="12700">
            <a:solidFill>
              <a:srgbClr val="F39200"/>
            </a:solidFill>
            <a:prstDash val="solid"/>
          </a:ln>
        </p:spPr>
      </p:sp>
      <p:sp>
        <p:nvSpPr>
          <p:cNvPr id="19" name="Text 15"/>
          <p:cNvSpPr txBox="1"/>
          <p:nvPr/>
        </p:nvSpPr>
        <p:spPr>
          <a:xfrm>
            <a:off x="3593592" y="233172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Shape 16"/>
          <p:cNvSpPr/>
          <p:nvPr/>
        </p:nvSpPr>
        <p:spPr>
          <a:xfrm>
            <a:off x="4215384" y="3063240"/>
            <a:ext cx="914400" cy="914400"/>
          </a:xfrm>
          <a:prstGeom prst="ellipse">
            <a:avLst/>
          </a:prstGeom>
          <a:solidFill>
            <a:srgbClr val="0A4A8C"/>
          </a:solidFill>
          <a:ln w="12700">
            <a:solidFill>
              <a:srgbClr val="0A4A8C"/>
            </a:solidFill>
            <a:prstDash val="solid"/>
          </a:ln>
        </p:spPr>
      </p:sp>
      <p:pic>
        <p:nvPicPr>
          <p:cNvPr id="21" name="Image 2" descr="preencoded.png">    </p:cNvPr>
          <p:cNvPicPr>
            <a:picLocks noChangeAspect="1"/>
          </p:cNvPicPr>
          <p:nvPr/>
        </p:nvPicPr>
        <p:blipFill>
          <a:blip r:embed="rId3"/>
          <a:stretch>
            <a:fillRect/>
          </a:stretch>
        </p:blipFill>
        <p:spPr>
          <a:xfrm>
            <a:off x="4453128" y="3300984"/>
            <a:ext cx="438912" cy="438912"/>
          </a:xfrm>
          <a:prstGeom prst="rect">
            <a:avLst/>
          </a:prstGeom>
        </p:spPr>
      </p:pic>
      <p:sp>
        <p:nvSpPr>
          <p:cNvPr id="22" name="Text 17"/>
          <p:cNvSpPr txBox="1"/>
          <p:nvPr/>
        </p:nvSpPr>
        <p:spPr>
          <a:xfrm>
            <a:off x="3547872" y="4160520"/>
            <a:ext cx="2240280" cy="457200"/>
          </a:xfrm>
          <a:prstGeom prst="rect">
            <a:avLst/>
          </a:prstGeom>
          <a:noFill/>
          <a:ln/>
        </p:spPr>
        <p:txBody>
          <a:bodyPr wrap="square" lIns="0" tIns="0" rIns="0" bIns="0" rtlCol="0" anchor="t"/>
          <a:lstStyle/>
          <a:p>
            <a:pPr algn="ctr" indent="0" marL="0">
              <a:buNone/>
            </a:pPr>
            <a:r>
              <a:rPr lang="en-US" sz="2000" b="1" dirty="0">
                <a:solidFill>
                  <a:srgbClr val="0A4A8C"/>
                </a:solidFill>
                <a:latin typeface="Cambria" pitchFamily="34" charset="0"/>
                <a:ea typeface="Cambria" pitchFamily="34" charset="-122"/>
                <a:cs typeface="Cambria" pitchFamily="34" charset="-120"/>
              </a:rPr>
              <a:t>Conseil</a:t>
            </a:r>
            <a:endParaRPr lang="en-US" sz="2000" dirty="0"/>
          </a:p>
        </p:txBody>
      </p:sp>
      <p:sp>
        <p:nvSpPr>
          <p:cNvPr id="23" name="Text 18"/>
          <p:cNvSpPr txBox="1"/>
          <p:nvPr/>
        </p:nvSpPr>
        <p:spPr>
          <a:xfrm>
            <a:off x="3593592" y="4663440"/>
            <a:ext cx="2148840" cy="1188720"/>
          </a:xfrm>
          <a:prstGeom prst="rect">
            <a:avLst/>
          </a:prstGeom>
          <a:noFill/>
          <a:ln/>
        </p:spPr>
        <p:txBody>
          <a:bodyPr wrap="square" lIns="0" tIns="0" rIns="0" bIns="0" rtlCol="0" anchor="t"/>
          <a:lstStyle/>
          <a:p>
            <a:pPr algn="ctr" indent="0" marL="0">
              <a:buNone/>
            </a:pPr>
            <a:r>
              <a:rPr lang="en-US" sz="1400" dirty="0">
                <a:solidFill>
                  <a:srgbClr val="5B6B7F"/>
                </a:solidFill>
                <a:latin typeface="Calibri" pitchFamily="34" charset="0"/>
                <a:ea typeface="Calibri" pitchFamily="34" charset="-122"/>
                <a:cs typeface="Calibri" pitchFamily="34" charset="-120"/>
              </a:rPr>
              <a:t>L'agent propose des destinations selon son expérience</a:t>
            </a:r>
            <a:endParaRPr lang="en-US" sz="1400" dirty="0"/>
          </a:p>
        </p:txBody>
      </p:sp>
      <p:sp>
        <p:nvSpPr>
          <p:cNvPr id="24" name="Text 19"/>
          <p:cNvSpPr txBox="1"/>
          <p:nvPr/>
        </p:nvSpPr>
        <p:spPr>
          <a:xfrm>
            <a:off x="5971032" y="3246120"/>
            <a:ext cx="210312" cy="548640"/>
          </a:xfrm>
          <a:prstGeom prst="rect">
            <a:avLst/>
          </a:prstGeom>
          <a:noFill/>
          <a:ln/>
        </p:spPr>
        <p:txBody>
          <a:bodyPr wrap="square" lIns="0" tIns="0" rIns="0" bIns="0" rtlCol="0" anchor="ctr"/>
          <a:lstStyle/>
          <a:p>
            <a:pPr algn="ctr" indent="0" marL="0">
              <a:buNone/>
            </a:pPr>
            <a:r>
              <a:rPr lang="en-US" sz="3000" b="1" dirty="0">
                <a:solidFill>
                  <a:srgbClr val="F39200"/>
                </a:solidFill>
                <a:latin typeface="Calibri" pitchFamily="34" charset="0"/>
                <a:ea typeface="Calibri" pitchFamily="34" charset="-122"/>
                <a:cs typeface="Calibri" pitchFamily="34" charset="-120"/>
              </a:rPr>
              <a:t>›</a:t>
            </a:r>
            <a:endParaRPr lang="en-US" sz="3000" dirty="0"/>
          </a:p>
        </p:txBody>
      </p:sp>
      <p:sp>
        <p:nvSpPr>
          <p:cNvPr id="25" name="Shape 20"/>
          <p:cNvSpPr/>
          <p:nvPr/>
        </p:nvSpPr>
        <p:spPr>
          <a:xfrm>
            <a:off x="6181344" y="2103120"/>
            <a:ext cx="2606040" cy="3931920"/>
          </a:xfrm>
          <a:prstGeom prst="roundRect">
            <a:avLst>
              <a:gd name="adj" fmla="val 4211"/>
            </a:avLst>
          </a:prstGeom>
          <a:solidFill>
            <a:srgbClr val="EEF5FB"/>
          </a:solidFill>
          <a:ln w="12700">
            <a:solidFill>
              <a:srgbClr val="EEF5FB"/>
            </a:solidFill>
            <a:prstDash val="solid"/>
          </a:ln>
          <a:effectLst>
            <a:outerShdw sx="100000" sy="100000" kx="0" ky="0" algn="bl" rotWithShape="0" blurRad="101600" dist="25400" dir="5400000">
              <a:srgbClr val="0A2540">
                <a:alpha val="12000"/>
              </a:srgbClr>
            </a:outerShdw>
          </a:effectLst>
        </p:spPr>
      </p:sp>
      <p:sp>
        <p:nvSpPr>
          <p:cNvPr id="26" name="Shape 21"/>
          <p:cNvSpPr/>
          <p:nvPr/>
        </p:nvSpPr>
        <p:spPr>
          <a:xfrm>
            <a:off x="6409944" y="2331720"/>
            <a:ext cx="502920" cy="502920"/>
          </a:xfrm>
          <a:prstGeom prst="ellipse">
            <a:avLst/>
          </a:prstGeom>
          <a:solidFill>
            <a:srgbClr val="F39200"/>
          </a:solidFill>
          <a:ln w="12700">
            <a:solidFill>
              <a:srgbClr val="F39200"/>
            </a:solidFill>
            <a:prstDash val="solid"/>
          </a:ln>
        </p:spPr>
      </p:sp>
      <p:sp>
        <p:nvSpPr>
          <p:cNvPr id="27" name="Text 22"/>
          <p:cNvSpPr txBox="1"/>
          <p:nvPr/>
        </p:nvSpPr>
        <p:spPr>
          <a:xfrm>
            <a:off x="6409944" y="233172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8" name="Shape 23"/>
          <p:cNvSpPr/>
          <p:nvPr/>
        </p:nvSpPr>
        <p:spPr>
          <a:xfrm>
            <a:off x="7031736" y="3063240"/>
            <a:ext cx="914400" cy="914400"/>
          </a:xfrm>
          <a:prstGeom prst="ellipse">
            <a:avLst/>
          </a:prstGeom>
          <a:solidFill>
            <a:srgbClr val="0A4A8C"/>
          </a:solidFill>
          <a:ln w="12700">
            <a:solidFill>
              <a:srgbClr val="0A4A8C"/>
            </a:solidFill>
            <a:prstDash val="solid"/>
          </a:ln>
        </p:spPr>
      </p:sp>
      <p:pic>
        <p:nvPicPr>
          <p:cNvPr id="29" name="Image 3" descr="preencoded.png">    </p:cNvPr>
          <p:cNvPicPr>
            <a:picLocks noChangeAspect="1"/>
          </p:cNvPicPr>
          <p:nvPr/>
        </p:nvPicPr>
        <p:blipFill>
          <a:blip r:embed="rId4"/>
          <a:stretch>
            <a:fillRect/>
          </a:stretch>
        </p:blipFill>
        <p:spPr>
          <a:xfrm>
            <a:off x="7269480" y="3300984"/>
            <a:ext cx="438912" cy="438912"/>
          </a:xfrm>
          <a:prstGeom prst="rect">
            <a:avLst/>
          </a:prstGeom>
        </p:spPr>
      </p:pic>
      <p:sp>
        <p:nvSpPr>
          <p:cNvPr id="30" name="Text 24"/>
          <p:cNvSpPr txBox="1"/>
          <p:nvPr/>
        </p:nvSpPr>
        <p:spPr>
          <a:xfrm>
            <a:off x="6364224" y="4160520"/>
            <a:ext cx="2240280" cy="457200"/>
          </a:xfrm>
          <a:prstGeom prst="rect">
            <a:avLst/>
          </a:prstGeom>
          <a:noFill/>
          <a:ln/>
        </p:spPr>
        <p:txBody>
          <a:bodyPr wrap="square" lIns="0" tIns="0" rIns="0" bIns="0" rtlCol="0" anchor="t"/>
          <a:lstStyle/>
          <a:p>
            <a:pPr algn="ctr" indent="0" marL="0">
              <a:buNone/>
            </a:pPr>
            <a:r>
              <a:rPr lang="en-US" sz="2000" b="1" dirty="0">
                <a:solidFill>
                  <a:srgbClr val="0A4A8C"/>
                </a:solidFill>
                <a:latin typeface="Cambria" pitchFamily="34" charset="0"/>
                <a:ea typeface="Cambria" pitchFamily="34" charset="-122"/>
                <a:cs typeface="Cambria" pitchFamily="34" charset="-120"/>
              </a:rPr>
              <a:t>Réservation</a:t>
            </a:r>
            <a:endParaRPr lang="en-US" sz="2000" dirty="0"/>
          </a:p>
        </p:txBody>
      </p:sp>
      <p:sp>
        <p:nvSpPr>
          <p:cNvPr id="31" name="Text 25"/>
          <p:cNvSpPr txBox="1"/>
          <p:nvPr/>
        </p:nvSpPr>
        <p:spPr>
          <a:xfrm>
            <a:off x="6409944" y="4663440"/>
            <a:ext cx="2148840" cy="1188720"/>
          </a:xfrm>
          <a:prstGeom prst="rect">
            <a:avLst/>
          </a:prstGeom>
          <a:noFill/>
          <a:ln/>
        </p:spPr>
        <p:txBody>
          <a:bodyPr wrap="square" lIns="0" tIns="0" rIns="0" bIns="0" rtlCol="0" anchor="t"/>
          <a:lstStyle/>
          <a:p>
            <a:pPr algn="ctr" indent="0" marL="0">
              <a:buNone/>
            </a:pPr>
            <a:r>
              <a:rPr lang="en-US" sz="1400" dirty="0">
                <a:solidFill>
                  <a:srgbClr val="5B6B7F"/>
                </a:solidFill>
                <a:latin typeface="Calibri" pitchFamily="34" charset="0"/>
                <a:ea typeface="Calibri" pitchFamily="34" charset="-122"/>
                <a:cs typeface="Calibri" pitchFamily="34" charset="-120"/>
              </a:rPr>
              <a:t>Vol, hôtel ou forfait enregistré, sans historique exploitable</a:t>
            </a:r>
            <a:endParaRPr lang="en-US" sz="1400" dirty="0"/>
          </a:p>
        </p:txBody>
      </p:sp>
      <p:sp>
        <p:nvSpPr>
          <p:cNvPr id="32" name="Text 26"/>
          <p:cNvSpPr txBox="1"/>
          <p:nvPr/>
        </p:nvSpPr>
        <p:spPr>
          <a:xfrm>
            <a:off x="8787384" y="3246120"/>
            <a:ext cx="210312" cy="548640"/>
          </a:xfrm>
          <a:prstGeom prst="rect">
            <a:avLst/>
          </a:prstGeom>
          <a:noFill/>
          <a:ln/>
        </p:spPr>
        <p:txBody>
          <a:bodyPr wrap="square" lIns="0" tIns="0" rIns="0" bIns="0" rtlCol="0" anchor="ctr"/>
          <a:lstStyle/>
          <a:p>
            <a:pPr algn="ctr" indent="0" marL="0">
              <a:buNone/>
            </a:pPr>
            <a:r>
              <a:rPr lang="en-US" sz="3000" b="1" dirty="0">
                <a:solidFill>
                  <a:srgbClr val="F39200"/>
                </a:solidFill>
                <a:latin typeface="Calibri" pitchFamily="34" charset="0"/>
                <a:ea typeface="Calibri" pitchFamily="34" charset="-122"/>
                <a:cs typeface="Calibri" pitchFamily="34" charset="-120"/>
              </a:rPr>
              <a:t>›</a:t>
            </a:r>
            <a:endParaRPr lang="en-US" sz="3000" dirty="0"/>
          </a:p>
        </p:txBody>
      </p:sp>
      <p:sp>
        <p:nvSpPr>
          <p:cNvPr id="33" name="Shape 27"/>
          <p:cNvSpPr/>
          <p:nvPr/>
        </p:nvSpPr>
        <p:spPr>
          <a:xfrm>
            <a:off x="8997696" y="2103120"/>
            <a:ext cx="2606040" cy="3931920"/>
          </a:xfrm>
          <a:prstGeom prst="roundRect">
            <a:avLst>
              <a:gd name="adj" fmla="val 4211"/>
            </a:avLst>
          </a:prstGeom>
          <a:solidFill>
            <a:srgbClr val="FEF6E4"/>
          </a:solidFill>
          <a:ln w="12700">
            <a:solidFill>
              <a:srgbClr val="FEF6E4"/>
            </a:solidFill>
            <a:prstDash val="solid"/>
          </a:ln>
          <a:effectLst>
            <a:outerShdw sx="100000" sy="100000" kx="0" ky="0" algn="bl" rotWithShape="0" blurRad="101600" dist="25400" dir="5400000">
              <a:srgbClr val="0A2540">
                <a:alpha val="12000"/>
              </a:srgbClr>
            </a:outerShdw>
          </a:effectLst>
        </p:spPr>
      </p:sp>
      <p:sp>
        <p:nvSpPr>
          <p:cNvPr id="34" name="Shape 28"/>
          <p:cNvSpPr/>
          <p:nvPr/>
        </p:nvSpPr>
        <p:spPr>
          <a:xfrm>
            <a:off x="9226296" y="2331720"/>
            <a:ext cx="502920" cy="502920"/>
          </a:xfrm>
          <a:prstGeom prst="ellipse">
            <a:avLst/>
          </a:prstGeom>
          <a:solidFill>
            <a:srgbClr val="F39200"/>
          </a:solidFill>
          <a:ln w="12700">
            <a:solidFill>
              <a:srgbClr val="F39200"/>
            </a:solidFill>
            <a:prstDash val="solid"/>
          </a:ln>
        </p:spPr>
      </p:sp>
      <p:sp>
        <p:nvSpPr>
          <p:cNvPr id="35" name="Text 29"/>
          <p:cNvSpPr txBox="1"/>
          <p:nvPr/>
        </p:nvSpPr>
        <p:spPr>
          <a:xfrm>
            <a:off x="9226296" y="233172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36" name="Shape 30"/>
          <p:cNvSpPr/>
          <p:nvPr/>
        </p:nvSpPr>
        <p:spPr>
          <a:xfrm>
            <a:off x="9848088" y="3063240"/>
            <a:ext cx="914400" cy="914400"/>
          </a:xfrm>
          <a:prstGeom prst="ellipse">
            <a:avLst/>
          </a:prstGeom>
          <a:solidFill>
            <a:srgbClr val="0A4A8C"/>
          </a:solidFill>
          <a:ln w="12700">
            <a:solidFill>
              <a:srgbClr val="0A4A8C"/>
            </a:solidFill>
            <a:prstDash val="solid"/>
          </a:ln>
        </p:spPr>
      </p:sp>
      <p:pic>
        <p:nvPicPr>
          <p:cNvPr id="37" name="Image 4" descr="preencoded.png">    </p:cNvPr>
          <p:cNvPicPr>
            <a:picLocks noChangeAspect="1"/>
          </p:cNvPicPr>
          <p:nvPr/>
        </p:nvPicPr>
        <p:blipFill>
          <a:blip r:embed="rId5"/>
          <a:stretch>
            <a:fillRect/>
          </a:stretch>
        </p:blipFill>
        <p:spPr>
          <a:xfrm>
            <a:off x="10085832" y="3300984"/>
            <a:ext cx="438912" cy="438912"/>
          </a:xfrm>
          <a:prstGeom prst="rect">
            <a:avLst/>
          </a:prstGeom>
        </p:spPr>
      </p:pic>
      <p:sp>
        <p:nvSpPr>
          <p:cNvPr id="38" name="Text 31"/>
          <p:cNvSpPr txBox="1"/>
          <p:nvPr/>
        </p:nvSpPr>
        <p:spPr>
          <a:xfrm>
            <a:off x="9180576" y="4160520"/>
            <a:ext cx="2240280" cy="457200"/>
          </a:xfrm>
          <a:prstGeom prst="rect">
            <a:avLst/>
          </a:prstGeom>
          <a:noFill/>
          <a:ln/>
        </p:spPr>
        <p:txBody>
          <a:bodyPr wrap="square" lIns="0" tIns="0" rIns="0" bIns="0" rtlCol="0" anchor="t"/>
          <a:lstStyle/>
          <a:p>
            <a:pPr algn="ctr" indent="0" marL="0">
              <a:buNone/>
            </a:pPr>
            <a:r>
              <a:rPr lang="en-US" sz="2000" b="1" dirty="0">
                <a:solidFill>
                  <a:srgbClr val="0A4A8C"/>
                </a:solidFill>
                <a:latin typeface="Cambria" pitchFamily="34" charset="0"/>
                <a:ea typeface="Cambria" pitchFamily="34" charset="-122"/>
                <a:cs typeface="Cambria" pitchFamily="34" charset="-120"/>
              </a:rPr>
              <a:t>Suivi</a:t>
            </a:r>
            <a:endParaRPr lang="en-US" sz="2000" dirty="0"/>
          </a:p>
        </p:txBody>
      </p:sp>
      <p:sp>
        <p:nvSpPr>
          <p:cNvPr id="39" name="Text 32"/>
          <p:cNvSpPr txBox="1"/>
          <p:nvPr/>
        </p:nvSpPr>
        <p:spPr>
          <a:xfrm>
            <a:off x="9226296" y="4663440"/>
            <a:ext cx="2148840" cy="1188720"/>
          </a:xfrm>
          <a:prstGeom prst="rect">
            <a:avLst/>
          </a:prstGeom>
          <a:noFill/>
          <a:ln/>
        </p:spPr>
        <p:txBody>
          <a:bodyPr wrap="square" lIns="0" tIns="0" rIns="0" bIns="0" rtlCol="0" anchor="t"/>
          <a:lstStyle/>
          <a:p>
            <a:pPr algn="ctr" indent="0" marL="0">
              <a:buNone/>
            </a:pPr>
            <a:r>
              <a:rPr lang="en-US" sz="1400" dirty="0">
                <a:solidFill>
                  <a:srgbClr val="5B6B7F"/>
                </a:solidFill>
                <a:latin typeface="Calibri" pitchFamily="34" charset="0"/>
                <a:ea typeface="Calibri" pitchFamily="34" charset="-122"/>
                <a:cs typeface="Calibri" pitchFamily="34" charset="-120"/>
              </a:rPr>
              <a:t>Pas d'indicateurs : l'activité se pilote à l'intuition</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772400" cy="274320"/>
          </a:xfrm>
          <a:prstGeom prst="rect">
            <a:avLst/>
          </a:prstGeom>
          <a:noFill/>
          <a:ln/>
        </p:spPr>
        <p:txBody>
          <a:bodyPr wrap="square" lIns="0" tIns="0" rIns="0" bIns="0" rtlCol="0" anchor="t"/>
          <a:lstStyle/>
          <a:p>
            <a:pPr indent="0" marL="0">
              <a:buNone/>
            </a:pPr>
            <a:r>
              <a:rPr lang="en-US" sz="1100" b="1" spc="200" kern="0" dirty="0">
                <a:solidFill>
                  <a:srgbClr val="F39200"/>
                </a:solidFill>
                <a:latin typeface="Calibri" pitchFamily="34" charset="0"/>
                <a:ea typeface="Calibri" pitchFamily="34" charset="-122"/>
                <a:cs typeface="Calibri" pitchFamily="34" charset="-120"/>
              </a:rPr>
              <a:t>ANALYSE DE L'EXISTANT</a:t>
            </a:r>
            <a:endParaRPr lang="en-US" sz="1100" dirty="0"/>
          </a:p>
        </p:txBody>
      </p:sp>
      <p:sp>
        <p:nvSpPr>
          <p:cNvPr id="3" name="Text 1"/>
          <p:cNvSpPr txBox="1"/>
          <p:nvPr/>
        </p:nvSpPr>
        <p:spPr>
          <a:xfrm>
            <a:off x="548640" y="603504"/>
            <a:ext cx="9326880" cy="685800"/>
          </a:xfrm>
          <a:prstGeom prst="rect">
            <a:avLst/>
          </a:prstGeom>
          <a:noFill/>
          <a:ln/>
        </p:spPr>
        <p:txBody>
          <a:bodyPr wrap="square" lIns="0" tIns="0" rIns="0" bIns="0" rtlCol="0" anchor="ctr"/>
          <a:lstStyle/>
          <a:p>
            <a:pPr indent="0" marL="0">
              <a:buNone/>
            </a:pPr>
            <a:r>
              <a:rPr lang="en-US" sz="3000" b="1" dirty="0">
                <a:solidFill>
                  <a:srgbClr val="0A4A8C"/>
                </a:solidFill>
                <a:latin typeface="Cambria" pitchFamily="34" charset="0"/>
                <a:ea typeface="Cambria" pitchFamily="34" charset="-122"/>
                <a:cs typeface="Cambria" pitchFamily="34" charset="-120"/>
              </a:rPr>
              <a:t>Critique de l'existant</a:t>
            </a:r>
            <a:endParaRPr lang="en-US" sz="3000" dirty="0"/>
          </a:p>
        </p:txBody>
      </p:sp>
      <p:pic>
        <p:nvPicPr>
          <p:cNvPr id="4" name="Image 0" descr="assets/logo_sunny.png">    </p:cNvPr>
          <p:cNvPicPr>
            <a:picLocks noChangeAspect="1"/>
          </p:cNvPicPr>
          <p:nvPr/>
        </p:nvPicPr>
        <p:blipFill>
          <a:blip r:embed="rId1"/>
          <a:stretch>
            <a:fillRect/>
          </a:stretch>
        </p:blipFill>
        <p:spPr>
          <a:xfrm>
            <a:off x="10012680" y="481366"/>
            <a:ext cx="1691640" cy="372291"/>
          </a:xfrm>
          <a:prstGeom prst="rect">
            <a:avLst/>
          </a:prstGeom>
        </p:spPr>
      </p:pic>
      <p:sp>
        <p:nvSpPr>
          <p:cNvPr id="5" name="Text 2"/>
          <p:cNvSpPr txBox="1"/>
          <p:nvPr/>
        </p:nvSpPr>
        <p:spPr>
          <a:xfrm>
            <a:off x="548640" y="6428232"/>
            <a:ext cx="7315200" cy="228600"/>
          </a:xfrm>
          <a:prstGeom prst="rect">
            <a:avLst/>
          </a:prstGeom>
          <a:noFill/>
          <a:ln/>
        </p:spPr>
        <p:txBody>
          <a:bodyPr wrap="square" lIns="0" tIns="0" rIns="0" bIns="0" rtlCol="0" anchor="t"/>
          <a:lstStyle/>
          <a:p>
            <a:pPr indent="0" marL="0">
              <a:buNone/>
            </a:pPr>
            <a:r>
              <a:rPr lang="en-US" sz="900" dirty="0">
                <a:solidFill>
                  <a:srgbClr val="5B6B7F"/>
                </a:solidFill>
                <a:latin typeface="Calibri" pitchFamily="34" charset="0"/>
                <a:ea typeface="Calibri" pitchFamily="34" charset="-122"/>
                <a:cs typeface="Calibri" pitchFamily="34" charset="-120"/>
              </a:rPr>
              <a:t>Ranim Nabi  ·  PFE ESPRIT 2025-2026  ·  2 Go Sunny Tunisia Trip</a:t>
            </a:r>
            <a:endParaRPr lang="en-US" sz="900" dirty="0"/>
          </a:p>
        </p:txBody>
      </p:sp>
      <p:sp>
        <p:nvSpPr>
          <p:cNvPr id="6" name="Shape 3"/>
          <p:cNvSpPr/>
          <p:nvPr/>
        </p:nvSpPr>
        <p:spPr>
          <a:xfrm>
            <a:off x="11320272" y="6364224"/>
            <a:ext cx="347472" cy="347472"/>
          </a:xfrm>
          <a:prstGeom prst="ellipse">
            <a:avLst/>
          </a:prstGeom>
          <a:solidFill>
            <a:srgbClr val="F39200"/>
          </a:solidFill>
          <a:ln w="12700">
            <a:solidFill>
              <a:srgbClr val="F39200"/>
            </a:solidFill>
            <a:prstDash val="solid"/>
          </a:ln>
        </p:spPr>
      </p:sp>
      <p:sp>
        <p:nvSpPr>
          <p:cNvPr id="7" name="Text 4"/>
          <p:cNvSpPr txBox="1"/>
          <p:nvPr/>
        </p:nvSpPr>
        <p:spPr>
          <a:xfrm>
            <a:off x="11320272" y="6364224"/>
            <a:ext cx="347472"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06</a:t>
            </a:r>
            <a:endParaRPr lang="en-US" sz="1000" dirty="0"/>
          </a:p>
        </p:txBody>
      </p:sp>
      <p:sp>
        <p:nvSpPr>
          <p:cNvPr id="8" name="Shape 5"/>
          <p:cNvSpPr/>
          <p:nvPr/>
        </p:nvSpPr>
        <p:spPr>
          <a:xfrm>
            <a:off x="548640" y="1554480"/>
            <a:ext cx="5440680" cy="2057400"/>
          </a:xfrm>
          <a:prstGeom prst="roundRect">
            <a:avLst>
              <a:gd name="adj" fmla="val 5333"/>
            </a:avLst>
          </a:prstGeom>
          <a:solidFill>
            <a:srgbClr val="FEF6E4"/>
          </a:solidFill>
          <a:ln w="12700">
            <a:solidFill>
              <a:srgbClr val="FEF6E4"/>
            </a:solidFill>
            <a:prstDash val="solid"/>
          </a:ln>
          <a:effectLst>
            <a:outerShdw sx="100000" sy="100000" kx="0" ky="0" algn="bl" rotWithShape="0" blurRad="101600" dist="25400" dir="5400000">
              <a:srgbClr val="0A2540">
                <a:alpha val="12000"/>
              </a:srgbClr>
            </a:outerShdw>
          </a:effectLst>
        </p:spPr>
      </p:sp>
      <p:sp>
        <p:nvSpPr>
          <p:cNvPr id="9" name="Shape 6"/>
          <p:cNvSpPr/>
          <p:nvPr/>
        </p:nvSpPr>
        <p:spPr>
          <a:xfrm>
            <a:off x="822960" y="1874520"/>
            <a:ext cx="822960" cy="822960"/>
          </a:xfrm>
          <a:prstGeom prst="ellipse">
            <a:avLst/>
          </a:prstGeom>
          <a:solidFill>
            <a:srgbClr val="F39200"/>
          </a:solidFill>
          <a:ln w="12700">
            <a:solidFill>
              <a:srgbClr val="F39200"/>
            </a:solidFill>
            <a:prstDash val="solid"/>
          </a:ln>
        </p:spPr>
      </p:sp>
      <p:pic>
        <p:nvPicPr>
          <p:cNvPr id="10" name="Image 1" descr="preencoded.png">    </p:cNvPr>
          <p:cNvPicPr>
            <a:picLocks noChangeAspect="1"/>
          </p:cNvPicPr>
          <p:nvPr/>
        </p:nvPicPr>
        <p:blipFill>
          <a:blip r:embed="rId2"/>
          <a:stretch>
            <a:fillRect/>
          </a:stretch>
        </p:blipFill>
        <p:spPr>
          <a:xfrm>
            <a:off x="1036930" y="2088490"/>
            <a:ext cx="395021" cy="395021"/>
          </a:xfrm>
          <a:prstGeom prst="rect">
            <a:avLst/>
          </a:prstGeom>
        </p:spPr>
      </p:pic>
      <p:sp>
        <p:nvSpPr>
          <p:cNvPr id="11" name="Text 7"/>
          <p:cNvSpPr txBox="1"/>
          <p:nvPr/>
        </p:nvSpPr>
        <p:spPr>
          <a:xfrm>
            <a:off x="1874520" y="1874520"/>
            <a:ext cx="3886200" cy="457200"/>
          </a:xfrm>
          <a:prstGeom prst="rect">
            <a:avLst/>
          </a:prstGeom>
          <a:noFill/>
          <a:ln/>
        </p:spPr>
        <p:txBody>
          <a:bodyPr wrap="square" lIns="0" tIns="0" rIns="0" bIns="0" rtlCol="0" anchor="t"/>
          <a:lstStyle/>
          <a:p>
            <a:pPr indent="0" marL="0">
              <a:buNone/>
            </a:pPr>
            <a:r>
              <a:rPr lang="en-US" sz="2000" b="1" dirty="0">
                <a:solidFill>
                  <a:srgbClr val="0A4A8C"/>
                </a:solidFill>
                <a:latin typeface="Cambria" pitchFamily="34" charset="0"/>
                <a:ea typeface="Cambria" pitchFamily="34" charset="-122"/>
                <a:cs typeface="Cambria" pitchFamily="34" charset="-120"/>
              </a:rPr>
              <a:t>Vision client fragmentée</a:t>
            </a:r>
            <a:endParaRPr lang="en-US" sz="2000" dirty="0"/>
          </a:p>
        </p:txBody>
      </p:sp>
      <p:sp>
        <p:nvSpPr>
          <p:cNvPr id="12" name="Text 8"/>
          <p:cNvSpPr txBox="1"/>
          <p:nvPr/>
        </p:nvSpPr>
        <p:spPr>
          <a:xfrm>
            <a:off x="1874520" y="2423160"/>
            <a:ext cx="3886200" cy="1005840"/>
          </a:xfrm>
          <a:prstGeom prst="rect">
            <a:avLst/>
          </a:prstGeom>
          <a:noFill/>
          <a:ln/>
        </p:spPr>
        <p:txBody>
          <a:bodyPr wrap="square" lIns="0" tIns="0" rIns="0" bIns="0" rtlCol="0" anchor="t"/>
          <a:lstStyle/>
          <a:p>
            <a:pPr indent="0" marL="0">
              <a:buNone/>
            </a:pPr>
            <a:r>
              <a:rPr lang="en-US" sz="1500" dirty="0">
                <a:solidFill>
                  <a:srgbClr val="5B6B7F"/>
                </a:solidFill>
                <a:latin typeface="Calibri" pitchFamily="34" charset="0"/>
                <a:ea typeface="Calibri" pitchFamily="34" charset="-122"/>
                <a:cs typeface="Calibri" pitchFamily="34" charset="-120"/>
              </a:rPr>
              <a:t>Personne ne voit d'un coup d'œil le profil, l'historique et les préférences d'un client</a:t>
            </a:r>
            <a:endParaRPr lang="en-US" sz="1500" dirty="0"/>
          </a:p>
        </p:txBody>
      </p:sp>
      <p:sp>
        <p:nvSpPr>
          <p:cNvPr id="13" name="Shape 9"/>
          <p:cNvSpPr/>
          <p:nvPr/>
        </p:nvSpPr>
        <p:spPr>
          <a:xfrm>
            <a:off x="6172200" y="1554480"/>
            <a:ext cx="5440680" cy="2057400"/>
          </a:xfrm>
          <a:prstGeom prst="roundRect">
            <a:avLst>
              <a:gd name="adj" fmla="val 5333"/>
            </a:avLst>
          </a:prstGeom>
          <a:solidFill>
            <a:srgbClr val="EEF5FB"/>
          </a:solidFill>
          <a:ln w="12700">
            <a:solidFill>
              <a:srgbClr val="EEF5FB"/>
            </a:solidFill>
            <a:prstDash val="solid"/>
          </a:ln>
          <a:effectLst>
            <a:outerShdw sx="100000" sy="100000" kx="0" ky="0" algn="bl" rotWithShape="0" blurRad="101600" dist="25400" dir="5400000">
              <a:srgbClr val="0A2540">
                <a:alpha val="12000"/>
              </a:srgbClr>
            </a:outerShdw>
          </a:effectLst>
        </p:spPr>
      </p:sp>
      <p:sp>
        <p:nvSpPr>
          <p:cNvPr id="14" name="Shape 10"/>
          <p:cNvSpPr/>
          <p:nvPr/>
        </p:nvSpPr>
        <p:spPr>
          <a:xfrm>
            <a:off x="6446520" y="1874520"/>
            <a:ext cx="822960" cy="822960"/>
          </a:xfrm>
          <a:prstGeom prst="ellipse">
            <a:avLst/>
          </a:prstGeom>
          <a:solidFill>
            <a:srgbClr val="F39200"/>
          </a:solidFill>
          <a:ln w="12700">
            <a:solidFill>
              <a:srgbClr val="F39200"/>
            </a:solidFill>
            <a:prstDash val="solid"/>
          </a:ln>
        </p:spPr>
      </p:sp>
      <p:pic>
        <p:nvPicPr>
          <p:cNvPr id="15" name="Image 2" descr="preencoded.png">    </p:cNvPr>
          <p:cNvPicPr>
            <a:picLocks noChangeAspect="1"/>
          </p:cNvPicPr>
          <p:nvPr/>
        </p:nvPicPr>
        <p:blipFill>
          <a:blip r:embed="rId3"/>
          <a:stretch>
            <a:fillRect/>
          </a:stretch>
        </p:blipFill>
        <p:spPr>
          <a:xfrm>
            <a:off x="6660490" y="2088490"/>
            <a:ext cx="395021" cy="395021"/>
          </a:xfrm>
          <a:prstGeom prst="rect">
            <a:avLst/>
          </a:prstGeom>
        </p:spPr>
      </p:pic>
      <p:sp>
        <p:nvSpPr>
          <p:cNvPr id="16" name="Text 11"/>
          <p:cNvSpPr txBox="1"/>
          <p:nvPr/>
        </p:nvSpPr>
        <p:spPr>
          <a:xfrm>
            <a:off x="7498080" y="1874520"/>
            <a:ext cx="3886200" cy="457200"/>
          </a:xfrm>
          <a:prstGeom prst="rect">
            <a:avLst/>
          </a:prstGeom>
          <a:noFill/>
          <a:ln/>
        </p:spPr>
        <p:txBody>
          <a:bodyPr wrap="square" lIns="0" tIns="0" rIns="0" bIns="0" rtlCol="0" anchor="t"/>
          <a:lstStyle/>
          <a:p>
            <a:pPr indent="0" marL="0">
              <a:buNone/>
            </a:pPr>
            <a:r>
              <a:rPr lang="en-US" sz="2000" b="1" dirty="0">
                <a:solidFill>
                  <a:srgbClr val="0A4A8C"/>
                </a:solidFill>
                <a:latin typeface="Cambria" pitchFamily="34" charset="0"/>
                <a:ea typeface="Cambria" pitchFamily="34" charset="-122"/>
                <a:cs typeface="Cambria" pitchFamily="34" charset="-120"/>
              </a:rPr>
              <a:t>Conseil non reproductible</a:t>
            </a:r>
            <a:endParaRPr lang="en-US" sz="2000" dirty="0"/>
          </a:p>
        </p:txBody>
      </p:sp>
      <p:sp>
        <p:nvSpPr>
          <p:cNvPr id="17" name="Text 12"/>
          <p:cNvSpPr txBox="1"/>
          <p:nvPr/>
        </p:nvSpPr>
        <p:spPr>
          <a:xfrm>
            <a:off x="7498080" y="2423160"/>
            <a:ext cx="3886200" cy="1005840"/>
          </a:xfrm>
          <a:prstGeom prst="rect">
            <a:avLst/>
          </a:prstGeom>
          <a:noFill/>
          <a:ln/>
        </p:spPr>
        <p:txBody>
          <a:bodyPr wrap="square" lIns="0" tIns="0" rIns="0" bIns="0" rtlCol="0" anchor="t"/>
          <a:lstStyle/>
          <a:p>
            <a:pPr indent="0" marL="0">
              <a:buNone/>
            </a:pPr>
            <a:r>
              <a:rPr lang="en-US" sz="1500" dirty="0">
                <a:solidFill>
                  <a:srgbClr val="5B6B7F"/>
                </a:solidFill>
                <a:latin typeface="Calibri" pitchFamily="34" charset="0"/>
                <a:ea typeface="Calibri" pitchFamily="34" charset="-122"/>
                <a:cs typeface="Calibri" pitchFamily="34" charset="-120"/>
              </a:rPr>
              <a:t>La qualité du conseil dépend de l'agent présent, pas d'une connaissance partagée</a:t>
            </a:r>
            <a:endParaRPr lang="en-US" sz="1500" dirty="0"/>
          </a:p>
        </p:txBody>
      </p:sp>
      <p:sp>
        <p:nvSpPr>
          <p:cNvPr id="18" name="Shape 13"/>
          <p:cNvSpPr/>
          <p:nvPr/>
        </p:nvSpPr>
        <p:spPr>
          <a:xfrm>
            <a:off x="548640" y="3840480"/>
            <a:ext cx="5440680" cy="2057400"/>
          </a:xfrm>
          <a:prstGeom prst="roundRect">
            <a:avLst>
              <a:gd name="adj" fmla="val 5333"/>
            </a:avLst>
          </a:prstGeom>
          <a:solidFill>
            <a:srgbClr val="EEF5FB"/>
          </a:solidFill>
          <a:ln w="12700">
            <a:solidFill>
              <a:srgbClr val="EEF5FB"/>
            </a:solidFill>
            <a:prstDash val="solid"/>
          </a:ln>
          <a:effectLst>
            <a:outerShdw sx="100000" sy="100000" kx="0" ky="0" algn="bl" rotWithShape="0" blurRad="101600" dist="25400" dir="5400000">
              <a:srgbClr val="0A2540">
                <a:alpha val="12000"/>
              </a:srgbClr>
            </a:outerShdw>
          </a:effectLst>
        </p:spPr>
      </p:sp>
      <p:sp>
        <p:nvSpPr>
          <p:cNvPr id="19" name="Shape 14"/>
          <p:cNvSpPr/>
          <p:nvPr/>
        </p:nvSpPr>
        <p:spPr>
          <a:xfrm>
            <a:off x="822960" y="4160520"/>
            <a:ext cx="822960" cy="822960"/>
          </a:xfrm>
          <a:prstGeom prst="ellipse">
            <a:avLst/>
          </a:prstGeom>
          <a:solidFill>
            <a:srgbClr val="F39200"/>
          </a:solidFill>
          <a:ln w="12700">
            <a:solidFill>
              <a:srgbClr val="F39200"/>
            </a:solidFill>
            <a:prstDash val="solid"/>
          </a:ln>
        </p:spPr>
      </p:sp>
      <p:pic>
        <p:nvPicPr>
          <p:cNvPr id="20" name="Image 3" descr="preencoded.png">    </p:cNvPr>
          <p:cNvPicPr>
            <a:picLocks noChangeAspect="1"/>
          </p:cNvPicPr>
          <p:nvPr/>
        </p:nvPicPr>
        <p:blipFill>
          <a:blip r:embed="rId4"/>
          <a:stretch>
            <a:fillRect/>
          </a:stretch>
        </p:blipFill>
        <p:spPr>
          <a:xfrm>
            <a:off x="1036930" y="4374490"/>
            <a:ext cx="395021" cy="395021"/>
          </a:xfrm>
          <a:prstGeom prst="rect">
            <a:avLst/>
          </a:prstGeom>
        </p:spPr>
      </p:pic>
      <p:sp>
        <p:nvSpPr>
          <p:cNvPr id="21" name="Text 15"/>
          <p:cNvSpPr txBox="1"/>
          <p:nvPr/>
        </p:nvSpPr>
        <p:spPr>
          <a:xfrm>
            <a:off x="1874520" y="4160520"/>
            <a:ext cx="3886200" cy="457200"/>
          </a:xfrm>
          <a:prstGeom prst="rect">
            <a:avLst/>
          </a:prstGeom>
          <a:noFill/>
          <a:ln/>
        </p:spPr>
        <p:txBody>
          <a:bodyPr wrap="square" lIns="0" tIns="0" rIns="0" bIns="0" rtlCol="0" anchor="t"/>
          <a:lstStyle/>
          <a:p>
            <a:pPr indent="0" marL="0">
              <a:buNone/>
            </a:pPr>
            <a:r>
              <a:rPr lang="en-US" sz="2000" b="1" dirty="0">
                <a:solidFill>
                  <a:srgbClr val="0A4A8C"/>
                </a:solidFill>
                <a:latin typeface="Cambria" pitchFamily="34" charset="0"/>
                <a:ea typeface="Cambria" pitchFamily="34" charset="-122"/>
                <a:cs typeface="Cambria" pitchFamily="34" charset="-120"/>
              </a:rPr>
              <a:t>Pilotage à l'aveugle</a:t>
            </a:r>
            <a:endParaRPr lang="en-US" sz="2000" dirty="0"/>
          </a:p>
        </p:txBody>
      </p:sp>
      <p:sp>
        <p:nvSpPr>
          <p:cNvPr id="22" name="Text 16"/>
          <p:cNvSpPr txBox="1"/>
          <p:nvPr/>
        </p:nvSpPr>
        <p:spPr>
          <a:xfrm>
            <a:off x="1874520" y="4709160"/>
            <a:ext cx="3886200" cy="1005840"/>
          </a:xfrm>
          <a:prstGeom prst="rect">
            <a:avLst/>
          </a:prstGeom>
          <a:noFill/>
          <a:ln/>
        </p:spPr>
        <p:txBody>
          <a:bodyPr wrap="square" lIns="0" tIns="0" rIns="0" bIns="0" rtlCol="0" anchor="t"/>
          <a:lstStyle/>
          <a:p>
            <a:pPr indent="0" marL="0">
              <a:buNone/>
            </a:pPr>
            <a:r>
              <a:rPr lang="en-US" sz="1500" dirty="0">
                <a:solidFill>
                  <a:srgbClr val="5B6B7F"/>
                </a:solidFill>
                <a:latin typeface="Calibri" pitchFamily="34" charset="0"/>
                <a:ea typeface="Calibri" pitchFamily="34" charset="-122"/>
                <a:cs typeface="Calibri" pitchFamily="34" charset="-120"/>
              </a:rPr>
              <a:t>Chiffre d'affaires, annulations, saisonnalité : aucun tableau de bord</a:t>
            </a:r>
            <a:endParaRPr lang="en-US" sz="1500" dirty="0"/>
          </a:p>
        </p:txBody>
      </p:sp>
      <p:sp>
        <p:nvSpPr>
          <p:cNvPr id="23" name="Shape 17"/>
          <p:cNvSpPr/>
          <p:nvPr/>
        </p:nvSpPr>
        <p:spPr>
          <a:xfrm>
            <a:off x="6172200" y="3840480"/>
            <a:ext cx="5440680" cy="2057400"/>
          </a:xfrm>
          <a:prstGeom prst="roundRect">
            <a:avLst>
              <a:gd name="adj" fmla="val 5333"/>
            </a:avLst>
          </a:prstGeom>
          <a:solidFill>
            <a:srgbClr val="FEF6E4"/>
          </a:solidFill>
          <a:ln w="12700">
            <a:solidFill>
              <a:srgbClr val="FEF6E4"/>
            </a:solidFill>
            <a:prstDash val="solid"/>
          </a:ln>
          <a:effectLst>
            <a:outerShdw sx="100000" sy="100000" kx="0" ky="0" algn="bl" rotWithShape="0" blurRad="101600" dist="25400" dir="5400000">
              <a:srgbClr val="0A2540">
                <a:alpha val="12000"/>
              </a:srgbClr>
            </a:outerShdw>
          </a:effectLst>
        </p:spPr>
      </p:sp>
      <p:sp>
        <p:nvSpPr>
          <p:cNvPr id="24" name="Shape 18"/>
          <p:cNvSpPr/>
          <p:nvPr/>
        </p:nvSpPr>
        <p:spPr>
          <a:xfrm>
            <a:off x="6446520" y="4160520"/>
            <a:ext cx="822960" cy="822960"/>
          </a:xfrm>
          <a:prstGeom prst="ellipse">
            <a:avLst/>
          </a:prstGeom>
          <a:solidFill>
            <a:srgbClr val="F39200"/>
          </a:solidFill>
          <a:ln w="12700">
            <a:solidFill>
              <a:srgbClr val="F39200"/>
            </a:solidFill>
            <a:prstDash val="solid"/>
          </a:ln>
        </p:spPr>
      </p:sp>
      <p:pic>
        <p:nvPicPr>
          <p:cNvPr id="25" name="Image 4" descr="preencoded.png">    </p:cNvPr>
          <p:cNvPicPr>
            <a:picLocks noChangeAspect="1"/>
          </p:cNvPicPr>
          <p:nvPr/>
        </p:nvPicPr>
        <p:blipFill>
          <a:blip r:embed="rId5"/>
          <a:stretch>
            <a:fillRect/>
          </a:stretch>
        </p:blipFill>
        <p:spPr>
          <a:xfrm>
            <a:off x="6660490" y="4374490"/>
            <a:ext cx="395021" cy="395021"/>
          </a:xfrm>
          <a:prstGeom prst="rect">
            <a:avLst/>
          </a:prstGeom>
        </p:spPr>
      </p:pic>
      <p:sp>
        <p:nvSpPr>
          <p:cNvPr id="26" name="Text 19"/>
          <p:cNvSpPr txBox="1"/>
          <p:nvPr/>
        </p:nvSpPr>
        <p:spPr>
          <a:xfrm>
            <a:off x="7498080" y="4160520"/>
            <a:ext cx="3886200" cy="457200"/>
          </a:xfrm>
          <a:prstGeom prst="rect">
            <a:avLst/>
          </a:prstGeom>
          <a:noFill/>
          <a:ln/>
        </p:spPr>
        <p:txBody>
          <a:bodyPr wrap="square" lIns="0" tIns="0" rIns="0" bIns="0" rtlCol="0" anchor="t"/>
          <a:lstStyle/>
          <a:p>
            <a:pPr indent="0" marL="0">
              <a:buNone/>
            </a:pPr>
            <a:r>
              <a:rPr lang="en-US" sz="2000" b="1" dirty="0">
                <a:solidFill>
                  <a:srgbClr val="0A4A8C"/>
                </a:solidFill>
                <a:latin typeface="Cambria" pitchFamily="34" charset="0"/>
                <a:ea typeface="Cambria" pitchFamily="34" charset="-122"/>
                <a:cs typeface="Cambria" pitchFamily="34" charset="-120"/>
              </a:rPr>
              <a:t>Ventes manquées</a:t>
            </a:r>
            <a:endParaRPr lang="en-US" sz="2000" dirty="0"/>
          </a:p>
        </p:txBody>
      </p:sp>
      <p:sp>
        <p:nvSpPr>
          <p:cNvPr id="27" name="Text 20"/>
          <p:cNvSpPr txBox="1"/>
          <p:nvPr/>
        </p:nvSpPr>
        <p:spPr>
          <a:xfrm>
            <a:off x="7498080" y="4709160"/>
            <a:ext cx="3886200" cy="1005840"/>
          </a:xfrm>
          <a:prstGeom prst="rect">
            <a:avLst/>
          </a:prstGeom>
          <a:noFill/>
          <a:ln/>
        </p:spPr>
        <p:txBody>
          <a:bodyPr wrap="square" lIns="0" tIns="0" rIns="0" bIns="0" rtlCol="0" anchor="t"/>
          <a:lstStyle/>
          <a:p>
            <a:pPr indent="0" marL="0">
              <a:buNone/>
            </a:pPr>
            <a:r>
              <a:rPr lang="en-US" sz="1500" dirty="0">
                <a:solidFill>
                  <a:srgbClr val="5B6B7F"/>
                </a:solidFill>
                <a:latin typeface="Calibri" pitchFamily="34" charset="0"/>
                <a:ea typeface="Calibri" pitchFamily="34" charset="-122"/>
                <a:cs typeface="Calibri" pitchFamily="34" charset="-120"/>
              </a:rPr>
              <a:t>Pas de relance ciblée, pas de fidélisation, pas de ventes additionnelles</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660136" y="1097280"/>
            <a:ext cx="868680" cy="868680"/>
          </a:xfrm>
          <a:prstGeom prst="ellipse">
            <a:avLst/>
          </a:prstGeom>
          <a:solidFill>
            <a:srgbClr val="F39200"/>
          </a:solidFill>
          <a:ln w="12700">
            <a:solidFill>
              <a:srgbClr val="F39200"/>
            </a:solidFill>
            <a:prstDash val="solid"/>
          </a:ln>
        </p:spPr>
      </p:sp>
      <p:pic>
        <p:nvPicPr>
          <p:cNvPr id="3" name="Image 0" descr="preencoded.png">    </p:cNvPr>
          <p:cNvPicPr>
            <a:picLocks noChangeAspect="1"/>
          </p:cNvPicPr>
          <p:nvPr/>
        </p:nvPicPr>
        <p:blipFill>
          <a:blip r:embed="rId2"/>
          <a:stretch>
            <a:fillRect/>
          </a:stretch>
        </p:blipFill>
        <p:spPr>
          <a:xfrm>
            <a:off x="5885993" y="1323137"/>
            <a:ext cx="416966" cy="416966"/>
          </a:xfrm>
          <a:prstGeom prst="rect">
            <a:avLst/>
          </a:prstGeom>
        </p:spPr>
      </p:pic>
      <p:sp>
        <p:nvSpPr>
          <p:cNvPr id="4" name="Text 1"/>
          <p:cNvSpPr txBox="1"/>
          <p:nvPr/>
        </p:nvSpPr>
        <p:spPr>
          <a:xfrm>
            <a:off x="548640" y="2148840"/>
            <a:ext cx="11064240" cy="320040"/>
          </a:xfrm>
          <a:prstGeom prst="rect">
            <a:avLst/>
          </a:prstGeom>
          <a:noFill/>
          <a:ln/>
        </p:spPr>
        <p:txBody>
          <a:bodyPr wrap="square" lIns="0" tIns="0" rIns="0" bIns="0" rtlCol="0" anchor="t"/>
          <a:lstStyle/>
          <a:p>
            <a:pPr algn="ctr" indent="0" marL="0">
              <a:buNone/>
            </a:pPr>
            <a:r>
              <a:rPr lang="en-US" sz="1300" b="1" spc="300" kern="0" dirty="0">
                <a:solidFill>
                  <a:srgbClr val="FDB52B"/>
                </a:solidFill>
                <a:latin typeface="Calibri" pitchFamily="34" charset="0"/>
                <a:ea typeface="Calibri" pitchFamily="34" charset="-122"/>
                <a:cs typeface="Calibri" pitchFamily="34" charset="-120"/>
              </a:rPr>
              <a:t>PROBLÉMATIQUE</a:t>
            </a:r>
            <a:endParaRPr lang="en-US" sz="1300" dirty="0"/>
          </a:p>
        </p:txBody>
      </p:sp>
      <p:sp>
        <p:nvSpPr>
          <p:cNvPr id="5" name="Text 2"/>
          <p:cNvSpPr txBox="1"/>
          <p:nvPr/>
        </p:nvSpPr>
        <p:spPr>
          <a:xfrm>
            <a:off x="1188720" y="2606040"/>
            <a:ext cx="9784080" cy="2011680"/>
          </a:xfrm>
          <a:prstGeom prst="rect">
            <a:avLst/>
          </a:prstGeom>
          <a:noFill/>
          <a:ln/>
        </p:spPr>
        <p:txBody>
          <a:bodyPr wrap="square" lIns="0" tIns="0" rIns="0" bIns="0" rtlCol="0" anchor="ctr"/>
          <a:lstStyle/>
          <a:p>
            <a:pPr algn="ctr" indent="0" marL="0">
              <a:buNone/>
            </a:pPr>
            <a:r>
              <a:rPr lang="en-US" sz="2800" dirty="0">
                <a:solidFill>
                  <a:srgbClr val="FFFFFF"/>
                </a:solidFill>
                <a:latin typeface="Cambria" pitchFamily="34" charset="0"/>
                <a:ea typeface="Cambria" pitchFamily="34" charset="-122"/>
                <a:cs typeface="Cambria" pitchFamily="34" charset="-120"/>
              </a:rPr>
              <a:t>Comment transformer les données de l'agence en un outil qui l'aide à mieux décider et à proposer à chaque client, même nouveau, le voyage qui lui correspond ?</a:t>
            </a:r>
            <a:endParaRPr lang="en-US" sz="2800" dirty="0"/>
          </a:p>
        </p:txBody>
      </p:sp>
      <p:sp>
        <p:nvSpPr>
          <p:cNvPr id="6" name="Text 3"/>
          <p:cNvSpPr txBox="1"/>
          <p:nvPr/>
        </p:nvSpPr>
        <p:spPr>
          <a:xfrm>
            <a:off x="11320272" y="6364224"/>
            <a:ext cx="347472"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07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772400" cy="274320"/>
          </a:xfrm>
          <a:prstGeom prst="rect">
            <a:avLst/>
          </a:prstGeom>
          <a:noFill/>
          <a:ln/>
        </p:spPr>
        <p:txBody>
          <a:bodyPr wrap="square" lIns="0" tIns="0" rIns="0" bIns="0" rtlCol="0" anchor="t"/>
          <a:lstStyle/>
          <a:p>
            <a:pPr indent="0" marL="0">
              <a:buNone/>
            </a:pPr>
            <a:r>
              <a:rPr lang="en-US" sz="1100" b="1" spc="200" kern="0" dirty="0">
                <a:solidFill>
                  <a:srgbClr val="F39200"/>
                </a:solidFill>
                <a:latin typeface="Calibri" pitchFamily="34" charset="0"/>
                <a:ea typeface="Calibri" pitchFamily="34" charset="-122"/>
                <a:cs typeface="Calibri" pitchFamily="34" charset="-120"/>
              </a:rPr>
              <a:t>NOTRE SOLUTION</a:t>
            </a:r>
            <a:endParaRPr lang="en-US" sz="1100" dirty="0"/>
          </a:p>
        </p:txBody>
      </p:sp>
      <p:sp>
        <p:nvSpPr>
          <p:cNvPr id="3" name="Text 1"/>
          <p:cNvSpPr txBox="1"/>
          <p:nvPr/>
        </p:nvSpPr>
        <p:spPr>
          <a:xfrm>
            <a:off x="548640" y="603504"/>
            <a:ext cx="9326880" cy="685800"/>
          </a:xfrm>
          <a:prstGeom prst="rect">
            <a:avLst/>
          </a:prstGeom>
          <a:noFill/>
          <a:ln/>
        </p:spPr>
        <p:txBody>
          <a:bodyPr wrap="square" lIns="0" tIns="0" rIns="0" bIns="0" rtlCol="0" anchor="ctr"/>
          <a:lstStyle/>
          <a:p>
            <a:pPr indent="0" marL="0">
              <a:buNone/>
            </a:pPr>
            <a:r>
              <a:rPr lang="en-US" sz="3000" b="1" dirty="0">
                <a:solidFill>
                  <a:srgbClr val="0A4A8C"/>
                </a:solidFill>
                <a:latin typeface="Cambria" pitchFamily="34" charset="0"/>
                <a:ea typeface="Cambria" pitchFamily="34" charset="-122"/>
                <a:cs typeface="Cambria" pitchFamily="34" charset="-120"/>
              </a:rPr>
              <a:t>Solution proposée : TravelBI</a:t>
            </a:r>
            <a:endParaRPr lang="en-US" sz="3000" dirty="0"/>
          </a:p>
        </p:txBody>
      </p:sp>
      <p:pic>
        <p:nvPicPr>
          <p:cNvPr id="4" name="Image 0" descr="assets/logo_sunny.png">    </p:cNvPr>
          <p:cNvPicPr>
            <a:picLocks noChangeAspect="1"/>
          </p:cNvPicPr>
          <p:nvPr/>
        </p:nvPicPr>
        <p:blipFill>
          <a:blip r:embed="rId1"/>
          <a:stretch>
            <a:fillRect/>
          </a:stretch>
        </p:blipFill>
        <p:spPr>
          <a:xfrm>
            <a:off x="10012680" y="481366"/>
            <a:ext cx="1691640" cy="372291"/>
          </a:xfrm>
          <a:prstGeom prst="rect">
            <a:avLst/>
          </a:prstGeom>
        </p:spPr>
      </p:pic>
      <p:sp>
        <p:nvSpPr>
          <p:cNvPr id="5" name="Text 2"/>
          <p:cNvSpPr txBox="1"/>
          <p:nvPr/>
        </p:nvSpPr>
        <p:spPr>
          <a:xfrm>
            <a:off x="548640" y="6428232"/>
            <a:ext cx="7315200" cy="228600"/>
          </a:xfrm>
          <a:prstGeom prst="rect">
            <a:avLst/>
          </a:prstGeom>
          <a:noFill/>
          <a:ln/>
        </p:spPr>
        <p:txBody>
          <a:bodyPr wrap="square" lIns="0" tIns="0" rIns="0" bIns="0" rtlCol="0" anchor="t"/>
          <a:lstStyle/>
          <a:p>
            <a:pPr indent="0" marL="0">
              <a:buNone/>
            </a:pPr>
            <a:r>
              <a:rPr lang="en-US" sz="900" dirty="0">
                <a:solidFill>
                  <a:srgbClr val="5B6B7F"/>
                </a:solidFill>
                <a:latin typeface="Calibri" pitchFamily="34" charset="0"/>
                <a:ea typeface="Calibri" pitchFamily="34" charset="-122"/>
                <a:cs typeface="Calibri" pitchFamily="34" charset="-120"/>
              </a:rPr>
              <a:t>Ranim Nabi  ·  PFE ESPRIT 2025-2026  ·  2 Go Sunny Tunisia Trip</a:t>
            </a:r>
            <a:endParaRPr lang="en-US" sz="900" dirty="0"/>
          </a:p>
        </p:txBody>
      </p:sp>
      <p:sp>
        <p:nvSpPr>
          <p:cNvPr id="6" name="Shape 3"/>
          <p:cNvSpPr/>
          <p:nvPr/>
        </p:nvSpPr>
        <p:spPr>
          <a:xfrm>
            <a:off x="11320272" y="6364224"/>
            <a:ext cx="347472" cy="347472"/>
          </a:xfrm>
          <a:prstGeom prst="ellipse">
            <a:avLst/>
          </a:prstGeom>
          <a:solidFill>
            <a:srgbClr val="F39200"/>
          </a:solidFill>
          <a:ln w="12700">
            <a:solidFill>
              <a:srgbClr val="F39200"/>
            </a:solidFill>
            <a:prstDash val="solid"/>
          </a:ln>
        </p:spPr>
      </p:sp>
      <p:sp>
        <p:nvSpPr>
          <p:cNvPr id="7" name="Text 4"/>
          <p:cNvSpPr txBox="1"/>
          <p:nvPr/>
        </p:nvSpPr>
        <p:spPr>
          <a:xfrm>
            <a:off x="11320272" y="6364224"/>
            <a:ext cx="347472"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08</a:t>
            </a:r>
            <a:endParaRPr lang="en-US" sz="1000" dirty="0"/>
          </a:p>
        </p:txBody>
      </p:sp>
      <p:sp>
        <p:nvSpPr>
          <p:cNvPr id="8" name="Text 5"/>
          <p:cNvSpPr txBox="1"/>
          <p:nvPr/>
        </p:nvSpPr>
        <p:spPr>
          <a:xfrm>
            <a:off x="548640" y="1463040"/>
            <a:ext cx="10972800" cy="365760"/>
          </a:xfrm>
          <a:prstGeom prst="rect">
            <a:avLst/>
          </a:prstGeom>
          <a:noFill/>
          <a:ln/>
        </p:spPr>
        <p:txBody>
          <a:bodyPr wrap="square" lIns="0" tIns="0" rIns="0" bIns="0" rtlCol="0" anchor="t"/>
          <a:lstStyle/>
          <a:p>
            <a:pPr indent="0" marL="0">
              <a:buNone/>
            </a:pPr>
            <a:r>
              <a:rPr lang="en-US" sz="1700" dirty="0">
                <a:solidFill>
                  <a:srgbClr val="5B6B7F"/>
                </a:solidFill>
                <a:latin typeface="Calibri" pitchFamily="34" charset="0"/>
                <a:ea typeface="Calibri" pitchFamily="34" charset="-122"/>
                <a:cs typeface="Calibri" pitchFamily="34" charset="-120"/>
              </a:rPr>
              <a:t>Une application unique qui réunit trois services pour l'agence</a:t>
            </a:r>
            <a:endParaRPr lang="en-US" sz="1700" dirty="0"/>
          </a:p>
        </p:txBody>
      </p:sp>
      <p:sp>
        <p:nvSpPr>
          <p:cNvPr id="9" name="Shape 6"/>
          <p:cNvSpPr/>
          <p:nvPr/>
        </p:nvSpPr>
        <p:spPr>
          <a:xfrm>
            <a:off x="548640" y="2057400"/>
            <a:ext cx="3584448" cy="3246120"/>
          </a:xfrm>
          <a:prstGeom prst="roundRect">
            <a:avLst>
              <a:gd name="adj" fmla="val 3380"/>
            </a:avLst>
          </a:prstGeom>
          <a:solidFill>
            <a:srgbClr val="EEF5FB"/>
          </a:solidFill>
          <a:ln w="12700">
            <a:solidFill>
              <a:srgbClr val="EEF5FB"/>
            </a:solidFill>
            <a:prstDash val="solid"/>
          </a:ln>
          <a:effectLst>
            <a:outerShdw sx="100000" sy="100000" kx="0" ky="0" algn="bl" rotWithShape="0" blurRad="101600" dist="25400" dir="5400000">
              <a:srgbClr val="0A2540">
                <a:alpha val="12000"/>
              </a:srgbClr>
            </a:outerShdw>
          </a:effectLst>
        </p:spPr>
      </p:sp>
      <p:sp>
        <p:nvSpPr>
          <p:cNvPr id="10" name="Shape 7"/>
          <p:cNvSpPr/>
          <p:nvPr/>
        </p:nvSpPr>
        <p:spPr>
          <a:xfrm>
            <a:off x="822960" y="2331720"/>
            <a:ext cx="822960" cy="822960"/>
          </a:xfrm>
          <a:prstGeom prst="ellipse">
            <a:avLst/>
          </a:prstGeom>
          <a:solidFill>
            <a:srgbClr val="F39200"/>
          </a:solidFill>
          <a:ln w="12700">
            <a:solidFill>
              <a:srgbClr val="F39200"/>
            </a:solidFill>
            <a:prstDash val="solid"/>
          </a:ln>
        </p:spPr>
      </p:sp>
      <p:pic>
        <p:nvPicPr>
          <p:cNvPr id="11" name="Image 1" descr="preencoded.png">    </p:cNvPr>
          <p:cNvPicPr>
            <a:picLocks noChangeAspect="1"/>
          </p:cNvPicPr>
          <p:nvPr/>
        </p:nvPicPr>
        <p:blipFill>
          <a:blip r:embed="rId2"/>
          <a:stretch>
            <a:fillRect/>
          </a:stretch>
        </p:blipFill>
        <p:spPr>
          <a:xfrm>
            <a:off x="1036930" y="2545690"/>
            <a:ext cx="395021" cy="395021"/>
          </a:xfrm>
          <a:prstGeom prst="rect">
            <a:avLst/>
          </a:prstGeom>
        </p:spPr>
      </p:pic>
      <p:sp>
        <p:nvSpPr>
          <p:cNvPr id="12" name="Text 8"/>
          <p:cNvSpPr txBox="1"/>
          <p:nvPr/>
        </p:nvSpPr>
        <p:spPr>
          <a:xfrm>
            <a:off x="1828800" y="2468880"/>
            <a:ext cx="2194560" cy="548640"/>
          </a:xfrm>
          <a:prstGeom prst="rect">
            <a:avLst/>
          </a:prstGeom>
          <a:noFill/>
          <a:ln/>
        </p:spPr>
        <p:txBody>
          <a:bodyPr wrap="square" lIns="0" tIns="0" rIns="0" bIns="0" rtlCol="0" anchor="ctr"/>
          <a:lstStyle/>
          <a:p>
            <a:pPr indent="0" marL="0">
              <a:buNone/>
            </a:pPr>
            <a:r>
              <a:rPr lang="en-US" sz="2200" b="1" dirty="0">
                <a:solidFill>
                  <a:srgbClr val="0A4A8C"/>
                </a:solidFill>
                <a:latin typeface="Cambria" pitchFamily="34" charset="0"/>
                <a:ea typeface="Cambria" pitchFamily="34" charset="-122"/>
                <a:cs typeface="Cambria" pitchFamily="34" charset="-120"/>
              </a:rPr>
              <a:t>Piloter</a:t>
            </a:r>
            <a:endParaRPr lang="en-US" sz="2200" dirty="0"/>
          </a:p>
        </p:txBody>
      </p:sp>
      <p:sp>
        <p:nvSpPr>
          <p:cNvPr id="13" name="Text 9"/>
          <p:cNvSpPr txBox="1"/>
          <p:nvPr/>
        </p:nvSpPr>
        <p:spPr>
          <a:xfrm>
            <a:off x="822960" y="3383280"/>
            <a:ext cx="3063240" cy="1280160"/>
          </a:xfrm>
          <a:prstGeom prst="rect">
            <a:avLst/>
          </a:prstGeom>
          <a:noFill/>
          <a:ln/>
        </p:spPr>
        <p:txBody>
          <a:bodyPr wrap="square" lIns="0" tIns="0" rIns="0" bIns="0" rtlCol="0" anchor="t"/>
          <a:lstStyle/>
          <a:p>
            <a:pPr indent="0" marL="0">
              <a:buNone/>
            </a:pPr>
            <a:r>
              <a:rPr lang="en-US" sz="1400" dirty="0">
                <a:solidFill>
                  <a:srgbClr val="1B2A3A"/>
                </a:solidFill>
                <a:latin typeface="Calibri" pitchFamily="34" charset="0"/>
                <a:ea typeface="Calibri" pitchFamily="34" charset="-122"/>
                <a:cs typeface="Calibri" pitchFamily="34" charset="-120"/>
              </a:rPr>
              <a:t>Des tableaux de bord clairs : chiffre d'affaires, réservations, annulations, saisons, destinations phares</a:t>
            </a:r>
            <a:endParaRPr lang="en-US" sz="1400" dirty="0"/>
          </a:p>
        </p:txBody>
      </p:sp>
      <p:sp>
        <p:nvSpPr>
          <p:cNvPr id="14" name="Text 10"/>
          <p:cNvSpPr txBox="1"/>
          <p:nvPr/>
        </p:nvSpPr>
        <p:spPr>
          <a:xfrm>
            <a:off x="822960" y="4754880"/>
            <a:ext cx="3063240" cy="320040"/>
          </a:xfrm>
          <a:prstGeom prst="rect">
            <a:avLst/>
          </a:prstGeom>
          <a:noFill/>
          <a:ln/>
        </p:spPr>
        <p:txBody>
          <a:bodyPr wrap="square" lIns="0" tIns="0" rIns="0" bIns="0" rtlCol="0" anchor="t"/>
          <a:lstStyle/>
          <a:p>
            <a:pPr indent="0" marL="0">
              <a:buNone/>
            </a:pPr>
            <a:r>
              <a:rPr lang="en-US" sz="1100" b="1" spc="100" kern="0" dirty="0">
                <a:solidFill>
                  <a:srgbClr val="F39200"/>
                </a:solidFill>
                <a:latin typeface="Calibri" pitchFamily="34" charset="0"/>
                <a:ea typeface="Calibri" pitchFamily="34" charset="-122"/>
                <a:cs typeface="Calibri" pitchFamily="34" charset="-120"/>
              </a:rPr>
              <a:t>POUR LA DIRECTION</a:t>
            </a:r>
            <a:endParaRPr lang="en-US" sz="1100" dirty="0"/>
          </a:p>
        </p:txBody>
      </p:sp>
      <p:sp>
        <p:nvSpPr>
          <p:cNvPr id="15" name="Shape 11"/>
          <p:cNvSpPr/>
          <p:nvPr/>
        </p:nvSpPr>
        <p:spPr>
          <a:xfrm>
            <a:off x="4297680" y="2057400"/>
            <a:ext cx="3584448" cy="3246120"/>
          </a:xfrm>
          <a:prstGeom prst="roundRect">
            <a:avLst>
              <a:gd name="adj" fmla="val 3380"/>
            </a:avLst>
          </a:prstGeom>
          <a:solidFill>
            <a:srgbClr val="0A4A8C"/>
          </a:solidFill>
          <a:ln w="12700">
            <a:solidFill>
              <a:srgbClr val="0A4A8C"/>
            </a:solidFill>
            <a:prstDash val="solid"/>
          </a:ln>
          <a:effectLst>
            <a:outerShdw sx="100000" sy="100000" kx="0" ky="0" algn="bl" rotWithShape="0" blurRad="101600" dist="25400" dir="5400000">
              <a:srgbClr val="0A2540">
                <a:alpha val="12000"/>
              </a:srgbClr>
            </a:outerShdw>
          </a:effectLst>
        </p:spPr>
      </p:sp>
      <p:sp>
        <p:nvSpPr>
          <p:cNvPr id="16" name="Shape 12"/>
          <p:cNvSpPr/>
          <p:nvPr/>
        </p:nvSpPr>
        <p:spPr>
          <a:xfrm>
            <a:off x="4572000" y="2331720"/>
            <a:ext cx="822960" cy="822960"/>
          </a:xfrm>
          <a:prstGeom prst="ellipse">
            <a:avLst/>
          </a:prstGeom>
          <a:solidFill>
            <a:srgbClr val="F39200"/>
          </a:solidFill>
          <a:ln w="12700">
            <a:solidFill>
              <a:srgbClr val="F39200"/>
            </a:solidFill>
            <a:prstDash val="solid"/>
          </a:ln>
        </p:spPr>
      </p:sp>
      <p:pic>
        <p:nvPicPr>
          <p:cNvPr id="17" name="Image 2" descr="preencoded.png">    </p:cNvPr>
          <p:cNvPicPr>
            <a:picLocks noChangeAspect="1"/>
          </p:cNvPicPr>
          <p:nvPr/>
        </p:nvPicPr>
        <p:blipFill>
          <a:blip r:embed="rId3"/>
          <a:stretch>
            <a:fillRect/>
          </a:stretch>
        </p:blipFill>
        <p:spPr>
          <a:xfrm>
            <a:off x="4785970" y="2545690"/>
            <a:ext cx="395021" cy="395021"/>
          </a:xfrm>
          <a:prstGeom prst="rect">
            <a:avLst/>
          </a:prstGeom>
        </p:spPr>
      </p:pic>
      <p:sp>
        <p:nvSpPr>
          <p:cNvPr id="18" name="Text 13"/>
          <p:cNvSpPr txBox="1"/>
          <p:nvPr/>
        </p:nvSpPr>
        <p:spPr>
          <a:xfrm>
            <a:off x="5577840" y="2468880"/>
            <a:ext cx="2194560" cy="54864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Recommander</a:t>
            </a:r>
            <a:endParaRPr lang="en-US" sz="2200" dirty="0"/>
          </a:p>
        </p:txBody>
      </p:sp>
      <p:sp>
        <p:nvSpPr>
          <p:cNvPr id="19" name="Text 14"/>
          <p:cNvSpPr txBox="1"/>
          <p:nvPr/>
        </p:nvSpPr>
        <p:spPr>
          <a:xfrm>
            <a:off x="4572000" y="3383280"/>
            <a:ext cx="3063240" cy="1280160"/>
          </a:xfrm>
          <a:prstGeom prst="rect">
            <a:avLst/>
          </a:prstGeom>
          <a:noFill/>
          <a:ln/>
        </p:spPr>
        <p:txBody>
          <a:bodyPr wrap="square" lIns="0" tIns="0" rIns="0" bIns="0" rtlCol="0" anchor="t"/>
          <a:lstStyle/>
          <a:p>
            <a:pPr indent="0" marL="0">
              <a:buNone/>
            </a:pPr>
            <a:r>
              <a:rPr lang="en-US" sz="1400" dirty="0">
                <a:solidFill>
                  <a:srgbClr val="CFE3F5"/>
                </a:solidFill>
                <a:latin typeface="Calibri" pitchFamily="34" charset="0"/>
                <a:ea typeface="Calibri" pitchFamily="34" charset="-122"/>
                <a:cs typeface="Calibri" pitchFamily="34" charset="-120"/>
              </a:rPr>
              <a:t>Pour chaque client, les destinations les plus adaptées, avec les raisons de la recommandation</a:t>
            </a:r>
            <a:endParaRPr lang="en-US" sz="1400" dirty="0"/>
          </a:p>
        </p:txBody>
      </p:sp>
      <p:sp>
        <p:nvSpPr>
          <p:cNvPr id="20" name="Text 15"/>
          <p:cNvSpPr txBox="1"/>
          <p:nvPr/>
        </p:nvSpPr>
        <p:spPr>
          <a:xfrm>
            <a:off x="4572000" y="4754880"/>
            <a:ext cx="3063240" cy="320040"/>
          </a:xfrm>
          <a:prstGeom prst="rect">
            <a:avLst/>
          </a:prstGeom>
          <a:noFill/>
          <a:ln/>
        </p:spPr>
        <p:txBody>
          <a:bodyPr wrap="square" lIns="0" tIns="0" rIns="0" bIns="0" rtlCol="0" anchor="t"/>
          <a:lstStyle/>
          <a:p>
            <a:pPr indent="0" marL="0">
              <a:buNone/>
            </a:pPr>
            <a:r>
              <a:rPr lang="en-US" sz="1100" b="1" spc="100" kern="0" dirty="0">
                <a:solidFill>
                  <a:srgbClr val="FDB52B"/>
                </a:solidFill>
                <a:latin typeface="Calibri" pitchFamily="34" charset="0"/>
                <a:ea typeface="Calibri" pitchFamily="34" charset="-122"/>
                <a:cs typeface="Calibri" pitchFamily="34" charset="-120"/>
              </a:rPr>
              <a:t>POUR LES CONSEILLERS</a:t>
            </a:r>
            <a:endParaRPr lang="en-US" sz="1100" dirty="0"/>
          </a:p>
        </p:txBody>
      </p:sp>
      <p:sp>
        <p:nvSpPr>
          <p:cNvPr id="21" name="Shape 16"/>
          <p:cNvSpPr/>
          <p:nvPr/>
        </p:nvSpPr>
        <p:spPr>
          <a:xfrm>
            <a:off x="8046720" y="2057400"/>
            <a:ext cx="3584448" cy="3246120"/>
          </a:xfrm>
          <a:prstGeom prst="roundRect">
            <a:avLst>
              <a:gd name="adj" fmla="val 3380"/>
            </a:avLst>
          </a:prstGeom>
          <a:solidFill>
            <a:srgbClr val="EEF5FB"/>
          </a:solidFill>
          <a:ln w="12700">
            <a:solidFill>
              <a:srgbClr val="EEF5FB"/>
            </a:solidFill>
            <a:prstDash val="solid"/>
          </a:ln>
          <a:effectLst>
            <a:outerShdw sx="100000" sy="100000" kx="0" ky="0" algn="bl" rotWithShape="0" blurRad="101600" dist="25400" dir="5400000">
              <a:srgbClr val="0A2540">
                <a:alpha val="12000"/>
              </a:srgbClr>
            </a:outerShdw>
          </a:effectLst>
        </p:spPr>
      </p:sp>
      <p:sp>
        <p:nvSpPr>
          <p:cNvPr id="22" name="Shape 17"/>
          <p:cNvSpPr/>
          <p:nvPr/>
        </p:nvSpPr>
        <p:spPr>
          <a:xfrm>
            <a:off x="8321040" y="2331720"/>
            <a:ext cx="822960" cy="822960"/>
          </a:xfrm>
          <a:prstGeom prst="ellipse">
            <a:avLst/>
          </a:prstGeom>
          <a:solidFill>
            <a:srgbClr val="F39200"/>
          </a:solidFill>
          <a:ln w="12700">
            <a:solidFill>
              <a:srgbClr val="F39200"/>
            </a:solidFill>
            <a:prstDash val="solid"/>
          </a:ln>
        </p:spPr>
      </p:sp>
      <p:pic>
        <p:nvPicPr>
          <p:cNvPr id="23" name="Image 3" descr="preencoded.png">    </p:cNvPr>
          <p:cNvPicPr>
            <a:picLocks noChangeAspect="1"/>
          </p:cNvPicPr>
          <p:nvPr/>
        </p:nvPicPr>
        <p:blipFill>
          <a:blip r:embed="rId4"/>
          <a:stretch>
            <a:fillRect/>
          </a:stretch>
        </p:blipFill>
        <p:spPr>
          <a:xfrm>
            <a:off x="8535010" y="2545690"/>
            <a:ext cx="395021" cy="395021"/>
          </a:xfrm>
          <a:prstGeom prst="rect">
            <a:avLst/>
          </a:prstGeom>
        </p:spPr>
      </p:pic>
      <p:sp>
        <p:nvSpPr>
          <p:cNvPr id="24" name="Text 18"/>
          <p:cNvSpPr txBox="1"/>
          <p:nvPr/>
        </p:nvSpPr>
        <p:spPr>
          <a:xfrm>
            <a:off x="9326880" y="2468880"/>
            <a:ext cx="2194560" cy="548640"/>
          </a:xfrm>
          <a:prstGeom prst="rect">
            <a:avLst/>
          </a:prstGeom>
          <a:noFill/>
          <a:ln/>
        </p:spPr>
        <p:txBody>
          <a:bodyPr wrap="square" lIns="0" tIns="0" rIns="0" bIns="0" rtlCol="0" anchor="ctr"/>
          <a:lstStyle/>
          <a:p>
            <a:pPr indent="0" marL="0">
              <a:buNone/>
            </a:pPr>
            <a:r>
              <a:rPr lang="en-US" sz="2200" b="1" dirty="0">
                <a:solidFill>
                  <a:srgbClr val="0A4A8C"/>
                </a:solidFill>
                <a:latin typeface="Cambria" pitchFamily="34" charset="0"/>
                <a:ea typeface="Cambria" pitchFamily="34" charset="-122"/>
                <a:cs typeface="Cambria" pitchFamily="34" charset="-120"/>
              </a:rPr>
              <a:t>Connaître ses clients</a:t>
            </a:r>
            <a:endParaRPr lang="en-US" sz="2200" dirty="0"/>
          </a:p>
        </p:txBody>
      </p:sp>
      <p:sp>
        <p:nvSpPr>
          <p:cNvPr id="25" name="Text 19"/>
          <p:cNvSpPr txBox="1"/>
          <p:nvPr/>
        </p:nvSpPr>
        <p:spPr>
          <a:xfrm>
            <a:off x="8321040" y="3383280"/>
            <a:ext cx="3063240" cy="1280160"/>
          </a:xfrm>
          <a:prstGeom prst="rect">
            <a:avLst/>
          </a:prstGeom>
          <a:noFill/>
          <a:ln/>
        </p:spPr>
        <p:txBody>
          <a:bodyPr wrap="square" lIns="0" tIns="0" rIns="0" bIns="0" rtlCol="0" anchor="t"/>
          <a:lstStyle/>
          <a:p>
            <a:pPr indent="0" marL="0">
              <a:buNone/>
            </a:pPr>
            <a:r>
              <a:rPr lang="en-US" sz="1400" dirty="0">
                <a:solidFill>
                  <a:srgbClr val="1B2A3A"/>
                </a:solidFill>
                <a:latin typeface="Calibri" pitchFamily="34" charset="0"/>
                <a:ea typeface="Calibri" pitchFamily="34" charset="-122"/>
                <a:cs typeface="Calibri" pitchFamily="34" charset="-120"/>
              </a:rPr>
              <a:t>Des profils de clients (fidèles, à relancer, à risque d'annulation) pour cibler les actions</a:t>
            </a:r>
            <a:endParaRPr lang="en-US" sz="1400" dirty="0"/>
          </a:p>
        </p:txBody>
      </p:sp>
      <p:sp>
        <p:nvSpPr>
          <p:cNvPr id="26" name="Text 20"/>
          <p:cNvSpPr txBox="1"/>
          <p:nvPr/>
        </p:nvSpPr>
        <p:spPr>
          <a:xfrm>
            <a:off x="8321040" y="4754880"/>
            <a:ext cx="3063240" cy="320040"/>
          </a:xfrm>
          <a:prstGeom prst="rect">
            <a:avLst/>
          </a:prstGeom>
          <a:noFill/>
          <a:ln/>
        </p:spPr>
        <p:txBody>
          <a:bodyPr wrap="square" lIns="0" tIns="0" rIns="0" bIns="0" rtlCol="0" anchor="t"/>
          <a:lstStyle/>
          <a:p>
            <a:pPr indent="0" marL="0">
              <a:buNone/>
            </a:pPr>
            <a:r>
              <a:rPr lang="en-US" sz="1100" b="1" spc="100" kern="0" dirty="0">
                <a:solidFill>
                  <a:srgbClr val="F39200"/>
                </a:solidFill>
                <a:latin typeface="Calibri" pitchFamily="34" charset="0"/>
                <a:ea typeface="Calibri" pitchFamily="34" charset="-122"/>
                <a:cs typeface="Calibri" pitchFamily="34" charset="-120"/>
              </a:rPr>
              <a:t>POUR LE MARKETING</a:t>
            </a:r>
            <a:endParaRPr lang="en-US" sz="1100" dirty="0"/>
          </a:p>
        </p:txBody>
      </p:sp>
      <p:sp>
        <p:nvSpPr>
          <p:cNvPr id="27" name="Shape 21"/>
          <p:cNvSpPr/>
          <p:nvPr/>
        </p:nvSpPr>
        <p:spPr>
          <a:xfrm>
            <a:off x="548640" y="5486400"/>
            <a:ext cx="11082528" cy="640080"/>
          </a:xfrm>
          <a:prstGeom prst="roundRect">
            <a:avLst>
              <a:gd name="adj" fmla="val 17143"/>
            </a:avLst>
          </a:prstGeom>
          <a:solidFill>
            <a:srgbClr val="FEF6E4"/>
          </a:solidFill>
          <a:ln w="12700">
            <a:solidFill>
              <a:srgbClr val="FEF6E4"/>
            </a:solidFill>
            <a:prstDash val="solid"/>
          </a:ln>
        </p:spPr>
      </p:sp>
      <p:sp>
        <p:nvSpPr>
          <p:cNvPr id="28" name="Text 22"/>
          <p:cNvSpPr txBox="1"/>
          <p:nvPr/>
        </p:nvSpPr>
        <p:spPr>
          <a:xfrm>
            <a:off x="777240" y="5486400"/>
            <a:ext cx="10698480" cy="640080"/>
          </a:xfrm>
          <a:prstGeom prst="rect">
            <a:avLst/>
          </a:prstGeom>
          <a:noFill/>
          <a:ln/>
        </p:spPr>
        <p:txBody>
          <a:bodyPr wrap="square" lIns="0" tIns="0" rIns="0" bIns="0" rtlCol="0" anchor="ctr"/>
          <a:lstStyle/>
          <a:p>
            <a:pPr indent="0" marL="0">
              <a:buNone/>
            </a:pPr>
            <a:r>
              <a:rPr lang="en-US" sz="1400" b="1" dirty="0">
                <a:solidFill>
                  <a:srgbClr val="F39200"/>
                </a:solidFill>
                <a:latin typeface="Calibri" pitchFamily="34" charset="0"/>
                <a:ea typeface="Calibri" pitchFamily="34" charset="-122"/>
                <a:cs typeface="Calibri" pitchFamily="34" charset="-120"/>
              </a:rPr>
              <a:t>Le plus : </a:t>
            </a:r>
            <a:pPr indent="0" marL="0">
              <a:buNone/>
            </a:pPr>
            <a:r>
              <a:rPr lang="en-US" sz="1400" dirty="0">
                <a:solidFill>
                  <a:srgbClr val="1B2A3A"/>
                </a:solidFill>
                <a:latin typeface="Calibri" pitchFamily="34" charset="0"/>
                <a:ea typeface="Calibri" pitchFamily="34" charset="-122"/>
                <a:cs typeface="Calibri" pitchFamily="34" charset="-120"/>
              </a:rPr>
              <a:t>fonctionne hors ligne sur les postes de l'agence, sans installation technique, et conseille même un client qui entre pour la première fois.</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772400" cy="274320"/>
          </a:xfrm>
          <a:prstGeom prst="rect">
            <a:avLst/>
          </a:prstGeom>
          <a:noFill/>
          <a:ln/>
        </p:spPr>
        <p:txBody>
          <a:bodyPr wrap="square" lIns="0" tIns="0" rIns="0" bIns="0" rtlCol="0" anchor="t"/>
          <a:lstStyle/>
          <a:p>
            <a:pPr indent="0" marL="0">
              <a:buNone/>
            </a:pPr>
            <a:r>
              <a:rPr lang="en-US" sz="1100" b="1" spc="200" kern="0" dirty="0">
                <a:solidFill>
                  <a:srgbClr val="F39200"/>
                </a:solidFill>
                <a:latin typeface="Calibri" pitchFamily="34" charset="0"/>
                <a:ea typeface="Calibri" pitchFamily="34" charset="-122"/>
                <a:cs typeface="Calibri" pitchFamily="34" charset="-120"/>
              </a:rPr>
              <a:t>CONCEPTION</a:t>
            </a:r>
            <a:endParaRPr lang="en-US" sz="1100" dirty="0"/>
          </a:p>
        </p:txBody>
      </p:sp>
      <p:sp>
        <p:nvSpPr>
          <p:cNvPr id="3" name="Text 1"/>
          <p:cNvSpPr txBox="1"/>
          <p:nvPr/>
        </p:nvSpPr>
        <p:spPr>
          <a:xfrm>
            <a:off x="548640" y="603504"/>
            <a:ext cx="9326880" cy="685800"/>
          </a:xfrm>
          <a:prstGeom prst="rect">
            <a:avLst/>
          </a:prstGeom>
          <a:noFill/>
          <a:ln/>
        </p:spPr>
        <p:txBody>
          <a:bodyPr wrap="square" lIns="0" tIns="0" rIns="0" bIns="0" rtlCol="0" anchor="ctr"/>
          <a:lstStyle/>
          <a:p>
            <a:pPr indent="0" marL="0">
              <a:buNone/>
            </a:pPr>
            <a:r>
              <a:rPr lang="en-US" sz="3000" b="1" dirty="0">
                <a:solidFill>
                  <a:srgbClr val="0A4A8C"/>
                </a:solidFill>
                <a:latin typeface="Cambria" pitchFamily="34" charset="0"/>
                <a:ea typeface="Cambria" pitchFamily="34" charset="-122"/>
                <a:cs typeface="Cambria" pitchFamily="34" charset="-120"/>
              </a:rPr>
              <a:t>Besoins fonctionnels</a:t>
            </a:r>
            <a:endParaRPr lang="en-US" sz="3000" dirty="0"/>
          </a:p>
        </p:txBody>
      </p:sp>
      <p:pic>
        <p:nvPicPr>
          <p:cNvPr id="4" name="Image 0" descr="assets/logo_sunny.png">    </p:cNvPr>
          <p:cNvPicPr>
            <a:picLocks noChangeAspect="1"/>
          </p:cNvPicPr>
          <p:nvPr/>
        </p:nvPicPr>
        <p:blipFill>
          <a:blip r:embed="rId1"/>
          <a:stretch>
            <a:fillRect/>
          </a:stretch>
        </p:blipFill>
        <p:spPr>
          <a:xfrm>
            <a:off x="10012680" y="481366"/>
            <a:ext cx="1691640" cy="372291"/>
          </a:xfrm>
          <a:prstGeom prst="rect">
            <a:avLst/>
          </a:prstGeom>
        </p:spPr>
      </p:pic>
      <p:sp>
        <p:nvSpPr>
          <p:cNvPr id="5" name="Text 2"/>
          <p:cNvSpPr txBox="1"/>
          <p:nvPr/>
        </p:nvSpPr>
        <p:spPr>
          <a:xfrm>
            <a:off x="548640" y="6428232"/>
            <a:ext cx="7315200" cy="228600"/>
          </a:xfrm>
          <a:prstGeom prst="rect">
            <a:avLst/>
          </a:prstGeom>
          <a:noFill/>
          <a:ln/>
        </p:spPr>
        <p:txBody>
          <a:bodyPr wrap="square" lIns="0" tIns="0" rIns="0" bIns="0" rtlCol="0" anchor="t"/>
          <a:lstStyle/>
          <a:p>
            <a:pPr indent="0" marL="0">
              <a:buNone/>
            </a:pPr>
            <a:r>
              <a:rPr lang="en-US" sz="900" dirty="0">
                <a:solidFill>
                  <a:srgbClr val="5B6B7F"/>
                </a:solidFill>
                <a:latin typeface="Calibri" pitchFamily="34" charset="0"/>
                <a:ea typeface="Calibri" pitchFamily="34" charset="-122"/>
                <a:cs typeface="Calibri" pitchFamily="34" charset="-120"/>
              </a:rPr>
              <a:t>Ranim Nabi  ·  PFE ESPRIT 2025-2026  ·  2 Go Sunny Tunisia Trip</a:t>
            </a:r>
            <a:endParaRPr lang="en-US" sz="900" dirty="0"/>
          </a:p>
        </p:txBody>
      </p:sp>
      <p:sp>
        <p:nvSpPr>
          <p:cNvPr id="6" name="Shape 3"/>
          <p:cNvSpPr/>
          <p:nvPr/>
        </p:nvSpPr>
        <p:spPr>
          <a:xfrm>
            <a:off x="11320272" y="6364224"/>
            <a:ext cx="347472" cy="347472"/>
          </a:xfrm>
          <a:prstGeom prst="ellipse">
            <a:avLst/>
          </a:prstGeom>
          <a:solidFill>
            <a:srgbClr val="F39200"/>
          </a:solidFill>
          <a:ln w="12700">
            <a:solidFill>
              <a:srgbClr val="F39200"/>
            </a:solidFill>
            <a:prstDash val="solid"/>
          </a:ln>
        </p:spPr>
      </p:sp>
      <p:sp>
        <p:nvSpPr>
          <p:cNvPr id="7" name="Text 4"/>
          <p:cNvSpPr txBox="1"/>
          <p:nvPr/>
        </p:nvSpPr>
        <p:spPr>
          <a:xfrm>
            <a:off x="11320272" y="6364224"/>
            <a:ext cx="347472"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09</a:t>
            </a:r>
            <a:endParaRPr lang="en-US" sz="1000" dirty="0"/>
          </a:p>
        </p:txBody>
      </p:sp>
      <p:sp>
        <p:nvSpPr>
          <p:cNvPr id="8" name="Shape 5"/>
          <p:cNvSpPr/>
          <p:nvPr/>
        </p:nvSpPr>
        <p:spPr>
          <a:xfrm>
            <a:off x="548640" y="1554480"/>
            <a:ext cx="3584448" cy="2057400"/>
          </a:xfrm>
          <a:prstGeom prst="roundRect">
            <a:avLst>
              <a:gd name="adj" fmla="val 5333"/>
            </a:avLst>
          </a:prstGeom>
          <a:solidFill>
            <a:srgbClr val="EEF5FB"/>
          </a:solidFill>
          <a:ln w="12700">
            <a:solidFill>
              <a:srgbClr val="EEF5FB"/>
            </a:solidFill>
            <a:prstDash val="solid"/>
          </a:ln>
          <a:effectLst>
            <a:outerShdw sx="100000" sy="100000" kx="0" ky="0" algn="bl" rotWithShape="0" blurRad="101600" dist="25400" dir="5400000">
              <a:srgbClr val="0A2540">
                <a:alpha val="12000"/>
              </a:srgbClr>
            </a:outerShdw>
          </a:effectLst>
        </p:spPr>
      </p:sp>
      <p:sp>
        <p:nvSpPr>
          <p:cNvPr id="9" name="Shape 6"/>
          <p:cNvSpPr/>
          <p:nvPr/>
        </p:nvSpPr>
        <p:spPr>
          <a:xfrm>
            <a:off x="777240" y="1828800"/>
            <a:ext cx="685800" cy="685800"/>
          </a:xfrm>
          <a:prstGeom prst="ellipse">
            <a:avLst/>
          </a:prstGeom>
          <a:solidFill>
            <a:srgbClr val="0A4A8C"/>
          </a:solidFill>
          <a:ln w="12700">
            <a:solidFill>
              <a:srgbClr val="0A4A8C"/>
            </a:solidFill>
            <a:prstDash val="solid"/>
          </a:ln>
        </p:spPr>
      </p:sp>
      <p:pic>
        <p:nvPicPr>
          <p:cNvPr id="10" name="Image 1" descr="preencoded.png">    </p:cNvPr>
          <p:cNvPicPr>
            <a:picLocks noChangeAspect="1"/>
          </p:cNvPicPr>
          <p:nvPr/>
        </p:nvPicPr>
        <p:blipFill>
          <a:blip r:embed="rId2"/>
          <a:stretch>
            <a:fillRect/>
          </a:stretch>
        </p:blipFill>
        <p:spPr>
          <a:xfrm>
            <a:off x="955548" y="2007108"/>
            <a:ext cx="329184" cy="329184"/>
          </a:xfrm>
          <a:prstGeom prst="rect">
            <a:avLst/>
          </a:prstGeom>
        </p:spPr>
      </p:pic>
      <p:sp>
        <p:nvSpPr>
          <p:cNvPr id="11" name="Text 7"/>
          <p:cNvSpPr txBox="1"/>
          <p:nvPr/>
        </p:nvSpPr>
        <p:spPr>
          <a:xfrm>
            <a:off x="1600200" y="1874520"/>
            <a:ext cx="2423160" cy="640080"/>
          </a:xfrm>
          <a:prstGeom prst="rect">
            <a:avLst/>
          </a:prstGeom>
          <a:noFill/>
          <a:ln/>
        </p:spPr>
        <p:txBody>
          <a:bodyPr wrap="square" lIns="0" tIns="0" rIns="0" bIns="0" rtlCol="0" anchor="ctr"/>
          <a:lstStyle/>
          <a:p>
            <a:pPr indent="0" marL="0">
              <a:buNone/>
            </a:pPr>
            <a:r>
              <a:rPr lang="en-US" sz="1800" b="1" dirty="0">
                <a:solidFill>
                  <a:srgbClr val="0A4A8C"/>
                </a:solidFill>
                <a:latin typeface="Cambria" pitchFamily="34" charset="0"/>
                <a:ea typeface="Cambria" pitchFamily="34" charset="-122"/>
                <a:cs typeface="Cambria" pitchFamily="34" charset="-120"/>
              </a:rPr>
              <a:t>Suivre l'activité</a:t>
            </a:r>
            <a:endParaRPr lang="en-US" sz="1800" dirty="0"/>
          </a:p>
        </p:txBody>
      </p:sp>
      <p:sp>
        <p:nvSpPr>
          <p:cNvPr id="12" name="Text 8"/>
          <p:cNvSpPr txBox="1"/>
          <p:nvPr/>
        </p:nvSpPr>
        <p:spPr>
          <a:xfrm>
            <a:off x="822960" y="2651760"/>
            <a:ext cx="3063240" cy="822960"/>
          </a:xfrm>
          <a:prstGeom prst="rect">
            <a:avLst/>
          </a:prstGeom>
          <a:noFill/>
          <a:ln/>
        </p:spPr>
        <p:txBody>
          <a:bodyPr wrap="square" lIns="0" tIns="0" rIns="0" bIns="0" rtlCol="0" anchor="t"/>
          <a:lstStyle/>
          <a:p>
            <a:pPr indent="0" marL="0">
              <a:buNone/>
            </a:pPr>
            <a:r>
              <a:rPr lang="en-US" sz="1400" dirty="0">
                <a:solidFill>
                  <a:srgbClr val="5B6B7F"/>
                </a:solidFill>
                <a:latin typeface="Calibri" pitchFamily="34" charset="0"/>
                <a:ea typeface="Calibri" pitchFamily="34" charset="-122"/>
                <a:cs typeface="Calibri" pitchFamily="34" charset="-120"/>
              </a:rPr>
              <a:t>Chiffre d'affaires, réservations, panier moyen, annulations, par période</a:t>
            </a:r>
            <a:endParaRPr lang="en-US" sz="1400" dirty="0"/>
          </a:p>
        </p:txBody>
      </p:sp>
      <p:sp>
        <p:nvSpPr>
          <p:cNvPr id="13" name="Shape 9"/>
          <p:cNvSpPr/>
          <p:nvPr/>
        </p:nvSpPr>
        <p:spPr>
          <a:xfrm>
            <a:off x="4297680" y="1554480"/>
            <a:ext cx="3584448" cy="2057400"/>
          </a:xfrm>
          <a:prstGeom prst="roundRect">
            <a:avLst>
              <a:gd name="adj" fmla="val 5333"/>
            </a:avLst>
          </a:prstGeom>
          <a:solidFill>
            <a:srgbClr val="EEF5FB"/>
          </a:solidFill>
          <a:ln w="12700">
            <a:solidFill>
              <a:srgbClr val="EEF5FB"/>
            </a:solidFill>
            <a:prstDash val="solid"/>
          </a:ln>
          <a:effectLst>
            <a:outerShdw sx="100000" sy="100000" kx="0" ky="0" algn="bl" rotWithShape="0" blurRad="101600" dist="25400" dir="5400000">
              <a:srgbClr val="0A2540">
                <a:alpha val="12000"/>
              </a:srgbClr>
            </a:outerShdw>
          </a:effectLst>
        </p:spPr>
      </p:sp>
      <p:sp>
        <p:nvSpPr>
          <p:cNvPr id="14" name="Shape 10"/>
          <p:cNvSpPr/>
          <p:nvPr/>
        </p:nvSpPr>
        <p:spPr>
          <a:xfrm>
            <a:off x="4526280" y="1828800"/>
            <a:ext cx="685800" cy="685800"/>
          </a:xfrm>
          <a:prstGeom prst="ellipse">
            <a:avLst/>
          </a:prstGeom>
          <a:solidFill>
            <a:srgbClr val="0A4A8C"/>
          </a:solidFill>
          <a:ln w="12700">
            <a:solidFill>
              <a:srgbClr val="0A4A8C"/>
            </a:solidFill>
            <a:prstDash val="solid"/>
          </a:ln>
        </p:spPr>
      </p:sp>
      <p:pic>
        <p:nvPicPr>
          <p:cNvPr id="15" name="Image 2" descr="preencoded.png">    </p:cNvPr>
          <p:cNvPicPr>
            <a:picLocks noChangeAspect="1"/>
          </p:cNvPicPr>
          <p:nvPr/>
        </p:nvPicPr>
        <p:blipFill>
          <a:blip r:embed="rId3"/>
          <a:stretch>
            <a:fillRect/>
          </a:stretch>
        </p:blipFill>
        <p:spPr>
          <a:xfrm>
            <a:off x="4704588" y="2007108"/>
            <a:ext cx="329184" cy="329184"/>
          </a:xfrm>
          <a:prstGeom prst="rect">
            <a:avLst/>
          </a:prstGeom>
        </p:spPr>
      </p:pic>
      <p:sp>
        <p:nvSpPr>
          <p:cNvPr id="16" name="Text 11"/>
          <p:cNvSpPr txBox="1"/>
          <p:nvPr/>
        </p:nvSpPr>
        <p:spPr>
          <a:xfrm>
            <a:off x="5349240" y="1874520"/>
            <a:ext cx="2423160" cy="640080"/>
          </a:xfrm>
          <a:prstGeom prst="rect">
            <a:avLst/>
          </a:prstGeom>
          <a:noFill/>
          <a:ln/>
        </p:spPr>
        <p:txBody>
          <a:bodyPr wrap="square" lIns="0" tIns="0" rIns="0" bIns="0" rtlCol="0" anchor="ctr"/>
          <a:lstStyle/>
          <a:p>
            <a:pPr indent="0" marL="0">
              <a:buNone/>
            </a:pPr>
            <a:r>
              <a:rPr lang="en-US" sz="1800" b="1" dirty="0">
                <a:solidFill>
                  <a:srgbClr val="0A4A8C"/>
                </a:solidFill>
                <a:latin typeface="Cambria" pitchFamily="34" charset="0"/>
                <a:ea typeface="Cambria" pitchFamily="34" charset="-122"/>
                <a:cs typeface="Cambria" pitchFamily="34" charset="-120"/>
              </a:rPr>
              <a:t>Filtrer les analyses</a:t>
            </a:r>
            <a:endParaRPr lang="en-US" sz="1800" dirty="0"/>
          </a:p>
        </p:txBody>
      </p:sp>
      <p:sp>
        <p:nvSpPr>
          <p:cNvPr id="17" name="Text 12"/>
          <p:cNvSpPr txBox="1"/>
          <p:nvPr/>
        </p:nvSpPr>
        <p:spPr>
          <a:xfrm>
            <a:off x="4572000" y="2651760"/>
            <a:ext cx="3063240" cy="822960"/>
          </a:xfrm>
          <a:prstGeom prst="rect">
            <a:avLst/>
          </a:prstGeom>
          <a:noFill/>
          <a:ln/>
        </p:spPr>
        <p:txBody>
          <a:bodyPr wrap="square" lIns="0" tIns="0" rIns="0" bIns="0" rtlCol="0" anchor="t"/>
          <a:lstStyle/>
          <a:p>
            <a:pPr indent="0" marL="0">
              <a:buNone/>
            </a:pPr>
            <a:r>
              <a:rPr lang="en-US" sz="1400" dirty="0">
                <a:solidFill>
                  <a:srgbClr val="5B6B7F"/>
                </a:solidFill>
                <a:latin typeface="Calibri" pitchFamily="34" charset="0"/>
                <a:ea typeface="Calibri" pitchFamily="34" charset="-122"/>
                <a:cs typeface="Calibri" pitchFamily="34" charset="-120"/>
              </a:rPr>
              <a:t>Par période, statut familial, sexe, destination, saison, canal</a:t>
            </a:r>
            <a:endParaRPr lang="en-US" sz="1400" dirty="0"/>
          </a:p>
        </p:txBody>
      </p:sp>
      <p:sp>
        <p:nvSpPr>
          <p:cNvPr id="18" name="Shape 13"/>
          <p:cNvSpPr/>
          <p:nvPr/>
        </p:nvSpPr>
        <p:spPr>
          <a:xfrm>
            <a:off x="8046720" y="1554480"/>
            <a:ext cx="3584448" cy="2057400"/>
          </a:xfrm>
          <a:prstGeom prst="roundRect">
            <a:avLst>
              <a:gd name="adj" fmla="val 5333"/>
            </a:avLst>
          </a:prstGeom>
          <a:solidFill>
            <a:srgbClr val="EEF5FB"/>
          </a:solidFill>
          <a:ln w="12700">
            <a:solidFill>
              <a:srgbClr val="EEF5FB"/>
            </a:solidFill>
            <a:prstDash val="solid"/>
          </a:ln>
          <a:effectLst>
            <a:outerShdw sx="100000" sy="100000" kx="0" ky="0" algn="bl" rotWithShape="0" blurRad="101600" dist="25400" dir="5400000">
              <a:srgbClr val="0A2540">
                <a:alpha val="12000"/>
              </a:srgbClr>
            </a:outerShdw>
          </a:effectLst>
        </p:spPr>
      </p:sp>
      <p:sp>
        <p:nvSpPr>
          <p:cNvPr id="19" name="Shape 14"/>
          <p:cNvSpPr/>
          <p:nvPr/>
        </p:nvSpPr>
        <p:spPr>
          <a:xfrm>
            <a:off x="8275320" y="1828800"/>
            <a:ext cx="685800" cy="685800"/>
          </a:xfrm>
          <a:prstGeom prst="ellipse">
            <a:avLst/>
          </a:prstGeom>
          <a:solidFill>
            <a:srgbClr val="0A4A8C"/>
          </a:solidFill>
          <a:ln w="12700">
            <a:solidFill>
              <a:srgbClr val="0A4A8C"/>
            </a:solidFill>
            <a:prstDash val="solid"/>
          </a:ln>
        </p:spPr>
      </p:sp>
      <p:pic>
        <p:nvPicPr>
          <p:cNvPr id="20" name="Image 3" descr="preencoded.png">    </p:cNvPr>
          <p:cNvPicPr>
            <a:picLocks noChangeAspect="1"/>
          </p:cNvPicPr>
          <p:nvPr/>
        </p:nvPicPr>
        <p:blipFill>
          <a:blip r:embed="rId4"/>
          <a:stretch>
            <a:fillRect/>
          </a:stretch>
        </p:blipFill>
        <p:spPr>
          <a:xfrm>
            <a:off x="8453628" y="2007108"/>
            <a:ext cx="329184" cy="329184"/>
          </a:xfrm>
          <a:prstGeom prst="rect">
            <a:avLst/>
          </a:prstGeom>
        </p:spPr>
      </p:pic>
      <p:sp>
        <p:nvSpPr>
          <p:cNvPr id="21" name="Text 15"/>
          <p:cNvSpPr txBox="1"/>
          <p:nvPr/>
        </p:nvSpPr>
        <p:spPr>
          <a:xfrm>
            <a:off x="9098280" y="1874520"/>
            <a:ext cx="2423160" cy="640080"/>
          </a:xfrm>
          <a:prstGeom prst="rect">
            <a:avLst/>
          </a:prstGeom>
          <a:noFill/>
          <a:ln/>
        </p:spPr>
        <p:txBody>
          <a:bodyPr wrap="square" lIns="0" tIns="0" rIns="0" bIns="0" rtlCol="0" anchor="ctr"/>
          <a:lstStyle/>
          <a:p>
            <a:pPr indent="0" marL="0">
              <a:buNone/>
            </a:pPr>
            <a:r>
              <a:rPr lang="en-US" sz="1800" b="1" dirty="0">
                <a:solidFill>
                  <a:srgbClr val="0A4A8C"/>
                </a:solidFill>
                <a:latin typeface="Cambria" pitchFamily="34" charset="0"/>
                <a:ea typeface="Cambria" pitchFamily="34" charset="-122"/>
                <a:cs typeface="Cambria" pitchFamily="34" charset="-120"/>
              </a:rPr>
              <a:t>Segmenter la clientèle</a:t>
            </a:r>
            <a:endParaRPr lang="en-US" sz="1800" dirty="0"/>
          </a:p>
        </p:txBody>
      </p:sp>
      <p:sp>
        <p:nvSpPr>
          <p:cNvPr id="22" name="Text 16"/>
          <p:cNvSpPr txBox="1"/>
          <p:nvPr/>
        </p:nvSpPr>
        <p:spPr>
          <a:xfrm>
            <a:off x="8321040" y="2651760"/>
            <a:ext cx="3063240" cy="822960"/>
          </a:xfrm>
          <a:prstGeom prst="rect">
            <a:avLst/>
          </a:prstGeom>
          <a:noFill/>
          <a:ln/>
        </p:spPr>
        <p:txBody>
          <a:bodyPr wrap="square" lIns="0" tIns="0" rIns="0" bIns="0" rtlCol="0" anchor="t"/>
          <a:lstStyle/>
          <a:p>
            <a:pPr indent="0" marL="0">
              <a:buNone/>
            </a:pPr>
            <a:r>
              <a:rPr lang="en-US" sz="1400" dirty="0">
                <a:solidFill>
                  <a:srgbClr val="5B6B7F"/>
                </a:solidFill>
                <a:latin typeface="Calibri" pitchFamily="34" charset="0"/>
                <a:ea typeface="Calibri" pitchFamily="34" charset="-122"/>
                <a:cs typeface="Calibri" pitchFamily="34" charset="-120"/>
              </a:rPr>
              <a:t>Identifier fidèles, réguliers, inactifs et clients à risque</a:t>
            </a:r>
            <a:endParaRPr lang="en-US" sz="1400" dirty="0"/>
          </a:p>
        </p:txBody>
      </p:sp>
      <p:sp>
        <p:nvSpPr>
          <p:cNvPr id="23" name="Shape 17"/>
          <p:cNvSpPr/>
          <p:nvPr/>
        </p:nvSpPr>
        <p:spPr>
          <a:xfrm>
            <a:off x="548640" y="3840480"/>
            <a:ext cx="3584448" cy="2057400"/>
          </a:xfrm>
          <a:prstGeom prst="roundRect">
            <a:avLst>
              <a:gd name="adj" fmla="val 5333"/>
            </a:avLst>
          </a:prstGeom>
          <a:solidFill>
            <a:srgbClr val="FEF6E4"/>
          </a:solidFill>
          <a:ln w="12700">
            <a:solidFill>
              <a:srgbClr val="FEF6E4"/>
            </a:solidFill>
            <a:prstDash val="solid"/>
          </a:ln>
          <a:effectLst>
            <a:outerShdw sx="100000" sy="100000" kx="0" ky="0" algn="bl" rotWithShape="0" blurRad="101600" dist="25400" dir="5400000">
              <a:srgbClr val="0A2540">
                <a:alpha val="12000"/>
              </a:srgbClr>
            </a:outerShdw>
          </a:effectLst>
        </p:spPr>
      </p:sp>
      <p:sp>
        <p:nvSpPr>
          <p:cNvPr id="24" name="Shape 18"/>
          <p:cNvSpPr/>
          <p:nvPr/>
        </p:nvSpPr>
        <p:spPr>
          <a:xfrm>
            <a:off x="777240" y="4114800"/>
            <a:ext cx="685800" cy="685800"/>
          </a:xfrm>
          <a:prstGeom prst="ellipse">
            <a:avLst/>
          </a:prstGeom>
          <a:solidFill>
            <a:srgbClr val="F39200"/>
          </a:solidFill>
          <a:ln w="12700">
            <a:solidFill>
              <a:srgbClr val="F39200"/>
            </a:solidFill>
            <a:prstDash val="solid"/>
          </a:ln>
        </p:spPr>
      </p:sp>
      <p:pic>
        <p:nvPicPr>
          <p:cNvPr id="25" name="Image 4" descr="preencoded.png">    </p:cNvPr>
          <p:cNvPicPr>
            <a:picLocks noChangeAspect="1"/>
          </p:cNvPicPr>
          <p:nvPr/>
        </p:nvPicPr>
        <p:blipFill>
          <a:blip r:embed="rId5"/>
          <a:stretch>
            <a:fillRect/>
          </a:stretch>
        </p:blipFill>
        <p:spPr>
          <a:xfrm>
            <a:off x="955548" y="4293108"/>
            <a:ext cx="329184" cy="329184"/>
          </a:xfrm>
          <a:prstGeom prst="rect">
            <a:avLst/>
          </a:prstGeom>
        </p:spPr>
      </p:pic>
      <p:sp>
        <p:nvSpPr>
          <p:cNvPr id="26" name="Text 19"/>
          <p:cNvSpPr txBox="1"/>
          <p:nvPr/>
        </p:nvSpPr>
        <p:spPr>
          <a:xfrm>
            <a:off x="1600200" y="4160520"/>
            <a:ext cx="2423160" cy="640080"/>
          </a:xfrm>
          <a:prstGeom prst="rect">
            <a:avLst/>
          </a:prstGeom>
          <a:noFill/>
          <a:ln/>
        </p:spPr>
        <p:txBody>
          <a:bodyPr wrap="square" lIns="0" tIns="0" rIns="0" bIns="0" rtlCol="0" anchor="ctr"/>
          <a:lstStyle/>
          <a:p>
            <a:pPr indent="0" marL="0">
              <a:buNone/>
            </a:pPr>
            <a:r>
              <a:rPr lang="en-US" sz="1800" b="1" dirty="0">
                <a:solidFill>
                  <a:srgbClr val="0A4A8C"/>
                </a:solidFill>
                <a:latin typeface="Cambria" pitchFamily="34" charset="0"/>
                <a:ea typeface="Cambria" pitchFamily="34" charset="-122"/>
                <a:cs typeface="Cambria" pitchFamily="34" charset="-120"/>
              </a:rPr>
              <a:t>Recommander</a:t>
            </a:r>
            <a:endParaRPr lang="en-US" sz="1800" dirty="0"/>
          </a:p>
        </p:txBody>
      </p:sp>
      <p:sp>
        <p:nvSpPr>
          <p:cNvPr id="27" name="Text 20"/>
          <p:cNvSpPr txBox="1"/>
          <p:nvPr/>
        </p:nvSpPr>
        <p:spPr>
          <a:xfrm>
            <a:off x="822960" y="4937760"/>
            <a:ext cx="3063240" cy="822960"/>
          </a:xfrm>
          <a:prstGeom prst="rect">
            <a:avLst/>
          </a:prstGeom>
          <a:noFill/>
          <a:ln/>
        </p:spPr>
        <p:txBody>
          <a:bodyPr wrap="square" lIns="0" tIns="0" rIns="0" bIns="0" rtlCol="0" anchor="t"/>
          <a:lstStyle/>
          <a:p>
            <a:pPr indent="0" marL="0">
              <a:buNone/>
            </a:pPr>
            <a:r>
              <a:rPr lang="en-US" sz="1400" dirty="0">
                <a:solidFill>
                  <a:srgbClr val="5B6B7F"/>
                </a:solidFill>
                <a:latin typeface="Calibri" pitchFamily="34" charset="0"/>
                <a:ea typeface="Calibri" pitchFamily="34" charset="-122"/>
                <a:cs typeface="Calibri" pitchFamily="34" charset="-120"/>
              </a:rPr>
              <a:t>Proposer un Top-N de destinations à un client existant</a:t>
            </a:r>
            <a:endParaRPr lang="en-US" sz="1400" dirty="0"/>
          </a:p>
        </p:txBody>
      </p:sp>
      <p:sp>
        <p:nvSpPr>
          <p:cNvPr id="28" name="Shape 21"/>
          <p:cNvSpPr/>
          <p:nvPr/>
        </p:nvSpPr>
        <p:spPr>
          <a:xfrm>
            <a:off x="4297680" y="3840480"/>
            <a:ext cx="3584448" cy="2057400"/>
          </a:xfrm>
          <a:prstGeom prst="roundRect">
            <a:avLst>
              <a:gd name="adj" fmla="val 5333"/>
            </a:avLst>
          </a:prstGeom>
          <a:solidFill>
            <a:srgbClr val="FEF6E4"/>
          </a:solidFill>
          <a:ln w="12700">
            <a:solidFill>
              <a:srgbClr val="FEF6E4"/>
            </a:solidFill>
            <a:prstDash val="solid"/>
          </a:ln>
          <a:effectLst>
            <a:outerShdw sx="100000" sy="100000" kx="0" ky="0" algn="bl" rotWithShape="0" blurRad="101600" dist="25400" dir="5400000">
              <a:srgbClr val="0A2540">
                <a:alpha val="12000"/>
              </a:srgbClr>
            </a:outerShdw>
          </a:effectLst>
        </p:spPr>
      </p:sp>
      <p:sp>
        <p:nvSpPr>
          <p:cNvPr id="29" name="Shape 22"/>
          <p:cNvSpPr/>
          <p:nvPr/>
        </p:nvSpPr>
        <p:spPr>
          <a:xfrm>
            <a:off x="4526280" y="4114800"/>
            <a:ext cx="685800" cy="685800"/>
          </a:xfrm>
          <a:prstGeom prst="ellipse">
            <a:avLst/>
          </a:prstGeom>
          <a:solidFill>
            <a:srgbClr val="F39200"/>
          </a:solidFill>
          <a:ln w="12700">
            <a:solidFill>
              <a:srgbClr val="F39200"/>
            </a:solidFill>
            <a:prstDash val="solid"/>
          </a:ln>
        </p:spPr>
      </p:sp>
      <p:pic>
        <p:nvPicPr>
          <p:cNvPr id="30" name="Image 5" descr="preencoded.png">    </p:cNvPr>
          <p:cNvPicPr>
            <a:picLocks noChangeAspect="1"/>
          </p:cNvPicPr>
          <p:nvPr/>
        </p:nvPicPr>
        <p:blipFill>
          <a:blip r:embed="rId6"/>
          <a:stretch>
            <a:fillRect/>
          </a:stretch>
        </p:blipFill>
        <p:spPr>
          <a:xfrm>
            <a:off x="4704588" y="4293108"/>
            <a:ext cx="329184" cy="329184"/>
          </a:xfrm>
          <a:prstGeom prst="rect">
            <a:avLst/>
          </a:prstGeom>
        </p:spPr>
      </p:pic>
      <p:sp>
        <p:nvSpPr>
          <p:cNvPr id="31" name="Text 23"/>
          <p:cNvSpPr txBox="1"/>
          <p:nvPr/>
        </p:nvSpPr>
        <p:spPr>
          <a:xfrm>
            <a:off x="5349240" y="4160520"/>
            <a:ext cx="2423160" cy="640080"/>
          </a:xfrm>
          <a:prstGeom prst="rect">
            <a:avLst/>
          </a:prstGeom>
          <a:noFill/>
          <a:ln/>
        </p:spPr>
        <p:txBody>
          <a:bodyPr wrap="square" lIns="0" tIns="0" rIns="0" bIns="0" rtlCol="0" anchor="ctr"/>
          <a:lstStyle/>
          <a:p>
            <a:pPr indent="0" marL="0">
              <a:buNone/>
            </a:pPr>
            <a:r>
              <a:rPr lang="en-US" sz="1800" b="1" dirty="0">
                <a:solidFill>
                  <a:srgbClr val="0A4A8C"/>
                </a:solidFill>
                <a:latin typeface="Cambria" pitchFamily="34" charset="0"/>
                <a:ea typeface="Cambria" pitchFamily="34" charset="-122"/>
                <a:cs typeface="Cambria" pitchFamily="34" charset="-120"/>
              </a:rPr>
              <a:t>Accueillir un nouveau client</a:t>
            </a:r>
            <a:endParaRPr lang="en-US" sz="1800" dirty="0"/>
          </a:p>
        </p:txBody>
      </p:sp>
      <p:sp>
        <p:nvSpPr>
          <p:cNvPr id="32" name="Text 24"/>
          <p:cNvSpPr txBox="1"/>
          <p:nvPr/>
        </p:nvSpPr>
        <p:spPr>
          <a:xfrm>
            <a:off x="4572000" y="4937760"/>
            <a:ext cx="3063240" cy="822960"/>
          </a:xfrm>
          <a:prstGeom prst="rect">
            <a:avLst/>
          </a:prstGeom>
          <a:noFill/>
          <a:ln/>
        </p:spPr>
        <p:txBody>
          <a:bodyPr wrap="square" lIns="0" tIns="0" rIns="0" bIns="0" rtlCol="0" anchor="t"/>
          <a:lstStyle/>
          <a:p>
            <a:pPr indent="0" marL="0">
              <a:buNone/>
            </a:pPr>
            <a:r>
              <a:rPr lang="en-US" sz="1400" dirty="0">
                <a:solidFill>
                  <a:srgbClr val="5B6B7F"/>
                </a:solidFill>
                <a:latin typeface="Calibri" pitchFamily="34" charset="0"/>
                <a:ea typeface="Calibri" pitchFamily="34" charset="-122"/>
                <a:cs typeface="Calibri" pitchFamily="34" charset="-120"/>
              </a:rPr>
              <a:t>Recommander à partir de ses seules préférences déclarées</a:t>
            </a:r>
            <a:endParaRPr lang="en-US" sz="1400" dirty="0"/>
          </a:p>
        </p:txBody>
      </p:sp>
      <p:sp>
        <p:nvSpPr>
          <p:cNvPr id="33" name="Shape 25"/>
          <p:cNvSpPr/>
          <p:nvPr/>
        </p:nvSpPr>
        <p:spPr>
          <a:xfrm>
            <a:off x="8046720" y="3840480"/>
            <a:ext cx="3584448" cy="2057400"/>
          </a:xfrm>
          <a:prstGeom prst="roundRect">
            <a:avLst>
              <a:gd name="adj" fmla="val 5333"/>
            </a:avLst>
          </a:prstGeom>
          <a:solidFill>
            <a:srgbClr val="FEF6E4"/>
          </a:solidFill>
          <a:ln w="12700">
            <a:solidFill>
              <a:srgbClr val="FEF6E4"/>
            </a:solidFill>
            <a:prstDash val="solid"/>
          </a:ln>
          <a:effectLst>
            <a:outerShdw sx="100000" sy="100000" kx="0" ky="0" algn="bl" rotWithShape="0" blurRad="101600" dist="25400" dir="5400000">
              <a:srgbClr val="0A2540">
                <a:alpha val="12000"/>
              </a:srgbClr>
            </a:outerShdw>
          </a:effectLst>
        </p:spPr>
      </p:sp>
      <p:sp>
        <p:nvSpPr>
          <p:cNvPr id="34" name="Shape 26"/>
          <p:cNvSpPr/>
          <p:nvPr/>
        </p:nvSpPr>
        <p:spPr>
          <a:xfrm>
            <a:off x="8275320" y="4114800"/>
            <a:ext cx="685800" cy="685800"/>
          </a:xfrm>
          <a:prstGeom prst="ellipse">
            <a:avLst/>
          </a:prstGeom>
          <a:solidFill>
            <a:srgbClr val="F39200"/>
          </a:solidFill>
          <a:ln w="12700">
            <a:solidFill>
              <a:srgbClr val="F39200"/>
            </a:solidFill>
            <a:prstDash val="solid"/>
          </a:ln>
        </p:spPr>
      </p:sp>
      <p:pic>
        <p:nvPicPr>
          <p:cNvPr id="35" name="Image 6" descr="preencoded.png">    </p:cNvPr>
          <p:cNvPicPr>
            <a:picLocks noChangeAspect="1"/>
          </p:cNvPicPr>
          <p:nvPr/>
        </p:nvPicPr>
        <p:blipFill>
          <a:blip r:embed="rId7"/>
          <a:stretch>
            <a:fillRect/>
          </a:stretch>
        </p:blipFill>
        <p:spPr>
          <a:xfrm>
            <a:off x="8453628" y="4293108"/>
            <a:ext cx="329184" cy="329184"/>
          </a:xfrm>
          <a:prstGeom prst="rect">
            <a:avLst/>
          </a:prstGeom>
        </p:spPr>
      </p:pic>
      <p:sp>
        <p:nvSpPr>
          <p:cNvPr id="36" name="Text 27"/>
          <p:cNvSpPr txBox="1"/>
          <p:nvPr/>
        </p:nvSpPr>
        <p:spPr>
          <a:xfrm>
            <a:off x="9098280" y="4160520"/>
            <a:ext cx="2423160" cy="640080"/>
          </a:xfrm>
          <a:prstGeom prst="rect">
            <a:avLst/>
          </a:prstGeom>
          <a:noFill/>
          <a:ln/>
        </p:spPr>
        <p:txBody>
          <a:bodyPr wrap="square" lIns="0" tIns="0" rIns="0" bIns="0" rtlCol="0" anchor="ctr"/>
          <a:lstStyle/>
          <a:p>
            <a:pPr indent="0" marL="0">
              <a:buNone/>
            </a:pPr>
            <a:r>
              <a:rPr lang="en-US" sz="1800" b="1" dirty="0">
                <a:solidFill>
                  <a:srgbClr val="0A4A8C"/>
                </a:solidFill>
                <a:latin typeface="Cambria" pitchFamily="34" charset="0"/>
                <a:ea typeface="Cambria" pitchFamily="34" charset="-122"/>
                <a:cs typeface="Cambria" pitchFamily="34" charset="-120"/>
              </a:rPr>
              <a:t>Expliquer</a:t>
            </a:r>
            <a:endParaRPr lang="en-US" sz="1800" dirty="0"/>
          </a:p>
        </p:txBody>
      </p:sp>
      <p:sp>
        <p:nvSpPr>
          <p:cNvPr id="37" name="Text 28"/>
          <p:cNvSpPr txBox="1"/>
          <p:nvPr/>
        </p:nvSpPr>
        <p:spPr>
          <a:xfrm>
            <a:off x="8321040" y="4937760"/>
            <a:ext cx="3063240" cy="822960"/>
          </a:xfrm>
          <a:prstGeom prst="rect">
            <a:avLst/>
          </a:prstGeom>
          <a:noFill/>
          <a:ln/>
        </p:spPr>
        <p:txBody>
          <a:bodyPr wrap="square" lIns="0" tIns="0" rIns="0" bIns="0" rtlCol="0" anchor="t"/>
          <a:lstStyle/>
          <a:p>
            <a:pPr indent="0" marL="0">
              <a:buNone/>
            </a:pPr>
            <a:r>
              <a:rPr lang="en-US" sz="1400" dirty="0">
                <a:solidFill>
                  <a:srgbClr val="5B6B7F"/>
                </a:solidFill>
                <a:latin typeface="Calibri" pitchFamily="34" charset="0"/>
                <a:ea typeface="Calibri" pitchFamily="34" charset="-122"/>
                <a:cs typeface="Calibri" pitchFamily="34" charset="-120"/>
              </a:rPr>
              <a:t>Justifier chaque proposition : budget, activités, satisfaction</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772400" cy="274320"/>
          </a:xfrm>
          <a:prstGeom prst="rect">
            <a:avLst/>
          </a:prstGeom>
          <a:noFill/>
          <a:ln/>
        </p:spPr>
        <p:txBody>
          <a:bodyPr wrap="square" lIns="0" tIns="0" rIns="0" bIns="0" rtlCol="0" anchor="t"/>
          <a:lstStyle/>
          <a:p>
            <a:pPr indent="0" marL="0">
              <a:buNone/>
            </a:pPr>
            <a:r>
              <a:rPr lang="en-US" sz="1100" b="1" spc="200" kern="0" dirty="0">
                <a:solidFill>
                  <a:srgbClr val="F39200"/>
                </a:solidFill>
                <a:latin typeface="Calibri" pitchFamily="34" charset="0"/>
                <a:ea typeface="Calibri" pitchFamily="34" charset="-122"/>
                <a:cs typeface="Calibri" pitchFamily="34" charset="-120"/>
              </a:rPr>
              <a:t>CONCEPTION</a:t>
            </a:r>
            <a:endParaRPr lang="en-US" sz="1100" dirty="0"/>
          </a:p>
        </p:txBody>
      </p:sp>
      <p:sp>
        <p:nvSpPr>
          <p:cNvPr id="3" name="Text 1"/>
          <p:cNvSpPr txBox="1"/>
          <p:nvPr/>
        </p:nvSpPr>
        <p:spPr>
          <a:xfrm>
            <a:off x="548640" y="603504"/>
            <a:ext cx="9326880" cy="685800"/>
          </a:xfrm>
          <a:prstGeom prst="rect">
            <a:avLst/>
          </a:prstGeom>
          <a:noFill/>
          <a:ln/>
        </p:spPr>
        <p:txBody>
          <a:bodyPr wrap="square" lIns="0" tIns="0" rIns="0" bIns="0" rtlCol="0" anchor="ctr"/>
          <a:lstStyle/>
          <a:p>
            <a:pPr indent="0" marL="0">
              <a:buNone/>
            </a:pPr>
            <a:r>
              <a:rPr lang="en-US" sz="3000" b="1" dirty="0">
                <a:solidFill>
                  <a:srgbClr val="0A4A8C"/>
                </a:solidFill>
                <a:latin typeface="Cambria" pitchFamily="34" charset="0"/>
                <a:ea typeface="Cambria" pitchFamily="34" charset="-122"/>
                <a:cs typeface="Cambria" pitchFamily="34" charset="-120"/>
              </a:rPr>
              <a:t>Besoins non fonctionnels</a:t>
            </a:r>
            <a:endParaRPr lang="en-US" sz="3000" dirty="0"/>
          </a:p>
        </p:txBody>
      </p:sp>
      <p:pic>
        <p:nvPicPr>
          <p:cNvPr id="4" name="Image 0" descr="assets/logo_sunny.png">    </p:cNvPr>
          <p:cNvPicPr>
            <a:picLocks noChangeAspect="1"/>
          </p:cNvPicPr>
          <p:nvPr/>
        </p:nvPicPr>
        <p:blipFill>
          <a:blip r:embed="rId1"/>
          <a:stretch>
            <a:fillRect/>
          </a:stretch>
        </p:blipFill>
        <p:spPr>
          <a:xfrm>
            <a:off x="10012680" y="481366"/>
            <a:ext cx="1691640" cy="372291"/>
          </a:xfrm>
          <a:prstGeom prst="rect">
            <a:avLst/>
          </a:prstGeom>
        </p:spPr>
      </p:pic>
      <p:sp>
        <p:nvSpPr>
          <p:cNvPr id="5" name="Text 2"/>
          <p:cNvSpPr txBox="1"/>
          <p:nvPr/>
        </p:nvSpPr>
        <p:spPr>
          <a:xfrm>
            <a:off x="548640" y="6428232"/>
            <a:ext cx="7315200" cy="228600"/>
          </a:xfrm>
          <a:prstGeom prst="rect">
            <a:avLst/>
          </a:prstGeom>
          <a:noFill/>
          <a:ln/>
        </p:spPr>
        <p:txBody>
          <a:bodyPr wrap="square" lIns="0" tIns="0" rIns="0" bIns="0" rtlCol="0" anchor="t"/>
          <a:lstStyle/>
          <a:p>
            <a:pPr indent="0" marL="0">
              <a:buNone/>
            </a:pPr>
            <a:r>
              <a:rPr lang="en-US" sz="900" dirty="0">
                <a:solidFill>
                  <a:srgbClr val="5B6B7F"/>
                </a:solidFill>
                <a:latin typeface="Calibri" pitchFamily="34" charset="0"/>
                <a:ea typeface="Calibri" pitchFamily="34" charset="-122"/>
                <a:cs typeface="Calibri" pitchFamily="34" charset="-120"/>
              </a:rPr>
              <a:t>Ranim Nabi  ·  PFE ESPRIT 2025-2026  ·  2 Go Sunny Tunisia Trip</a:t>
            </a:r>
            <a:endParaRPr lang="en-US" sz="900" dirty="0"/>
          </a:p>
        </p:txBody>
      </p:sp>
      <p:sp>
        <p:nvSpPr>
          <p:cNvPr id="6" name="Shape 3"/>
          <p:cNvSpPr/>
          <p:nvPr/>
        </p:nvSpPr>
        <p:spPr>
          <a:xfrm>
            <a:off x="11320272" y="6364224"/>
            <a:ext cx="347472" cy="347472"/>
          </a:xfrm>
          <a:prstGeom prst="ellipse">
            <a:avLst/>
          </a:prstGeom>
          <a:solidFill>
            <a:srgbClr val="F39200"/>
          </a:solidFill>
          <a:ln w="12700">
            <a:solidFill>
              <a:srgbClr val="F39200"/>
            </a:solidFill>
            <a:prstDash val="solid"/>
          </a:ln>
        </p:spPr>
      </p:sp>
      <p:sp>
        <p:nvSpPr>
          <p:cNvPr id="7" name="Text 4"/>
          <p:cNvSpPr txBox="1"/>
          <p:nvPr/>
        </p:nvSpPr>
        <p:spPr>
          <a:xfrm>
            <a:off x="11320272" y="6364224"/>
            <a:ext cx="347472"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10</a:t>
            </a:r>
            <a:endParaRPr lang="en-US" sz="1000" dirty="0"/>
          </a:p>
        </p:txBody>
      </p:sp>
      <p:sp>
        <p:nvSpPr>
          <p:cNvPr id="8" name="Shape 5"/>
          <p:cNvSpPr/>
          <p:nvPr/>
        </p:nvSpPr>
        <p:spPr>
          <a:xfrm>
            <a:off x="548640" y="1554480"/>
            <a:ext cx="3584448" cy="2057400"/>
          </a:xfrm>
          <a:prstGeom prst="roundRect">
            <a:avLst>
              <a:gd name="adj" fmla="val 5333"/>
            </a:avLst>
          </a:prstGeom>
          <a:solidFill>
            <a:srgbClr val="EEF5FB"/>
          </a:solidFill>
          <a:ln w="12700">
            <a:solidFill>
              <a:srgbClr val="EEF5FB"/>
            </a:solidFill>
            <a:prstDash val="solid"/>
          </a:ln>
          <a:effectLst>
            <a:outerShdw sx="100000" sy="100000" kx="0" ky="0" algn="bl" rotWithShape="0" blurRad="101600" dist="25400" dir="5400000">
              <a:srgbClr val="0A2540">
                <a:alpha val="12000"/>
              </a:srgbClr>
            </a:outerShdw>
          </a:effectLst>
        </p:spPr>
      </p:sp>
      <p:sp>
        <p:nvSpPr>
          <p:cNvPr id="9" name="Shape 6"/>
          <p:cNvSpPr/>
          <p:nvPr/>
        </p:nvSpPr>
        <p:spPr>
          <a:xfrm>
            <a:off x="1929384" y="1783080"/>
            <a:ext cx="822960" cy="822960"/>
          </a:xfrm>
          <a:prstGeom prst="ellipse">
            <a:avLst/>
          </a:prstGeom>
          <a:solidFill>
            <a:srgbClr val="0A4A8C"/>
          </a:solidFill>
          <a:ln w="12700">
            <a:solidFill>
              <a:srgbClr val="0A4A8C"/>
            </a:solidFill>
            <a:prstDash val="solid"/>
          </a:ln>
        </p:spPr>
      </p:sp>
      <p:pic>
        <p:nvPicPr>
          <p:cNvPr id="10" name="Image 1" descr="preencoded.png">    </p:cNvPr>
          <p:cNvPicPr>
            <a:picLocks noChangeAspect="1"/>
          </p:cNvPicPr>
          <p:nvPr/>
        </p:nvPicPr>
        <p:blipFill>
          <a:blip r:embed="rId2"/>
          <a:stretch>
            <a:fillRect/>
          </a:stretch>
        </p:blipFill>
        <p:spPr>
          <a:xfrm>
            <a:off x="2143354" y="1997050"/>
            <a:ext cx="395021" cy="395021"/>
          </a:xfrm>
          <a:prstGeom prst="rect">
            <a:avLst/>
          </a:prstGeom>
        </p:spPr>
      </p:pic>
      <p:sp>
        <p:nvSpPr>
          <p:cNvPr id="11" name="Text 7"/>
          <p:cNvSpPr txBox="1"/>
          <p:nvPr/>
        </p:nvSpPr>
        <p:spPr>
          <a:xfrm>
            <a:off x="731520" y="2670048"/>
            <a:ext cx="3218688" cy="411480"/>
          </a:xfrm>
          <a:prstGeom prst="rect">
            <a:avLst/>
          </a:prstGeom>
          <a:noFill/>
          <a:ln/>
        </p:spPr>
        <p:txBody>
          <a:bodyPr wrap="square" lIns="0" tIns="0" rIns="0" bIns="0" rtlCol="0" anchor="t"/>
          <a:lstStyle/>
          <a:p>
            <a:pPr algn="ctr" indent="0" marL="0">
              <a:buNone/>
            </a:pPr>
            <a:r>
              <a:rPr lang="en-US" sz="1900" b="1" dirty="0">
                <a:solidFill>
                  <a:srgbClr val="0A4A8C"/>
                </a:solidFill>
                <a:latin typeface="Cambria" pitchFamily="34" charset="0"/>
                <a:ea typeface="Cambria" pitchFamily="34" charset="-122"/>
                <a:cs typeface="Cambria" pitchFamily="34" charset="-120"/>
              </a:rPr>
              <a:t>Fiabilité</a:t>
            </a:r>
            <a:endParaRPr lang="en-US" sz="1900" dirty="0"/>
          </a:p>
        </p:txBody>
      </p:sp>
      <p:sp>
        <p:nvSpPr>
          <p:cNvPr id="12" name="Text 8"/>
          <p:cNvSpPr txBox="1"/>
          <p:nvPr/>
        </p:nvSpPr>
        <p:spPr>
          <a:xfrm>
            <a:off x="731520" y="3108960"/>
            <a:ext cx="3218688" cy="365760"/>
          </a:xfrm>
          <a:prstGeom prst="rect">
            <a:avLst/>
          </a:prstGeom>
          <a:noFill/>
          <a:ln/>
        </p:spPr>
        <p:txBody>
          <a:bodyPr wrap="square" lIns="0" tIns="0" rIns="0" bIns="0" rtlCol="0" anchor="t"/>
          <a:lstStyle/>
          <a:p>
            <a:pPr algn="ctr" indent="0" marL="0">
              <a:buNone/>
            </a:pPr>
            <a:r>
              <a:rPr lang="en-US" sz="1400" dirty="0">
                <a:solidFill>
                  <a:srgbClr val="5B6B7F"/>
                </a:solidFill>
                <a:latin typeface="Calibri" pitchFamily="34" charset="0"/>
                <a:ea typeface="Calibri" pitchFamily="34" charset="-122"/>
                <a:cs typeface="Calibri" pitchFamily="34" charset="-120"/>
              </a:rPr>
              <a:t>Les mêmes chiffres partout</a:t>
            </a:r>
            <a:endParaRPr lang="en-US" sz="1400" dirty="0"/>
          </a:p>
        </p:txBody>
      </p:sp>
      <p:sp>
        <p:nvSpPr>
          <p:cNvPr id="13" name="Shape 9"/>
          <p:cNvSpPr/>
          <p:nvPr/>
        </p:nvSpPr>
        <p:spPr>
          <a:xfrm>
            <a:off x="4297680" y="1554480"/>
            <a:ext cx="3584448" cy="2057400"/>
          </a:xfrm>
          <a:prstGeom prst="roundRect">
            <a:avLst>
              <a:gd name="adj" fmla="val 5333"/>
            </a:avLst>
          </a:prstGeom>
          <a:solidFill>
            <a:srgbClr val="FEF6E4"/>
          </a:solidFill>
          <a:ln w="12700">
            <a:solidFill>
              <a:srgbClr val="FEF6E4"/>
            </a:solidFill>
            <a:prstDash val="solid"/>
          </a:ln>
          <a:effectLst>
            <a:outerShdw sx="100000" sy="100000" kx="0" ky="0" algn="bl" rotWithShape="0" blurRad="101600" dist="25400" dir="5400000">
              <a:srgbClr val="0A2540">
                <a:alpha val="12000"/>
              </a:srgbClr>
            </a:outerShdw>
          </a:effectLst>
        </p:spPr>
      </p:sp>
      <p:sp>
        <p:nvSpPr>
          <p:cNvPr id="14" name="Shape 10"/>
          <p:cNvSpPr/>
          <p:nvPr/>
        </p:nvSpPr>
        <p:spPr>
          <a:xfrm>
            <a:off x="5678424" y="1783080"/>
            <a:ext cx="822960" cy="822960"/>
          </a:xfrm>
          <a:prstGeom prst="ellipse">
            <a:avLst/>
          </a:prstGeom>
          <a:solidFill>
            <a:srgbClr val="F39200"/>
          </a:solidFill>
          <a:ln w="12700">
            <a:solidFill>
              <a:srgbClr val="F39200"/>
            </a:solidFill>
            <a:prstDash val="solid"/>
          </a:ln>
        </p:spPr>
      </p:sp>
      <p:pic>
        <p:nvPicPr>
          <p:cNvPr id="15" name="Image 2" descr="preencoded.png">    </p:cNvPr>
          <p:cNvPicPr>
            <a:picLocks noChangeAspect="1"/>
          </p:cNvPicPr>
          <p:nvPr/>
        </p:nvPicPr>
        <p:blipFill>
          <a:blip r:embed="rId3"/>
          <a:stretch>
            <a:fillRect/>
          </a:stretch>
        </p:blipFill>
        <p:spPr>
          <a:xfrm>
            <a:off x="5892394" y="1997050"/>
            <a:ext cx="395021" cy="395021"/>
          </a:xfrm>
          <a:prstGeom prst="rect">
            <a:avLst/>
          </a:prstGeom>
        </p:spPr>
      </p:pic>
      <p:sp>
        <p:nvSpPr>
          <p:cNvPr id="16" name="Text 11"/>
          <p:cNvSpPr txBox="1"/>
          <p:nvPr/>
        </p:nvSpPr>
        <p:spPr>
          <a:xfrm>
            <a:off x="4480560" y="2670048"/>
            <a:ext cx="3218688" cy="411480"/>
          </a:xfrm>
          <a:prstGeom prst="rect">
            <a:avLst/>
          </a:prstGeom>
          <a:noFill/>
          <a:ln/>
        </p:spPr>
        <p:txBody>
          <a:bodyPr wrap="square" lIns="0" tIns="0" rIns="0" bIns="0" rtlCol="0" anchor="t"/>
          <a:lstStyle/>
          <a:p>
            <a:pPr algn="ctr" indent="0" marL="0">
              <a:buNone/>
            </a:pPr>
            <a:r>
              <a:rPr lang="en-US" sz="1900" b="1" dirty="0">
                <a:solidFill>
                  <a:srgbClr val="0A4A8C"/>
                </a:solidFill>
                <a:latin typeface="Cambria" pitchFamily="34" charset="0"/>
                <a:ea typeface="Cambria" pitchFamily="34" charset="-122"/>
                <a:cs typeface="Cambria" pitchFamily="34" charset="-120"/>
              </a:rPr>
              <a:t>Rapidité</a:t>
            </a:r>
            <a:endParaRPr lang="en-US" sz="1900" dirty="0"/>
          </a:p>
        </p:txBody>
      </p:sp>
      <p:sp>
        <p:nvSpPr>
          <p:cNvPr id="17" name="Text 12"/>
          <p:cNvSpPr txBox="1"/>
          <p:nvPr/>
        </p:nvSpPr>
        <p:spPr>
          <a:xfrm>
            <a:off x="4480560" y="3108960"/>
            <a:ext cx="3218688" cy="365760"/>
          </a:xfrm>
          <a:prstGeom prst="rect">
            <a:avLst/>
          </a:prstGeom>
          <a:noFill/>
          <a:ln/>
        </p:spPr>
        <p:txBody>
          <a:bodyPr wrap="square" lIns="0" tIns="0" rIns="0" bIns="0" rtlCol="0" anchor="t"/>
          <a:lstStyle/>
          <a:p>
            <a:pPr algn="ctr" indent="0" marL="0">
              <a:buNone/>
            </a:pPr>
            <a:r>
              <a:rPr lang="en-US" sz="1400" dirty="0">
                <a:solidFill>
                  <a:srgbClr val="5B6B7F"/>
                </a:solidFill>
                <a:latin typeface="Calibri" pitchFamily="34" charset="0"/>
                <a:ea typeface="Calibri" pitchFamily="34" charset="-122"/>
                <a:cs typeface="Calibri" pitchFamily="34" charset="-120"/>
              </a:rPr>
              <a:t>Une réponse en un instant</a:t>
            </a:r>
            <a:endParaRPr lang="en-US" sz="1400" dirty="0"/>
          </a:p>
        </p:txBody>
      </p:sp>
      <p:sp>
        <p:nvSpPr>
          <p:cNvPr id="18" name="Shape 13"/>
          <p:cNvSpPr/>
          <p:nvPr/>
        </p:nvSpPr>
        <p:spPr>
          <a:xfrm>
            <a:off x="8046720" y="1554480"/>
            <a:ext cx="3584448" cy="2057400"/>
          </a:xfrm>
          <a:prstGeom prst="roundRect">
            <a:avLst>
              <a:gd name="adj" fmla="val 5333"/>
            </a:avLst>
          </a:prstGeom>
          <a:solidFill>
            <a:srgbClr val="EEF5FB"/>
          </a:solidFill>
          <a:ln w="12700">
            <a:solidFill>
              <a:srgbClr val="EEF5FB"/>
            </a:solidFill>
            <a:prstDash val="solid"/>
          </a:ln>
          <a:effectLst>
            <a:outerShdw sx="100000" sy="100000" kx="0" ky="0" algn="bl" rotWithShape="0" blurRad="101600" dist="25400" dir="5400000">
              <a:srgbClr val="0A2540">
                <a:alpha val="12000"/>
              </a:srgbClr>
            </a:outerShdw>
          </a:effectLst>
        </p:spPr>
      </p:sp>
      <p:sp>
        <p:nvSpPr>
          <p:cNvPr id="19" name="Shape 14"/>
          <p:cNvSpPr/>
          <p:nvPr/>
        </p:nvSpPr>
        <p:spPr>
          <a:xfrm>
            <a:off x="9427464" y="1783080"/>
            <a:ext cx="822960" cy="822960"/>
          </a:xfrm>
          <a:prstGeom prst="ellipse">
            <a:avLst/>
          </a:prstGeom>
          <a:solidFill>
            <a:srgbClr val="0A4A8C"/>
          </a:solidFill>
          <a:ln w="12700">
            <a:solidFill>
              <a:srgbClr val="0A4A8C"/>
            </a:solidFill>
            <a:prstDash val="solid"/>
          </a:ln>
        </p:spPr>
      </p:sp>
      <p:pic>
        <p:nvPicPr>
          <p:cNvPr id="20" name="Image 3" descr="preencoded.png">    </p:cNvPr>
          <p:cNvPicPr>
            <a:picLocks noChangeAspect="1"/>
          </p:cNvPicPr>
          <p:nvPr/>
        </p:nvPicPr>
        <p:blipFill>
          <a:blip r:embed="rId4"/>
          <a:stretch>
            <a:fillRect/>
          </a:stretch>
        </p:blipFill>
        <p:spPr>
          <a:xfrm>
            <a:off x="9641434" y="1997050"/>
            <a:ext cx="395021" cy="395021"/>
          </a:xfrm>
          <a:prstGeom prst="rect">
            <a:avLst/>
          </a:prstGeom>
        </p:spPr>
      </p:pic>
      <p:sp>
        <p:nvSpPr>
          <p:cNvPr id="21" name="Text 15"/>
          <p:cNvSpPr txBox="1"/>
          <p:nvPr/>
        </p:nvSpPr>
        <p:spPr>
          <a:xfrm>
            <a:off x="8229600" y="2670048"/>
            <a:ext cx="3218688" cy="411480"/>
          </a:xfrm>
          <a:prstGeom prst="rect">
            <a:avLst/>
          </a:prstGeom>
          <a:noFill/>
          <a:ln/>
        </p:spPr>
        <p:txBody>
          <a:bodyPr wrap="square" lIns="0" tIns="0" rIns="0" bIns="0" rtlCol="0" anchor="t"/>
          <a:lstStyle/>
          <a:p>
            <a:pPr algn="ctr" indent="0" marL="0">
              <a:buNone/>
            </a:pPr>
            <a:r>
              <a:rPr lang="en-US" sz="1900" b="1" dirty="0">
                <a:solidFill>
                  <a:srgbClr val="0A4A8C"/>
                </a:solidFill>
                <a:latin typeface="Cambria" pitchFamily="34" charset="0"/>
                <a:ea typeface="Cambria" pitchFamily="34" charset="-122"/>
                <a:cs typeface="Cambria" pitchFamily="34" charset="-120"/>
              </a:rPr>
              <a:t>Transparence</a:t>
            </a:r>
            <a:endParaRPr lang="en-US" sz="1900" dirty="0"/>
          </a:p>
        </p:txBody>
      </p:sp>
      <p:sp>
        <p:nvSpPr>
          <p:cNvPr id="22" name="Text 16"/>
          <p:cNvSpPr txBox="1"/>
          <p:nvPr/>
        </p:nvSpPr>
        <p:spPr>
          <a:xfrm>
            <a:off x="8229600" y="3108960"/>
            <a:ext cx="3218688" cy="365760"/>
          </a:xfrm>
          <a:prstGeom prst="rect">
            <a:avLst/>
          </a:prstGeom>
          <a:noFill/>
          <a:ln/>
        </p:spPr>
        <p:txBody>
          <a:bodyPr wrap="square" lIns="0" tIns="0" rIns="0" bIns="0" rtlCol="0" anchor="t"/>
          <a:lstStyle/>
          <a:p>
            <a:pPr algn="ctr" indent="0" marL="0">
              <a:buNone/>
            </a:pPr>
            <a:r>
              <a:rPr lang="en-US" sz="1400" dirty="0">
                <a:solidFill>
                  <a:srgbClr val="5B6B7F"/>
                </a:solidFill>
                <a:latin typeface="Calibri" pitchFamily="34" charset="0"/>
                <a:ea typeface="Calibri" pitchFamily="34" charset="-122"/>
                <a:cs typeface="Calibri" pitchFamily="34" charset="-120"/>
              </a:rPr>
              <a:t>Chaque conseil est justifié</a:t>
            </a:r>
            <a:endParaRPr lang="en-US" sz="1400" dirty="0"/>
          </a:p>
        </p:txBody>
      </p:sp>
      <p:sp>
        <p:nvSpPr>
          <p:cNvPr id="23" name="Shape 17"/>
          <p:cNvSpPr/>
          <p:nvPr/>
        </p:nvSpPr>
        <p:spPr>
          <a:xfrm>
            <a:off x="548640" y="3840480"/>
            <a:ext cx="3584448" cy="2057400"/>
          </a:xfrm>
          <a:prstGeom prst="roundRect">
            <a:avLst>
              <a:gd name="adj" fmla="val 5333"/>
            </a:avLst>
          </a:prstGeom>
          <a:solidFill>
            <a:srgbClr val="FEF6E4"/>
          </a:solidFill>
          <a:ln w="12700">
            <a:solidFill>
              <a:srgbClr val="FEF6E4"/>
            </a:solidFill>
            <a:prstDash val="solid"/>
          </a:ln>
          <a:effectLst>
            <a:outerShdw sx="100000" sy="100000" kx="0" ky="0" algn="bl" rotWithShape="0" blurRad="101600" dist="25400" dir="5400000">
              <a:srgbClr val="0A2540">
                <a:alpha val="12000"/>
              </a:srgbClr>
            </a:outerShdw>
          </a:effectLst>
        </p:spPr>
      </p:sp>
      <p:sp>
        <p:nvSpPr>
          <p:cNvPr id="24" name="Shape 18"/>
          <p:cNvSpPr/>
          <p:nvPr/>
        </p:nvSpPr>
        <p:spPr>
          <a:xfrm>
            <a:off x="1929384" y="4069080"/>
            <a:ext cx="822960" cy="822960"/>
          </a:xfrm>
          <a:prstGeom prst="ellipse">
            <a:avLst/>
          </a:prstGeom>
          <a:solidFill>
            <a:srgbClr val="F39200"/>
          </a:solidFill>
          <a:ln w="12700">
            <a:solidFill>
              <a:srgbClr val="F39200"/>
            </a:solidFill>
            <a:prstDash val="solid"/>
          </a:ln>
        </p:spPr>
      </p:sp>
      <p:pic>
        <p:nvPicPr>
          <p:cNvPr id="25" name="Image 4" descr="preencoded.png">    </p:cNvPr>
          <p:cNvPicPr>
            <a:picLocks noChangeAspect="1"/>
          </p:cNvPicPr>
          <p:nvPr/>
        </p:nvPicPr>
        <p:blipFill>
          <a:blip r:embed="rId5"/>
          <a:stretch>
            <a:fillRect/>
          </a:stretch>
        </p:blipFill>
        <p:spPr>
          <a:xfrm>
            <a:off x="2143354" y="4283050"/>
            <a:ext cx="395021" cy="395021"/>
          </a:xfrm>
          <a:prstGeom prst="rect">
            <a:avLst/>
          </a:prstGeom>
        </p:spPr>
      </p:pic>
      <p:sp>
        <p:nvSpPr>
          <p:cNvPr id="26" name="Text 19"/>
          <p:cNvSpPr txBox="1"/>
          <p:nvPr/>
        </p:nvSpPr>
        <p:spPr>
          <a:xfrm>
            <a:off x="731520" y="4956048"/>
            <a:ext cx="3218688" cy="411480"/>
          </a:xfrm>
          <a:prstGeom prst="rect">
            <a:avLst/>
          </a:prstGeom>
          <a:noFill/>
          <a:ln/>
        </p:spPr>
        <p:txBody>
          <a:bodyPr wrap="square" lIns="0" tIns="0" rIns="0" bIns="0" rtlCol="0" anchor="t"/>
          <a:lstStyle/>
          <a:p>
            <a:pPr algn="ctr" indent="0" marL="0">
              <a:buNone/>
            </a:pPr>
            <a:r>
              <a:rPr lang="en-US" sz="1900" b="1" dirty="0">
                <a:solidFill>
                  <a:srgbClr val="0A4A8C"/>
                </a:solidFill>
                <a:latin typeface="Cambria" pitchFamily="34" charset="0"/>
                <a:ea typeface="Cambria" pitchFamily="34" charset="-122"/>
                <a:cs typeface="Cambria" pitchFamily="34" charset="-120"/>
              </a:rPr>
              <a:t>Simplicité</a:t>
            </a:r>
            <a:endParaRPr lang="en-US" sz="1900" dirty="0"/>
          </a:p>
        </p:txBody>
      </p:sp>
      <p:sp>
        <p:nvSpPr>
          <p:cNvPr id="27" name="Text 20"/>
          <p:cNvSpPr txBox="1"/>
          <p:nvPr/>
        </p:nvSpPr>
        <p:spPr>
          <a:xfrm>
            <a:off x="731520" y="5394960"/>
            <a:ext cx="3218688" cy="365760"/>
          </a:xfrm>
          <a:prstGeom prst="rect">
            <a:avLst/>
          </a:prstGeom>
          <a:noFill/>
          <a:ln/>
        </p:spPr>
        <p:txBody>
          <a:bodyPr wrap="square" lIns="0" tIns="0" rIns="0" bIns="0" rtlCol="0" anchor="t"/>
          <a:lstStyle/>
          <a:p>
            <a:pPr algn="ctr" indent="0" marL="0">
              <a:buNone/>
            </a:pPr>
            <a:r>
              <a:rPr lang="en-US" sz="1400" dirty="0">
                <a:solidFill>
                  <a:srgbClr val="5B6B7F"/>
                </a:solidFill>
                <a:latin typeface="Calibri" pitchFamily="34" charset="0"/>
                <a:ea typeface="Calibri" pitchFamily="34" charset="-122"/>
                <a:cs typeface="Calibri" pitchFamily="34" charset="-120"/>
              </a:rPr>
              <a:t>Pensé pour des non-informaticiens</a:t>
            </a:r>
            <a:endParaRPr lang="en-US" sz="1400" dirty="0"/>
          </a:p>
        </p:txBody>
      </p:sp>
      <p:sp>
        <p:nvSpPr>
          <p:cNvPr id="28" name="Shape 21"/>
          <p:cNvSpPr/>
          <p:nvPr/>
        </p:nvSpPr>
        <p:spPr>
          <a:xfrm>
            <a:off x="4297680" y="3840480"/>
            <a:ext cx="3584448" cy="2057400"/>
          </a:xfrm>
          <a:prstGeom prst="roundRect">
            <a:avLst>
              <a:gd name="adj" fmla="val 5333"/>
            </a:avLst>
          </a:prstGeom>
          <a:solidFill>
            <a:srgbClr val="EEF5FB"/>
          </a:solidFill>
          <a:ln w="12700">
            <a:solidFill>
              <a:srgbClr val="EEF5FB"/>
            </a:solidFill>
            <a:prstDash val="solid"/>
          </a:ln>
          <a:effectLst>
            <a:outerShdw sx="100000" sy="100000" kx="0" ky="0" algn="bl" rotWithShape="0" blurRad="101600" dist="25400" dir="5400000">
              <a:srgbClr val="0A2540">
                <a:alpha val="12000"/>
              </a:srgbClr>
            </a:outerShdw>
          </a:effectLst>
        </p:spPr>
      </p:sp>
      <p:sp>
        <p:nvSpPr>
          <p:cNvPr id="29" name="Shape 22"/>
          <p:cNvSpPr/>
          <p:nvPr/>
        </p:nvSpPr>
        <p:spPr>
          <a:xfrm>
            <a:off x="5678424" y="4069080"/>
            <a:ext cx="822960" cy="822960"/>
          </a:xfrm>
          <a:prstGeom prst="ellipse">
            <a:avLst/>
          </a:prstGeom>
          <a:solidFill>
            <a:srgbClr val="0A4A8C"/>
          </a:solidFill>
          <a:ln w="12700">
            <a:solidFill>
              <a:srgbClr val="0A4A8C"/>
            </a:solidFill>
            <a:prstDash val="solid"/>
          </a:ln>
        </p:spPr>
      </p:sp>
      <p:pic>
        <p:nvPicPr>
          <p:cNvPr id="30" name="Image 5" descr="preencoded.png">    </p:cNvPr>
          <p:cNvPicPr>
            <a:picLocks noChangeAspect="1"/>
          </p:cNvPicPr>
          <p:nvPr/>
        </p:nvPicPr>
        <p:blipFill>
          <a:blip r:embed="rId6"/>
          <a:stretch>
            <a:fillRect/>
          </a:stretch>
        </p:blipFill>
        <p:spPr>
          <a:xfrm>
            <a:off x="5892394" y="4283050"/>
            <a:ext cx="395021" cy="395021"/>
          </a:xfrm>
          <a:prstGeom prst="rect">
            <a:avLst/>
          </a:prstGeom>
        </p:spPr>
      </p:pic>
      <p:sp>
        <p:nvSpPr>
          <p:cNvPr id="31" name="Text 23"/>
          <p:cNvSpPr txBox="1"/>
          <p:nvPr/>
        </p:nvSpPr>
        <p:spPr>
          <a:xfrm>
            <a:off x="4480560" y="4956048"/>
            <a:ext cx="3218688" cy="411480"/>
          </a:xfrm>
          <a:prstGeom prst="rect">
            <a:avLst/>
          </a:prstGeom>
          <a:noFill/>
          <a:ln/>
        </p:spPr>
        <p:txBody>
          <a:bodyPr wrap="square" lIns="0" tIns="0" rIns="0" bIns="0" rtlCol="0" anchor="t"/>
          <a:lstStyle/>
          <a:p>
            <a:pPr algn="ctr" indent="0" marL="0">
              <a:buNone/>
            </a:pPr>
            <a:r>
              <a:rPr lang="en-US" sz="1900" b="1" dirty="0">
                <a:solidFill>
                  <a:srgbClr val="0A4A8C"/>
                </a:solidFill>
                <a:latin typeface="Cambria" pitchFamily="34" charset="0"/>
                <a:ea typeface="Cambria" pitchFamily="34" charset="-122"/>
                <a:cs typeface="Cambria" pitchFamily="34" charset="-120"/>
              </a:rPr>
              <a:t>Autonomie</a:t>
            </a:r>
            <a:endParaRPr lang="en-US" sz="1900" dirty="0"/>
          </a:p>
        </p:txBody>
      </p:sp>
      <p:sp>
        <p:nvSpPr>
          <p:cNvPr id="32" name="Text 24"/>
          <p:cNvSpPr txBox="1"/>
          <p:nvPr/>
        </p:nvSpPr>
        <p:spPr>
          <a:xfrm>
            <a:off x="4480560" y="5394960"/>
            <a:ext cx="3218688" cy="365760"/>
          </a:xfrm>
          <a:prstGeom prst="rect">
            <a:avLst/>
          </a:prstGeom>
          <a:noFill/>
          <a:ln/>
        </p:spPr>
        <p:txBody>
          <a:bodyPr wrap="square" lIns="0" tIns="0" rIns="0" bIns="0" rtlCol="0" anchor="t"/>
          <a:lstStyle/>
          <a:p>
            <a:pPr algn="ctr" indent="0" marL="0">
              <a:buNone/>
            </a:pPr>
            <a:r>
              <a:rPr lang="en-US" sz="1400" dirty="0">
                <a:solidFill>
                  <a:srgbClr val="5B6B7F"/>
                </a:solidFill>
                <a:latin typeface="Calibri" pitchFamily="34" charset="0"/>
                <a:ea typeface="Calibri" pitchFamily="34" charset="-122"/>
                <a:cs typeface="Calibri" pitchFamily="34" charset="-120"/>
              </a:rPr>
              <a:t>Fonctionne hors ligne, sans Python</a:t>
            </a:r>
            <a:endParaRPr lang="en-US" sz="1400" dirty="0"/>
          </a:p>
        </p:txBody>
      </p:sp>
      <p:sp>
        <p:nvSpPr>
          <p:cNvPr id="33" name="Shape 25"/>
          <p:cNvSpPr/>
          <p:nvPr/>
        </p:nvSpPr>
        <p:spPr>
          <a:xfrm>
            <a:off x="8046720" y="3840480"/>
            <a:ext cx="3584448" cy="2057400"/>
          </a:xfrm>
          <a:prstGeom prst="roundRect">
            <a:avLst>
              <a:gd name="adj" fmla="val 5333"/>
            </a:avLst>
          </a:prstGeom>
          <a:solidFill>
            <a:srgbClr val="FEF6E4"/>
          </a:solidFill>
          <a:ln w="12700">
            <a:solidFill>
              <a:srgbClr val="FEF6E4"/>
            </a:solidFill>
            <a:prstDash val="solid"/>
          </a:ln>
          <a:effectLst>
            <a:outerShdw sx="100000" sy="100000" kx="0" ky="0" algn="bl" rotWithShape="0" blurRad="101600" dist="25400" dir="5400000">
              <a:srgbClr val="0A2540">
                <a:alpha val="12000"/>
              </a:srgbClr>
            </a:outerShdw>
          </a:effectLst>
        </p:spPr>
      </p:sp>
      <p:sp>
        <p:nvSpPr>
          <p:cNvPr id="34" name="Shape 26"/>
          <p:cNvSpPr/>
          <p:nvPr/>
        </p:nvSpPr>
        <p:spPr>
          <a:xfrm>
            <a:off x="9427464" y="4069080"/>
            <a:ext cx="822960" cy="822960"/>
          </a:xfrm>
          <a:prstGeom prst="ellipse">
            <a:avLst/>
          </a:prstGeom>
          <a:solidFill>
            <a:srgbClr val="F39200"/>
          </a:solidFill>
          <a:ln w="12700">
            <a:solidFill>
              <a:srgbClr val="F39200"/>
            </a:solidFill>
            <a:prstDash val="solid"/>
          </a:ln>
        </p:spPr>
      </p:sp>
      <p:pic>
        <p:nvPicPr>
          <p:cNvPr id="35" name="Image 6" descr="preencoded.png">    </p:cNvPr>
          <p:cNvPicPr>
            <a:picLocks noChangeAspect="1"/>
          </p:cNvPicPr>
          <p:nvPr/>
        </p:nvPicPr>
        <p:blipFill>
          <a:blip r:embed="rId7"/>
          <a:stretch>
            <a:fillRect/>
          </a:stretch>
        </p:blipFill>
        <p:spPr>
          <a:xfrm>
            <a:off x="9641434" y="4283050"/>
            <a:ext cx="395021" cy="395021"/>
          </a:xfrm>
          <a:prstGeom prst="rect">
            <a:avLst/>
          </a:prstGeom>
        </p:spPr>
      </p:pic>
      <p:sp>
        <p:nvSpPr>
          <p:cNvPr id="36" name="Text 27"/>
          <p:cNvSpPr txBox="1"/>
          <p:nvPr/>
        </p:nvSpPr>
        <p:spPr>
          <a:xfrm>
            <a:off x="8229600" y="4956048"/>
            <a:ext cx="3218688" cy="411480"/>
          </a:xfrm>
          <a:prstGeom prst="rect">
            <a:avLst/>
          </a:prstGeom>
          <a:noFill/>
          <a:ln/>
        </p:spPr>
        <p:txBody>
          <a:bodyPr wrap="square" lIns="0" tIns="0" rIns="0" bIns="0" rtlCol="0" anchor="t"/>
          <a:lstStyle/>
          <a:p>
            <a:pPr algn="ctr" indent="0" marL="0">
              <a:buNone/>
            </a:pPr>
            <a:r>
              <a:rPr lang="en-US" sz="1900" b="1" dirty="0">
                <a:solidFill>
                  <a:srgbClr val="0A4A8C"/>
                </a:solidFill>
                <a:latin typeface="Cambria" pitchFamily="34" charset="0"/>
                <a:ea typeface="Cambria" pitchFamily="34" charset="-122"/>
                <a:cs typeface="Cambria" pitchFamily="34" charset="-120"/>
              </a:rPr>
              <a:t>Confidentialité</a:t>
            </a:r>
            <a:endParaRPr lang="en-US" sz="1900" dirty="0"/>
          </a:p>
        </p:txBody>
      </p:sp>
      <p:sp>
        <p:nvSpPr>
          <p:cNvPr id="37" name="Text 28"/>
          <p:cNvSpPr txBox="1"/>
          <p:nvPr/>
        </p:nvSpPr>
        <p:spPr>
          <a:xfrm>
            <a:off x="8229600" y="5394960"/>
            <a:ext cx="3218688" cy="365760"/>
          </a:xfrm>
          <a:prstGeom prst="rect">
            <a:avLst/>
          </a:prstGeom>
          <a:noFill/>
          <a:ln/>
        </p:spPr>
        <p:txBody>
          <a:bodyPr wrap="square" lIns="0" tIns="0" rIns="0" bIns="0" rtlCol="0" anchor="t"/>
          <a:lstStyle/>
          <a:p>
            <a:pPr algn="ctr" indent="0" marL="0">
              <a:buNone/>
            </a:pPr>
            <a:r>
              <a:rPr lang="en-US" sz="1400" dirty="0">
                <a:solidFill>
                  <a:srgbClr val="5B6B7F"/>
                </a:solidFill>
                <a:latin typeface="Calibri" pitchFamily="34" charset="0"/>
                <a:ea typeface="Calibri" pitchFamily="34" charset="-122"/>
                <a:cs typeface="Calibri" pitchFamily="34" charset="-120"/>
              </a:rPr>
              <a:t>Les données restent à l'agence</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772400" cy="274320"/>
          </a:xfrm>
          <a:prstGeom prst="rect">
            <a:avLst/>
          </a:prstGeom>
          <a:noFill/>
          <a:ln/>
        </p:spPr>
        <p:txBody>
          <a:bodyPr wrap="square" lIns="0" tIns="0" rIns="0" bIns="0" rtlCol="0" anchor="t"/>
          <a:lstStyle/>
          <a:p>
            <a:pPr indent="0" marL="0">
              <a:buNone/>
            </a:pPr>
            <a:r>
              <a:rPr lang="en-US" sz="1100" b="1" spc="200" kern="0" dirty="0">
                <a:solidFill>
                  <a:srgbClr val="F39200"/>
                </a:solidFill>
                <a:latin typeface="Calibri" pitchFamily="34" charset="0"/>
                <a:ea typeface="Calibri" pitchFamily="34" charset="-122"/>
                <a:cs typeface="Calibri" pitchFamily="34" charset="-120"/>
              </a:rPr>
              <a:t>CONCEPTION</a:t>
            </a:r>
            <a:endParaRPr lang="en-US" sz="1100" dirty="0"/>
          </a:p>
        </p:txBody>
      </p:sp>
      <p:sp>
        <p:nvSpPr>
          <p:cNvPr id="3" name="Text 1"/>
          <p:cNvSpPr txBox="1"/>
          <p:nvPr/>
        </p:nvSpPr>
        <p:spPr>
          <a:xfrm>
            <a:off x="548640" y="603504"/>
            <a:ext cx="9326880" cy="685800"/>
          </a:xfrm>
          <a:prstGeom prst="rect">
            <a:avLst/>
          </a:prstGeom>
          <a:noFill/>
          <a:ln/>
        </p:spPr>
        <p:txBody>
          <a:bodyPr wrap="square" lIns="0" tIns="0" rIns="0" bIns="0" rtlCol="0" anchor="ctr"/>
          <a:lstStyle/>
          <a:p>
            <a:pPr indent="0" marL="0">
              <a:buNone/>
            </a:pPr>
            <a:r>
              <a:rPr lang="en-US" sz="3000" b="1" dirty="0">
                <a:solidFill>
                  <a:srgbClr val="0A4A8C"/>
                </a:solidFill>
                <a:latin typeface="Cambria" pitchFamily="34" charset="0"/>
                <a:ea typeface="Cambria" pitchFamily="34" charset="-122"/>
                <a:cs typeface="Cambria" pitchFamily="34" charset="-120"/>
              </a:rPr>
              <a:t>Diagramme de cas d'utilisation global</a:t>
            </a:r>
            <a:endParaRPr lang="en-US" sz="3000" dirty="0"/>
          </a:p>
        </p:txBody>
      </p:sp>
      <p:pic>
        <p:nvPicPr>
          <p:cNvPr id="4" name="Image 0" descr="assets/logo_sunny.png">    </p:cNvPr>
          <p:cNvPicPr>
            <a:picLocks noChangeAspect="1"/>
          </p:cNvPicPr>
          <p:nvPr/>
        </p:nvPicPr>
        <p:blipFill>
          <a:blip r:embed="rId1"/>
          <a:stretch>
            <a:fillRect/>
          </a:stretch>
        </p:blipFill>
        <p:spPr>
          <a:xfrm>
            <a:off x="10012680" y="481366"/>
            <a:ext cx="1691640" cy="372291"/>
          </a:xfrm>
          <a:prstGeom prst="rect">
            <a:avLst/>
          </a:prstGeom>
        </p:spPr>
      </p:pic>
      <p:sp>
        <p:nvSpPr>
          <p:cNvPr id="5" name="Text 2"/>
          <p:cNvSpPr txBox="1"/>
          <p:nvPr/>
        </p:nvSpPr>
        <p:spPr>
          <a:xfrm>
            <a:off x="548640" y="6428232"/>
            <a:ext cx="7315200" cy="228600"/>
          </a:xfrm>
          <a:prstGeom prst="rect">
            <a:avLst/>
          </a:prstGeom>
          <a:noFill/>
          <a:ln/>
        </p:spPr>
        <p:txBody>
          <a:bodyPr wrap="square" lIns="0" tIns="0" rIns="0" bIns="0" rtlCol="0" anchor="t"/>
          <a:lstStyle/>
          <a:p>
            <a:pPr indent="0" marL="0">
              <a:buNone/>
            </a:pPr>
            <a:r>
              <a:rPr lang="en-US" sz="900" dirty="0">
                <a:solidFill>
                  <a:srgbClr val="5B6B7F"/>
                </a:solidFill>
                <a:latin typeface="Calibri" pitchFamily="34" charset="0"/>
                <a:ea typeface="Calibri" pitchFamily="34" charset="-122"/>
                <a:cs typeface="Calibri" pitchFamily="34" charset="-120"/>
              </a:rPr>
              <a:t>Ranim Nabi  ·  PFE ESPRIT 2025-2026  ·  2 Go Sunny Tunisia Trip</a:t>
            </a:r>
            <a:endParaRPr lang="en-US" sz="900" dirty="0"/>
          </a:p>
        </p:txBody>
      </p:sp>
      <p:sp>
        <p:nvSpPr>
          <p:cNvPr id="6" name="Shape 3"/>
          <p:cNvSpPr/>
          <p:nvPr/>
        </p:nvSpPr>
        <p:spPr>
          <a:xfrm>
            <a:off x="11320272" y="6364224"/>
            <a:ext cx="347472" cy="347472"/>
          </a:xfrm>
          <a:prstGeom prst="ellipse">
            <a:avLst/>
          </a:prstGeom>
          <a:solidFill>
            <a:srgbClr val="F39200"/>
          </a:solidFill>
          <a:ln w="12700">
            <a:solidFill>
              <a:srgbClr val="F39200"/>
            </a:solidFill>
            <a:prstDash val="solid"/>
          </a:ln>
        </p:spPr>
      </p:sp>
      <p:sp>
        <p:nvSpPr>
          <p:cNvPr id="7" name="Text 4"/>
          <p:cNvSpPr txBox="1"/>
          <p:nvPr/>
        </p:nvSpPr>
        <p:spPr>
          <a:xfrm>
            <a:off x="11320272" y="6364224"/>
            <a:ext cx="347472"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11</a:t>
            </a:r>
            <a:endParaRPr lang="en-US" sz="1000" dirty="0"/>
          </a:p>
        </p:txBody>
      </p:sp>
      <p:sp>
        <p:nvSpPr>
          <p:cNvPr id="8" name="Shape 5"/>
          <p:cNvSpPr/>
          <p:nvPr/>
        </p:nvSpPr>
        <p:spPr>
          <a:xfrm>
            <a:off x="548640" y="1463040"/>
            <a:ext cx="6675120" cy="4663440"/>
          </a:xfrm>
          <a:prstGeom prst="roundRect">
            <a:avLst>
              <a:gd name="adj" fmla="val 2353"/>
            </a:avLst>
          </a:prstGeom>
          <a:solidFill>
            <a:srgbClr val="FFFFFF"/>
          </a:solidFill>
          <a:ln w="12700">
            <a:solidFill>
              <a:srgbClr val="D5E3F0"/>
            </a:solidFill>
            <a:prstDash val="solid"/>
          </a:ln>
          <a:effectLst>
            <a:outerShdw sx="100000" sy="100000" kx="0" ky="0" algn="bl" rotWithShape="0" blurRad="101600" dist="25400" dir="5400000">
              <a:srgbClr val="0A2540">
                <a:alpha val="12000"/>
              </a:srgbClr>
            </a:outerShdw>
          </a:effectLst>
        </p:spPr>
      </p:sp>
      <p:pic>
        <p:nvPicPr>
          <p:cNvPr id="9" name="Image 1" descr="assets/uml-usecase.png">    </p:cNvPr>
          <p:cNvPicPr>
            <a:picLocks noChangeAspect="1"/>
          </p:cNvPicPr>
          <p:nvPr/>
        </p:nvPicPr>
        <p:blipFill>
          <a:blip r:embed="rId2"/>
          <a:stretch>
            <a:fillRect/>
          </a:stretch>
        </p:blipFill>
        <p:spPr>
          <a:xfrm>
            <a:off x="1144498" y="1554480"/>
            <a:ext cx="5483403" cy="4480560"/>
          </a:xfrm>
          <a:prstGeom prst="rect">
            <a:avLst/>
          </a:prstGeom>
        </p:spPr>
      </p:pic>
      <p:sp>
        <p:nvSpPr>
          <p:cNvPr id="10" name="Shape 6"/>
          <p:cNvSpPr/>
          <p:nvPr/>
        </p:nvSpPr>
        <p:spPr>
          <a:xfrm>
            <a:off x="7498080" y="1463040"/>
            <a:ext cx="4133088" cy="1417320"/>
          </a:xfrm>
          <a:prstGeom prst="roundRect">
            <a:avLst>
              <a:gd name="adj" fmla="val 7742"/>
            </a:avLst>
          </a:prstGeom>
          <a:solidFill>
            <a:srgbClr val="EEF5FB"/>
          </a:solidFill>
          <a:ln w="12700">
            <a:solidFill>
              <a:srgbClr val="EEF5FB"/>
            </a:solidFill>
            <a:prstDash val="solid"/>
          </a:ln>
          <a:effectLst>
            <a:outerShdw sx="100000" sy="100000" kx="0" ky="0" algn="bl" rotWithShape="0" blurRad="101600" dist="25400" dir="5400000">
              <a:srgbClr val="0A2540">
                <a:alpha val="12000"/>
              </a:srgbClr>
            </a:outerShdw>
          </a:effectLst>
        </p:spPr>
      </p:sp>
      <p:sp>
        <p:nvSpPr>
          <p:cNvPr id="11" name="Shape 7"/>
          <p:cNvSpPr/>
          <p:nvPr/>
        </p:nvSpPr>
        <p:spPr>
          <a:xfrm>
            <a:off x="7662672" y="1645920"/>
            <a:ext cx="548640" cy="548640"/>
          </a:xfrm>
          <a:prstGeom prst="ellipse">
            <a:avLst/>
          </a:prstGeom>
          <a:solidFill>
            <a:srgbClr val="0A4A8C"/>
          </a:solidFill>
          <a:ln w="12700">
            <a:solidFill>
              <a:srgbClr val="0A4A8C"/>
            </a:solidFill>
            <a:prstDash val="solid"/>
          </a:ln>
        </p:spPr>
      </p:sp>
      <p:pic>
        <p:nvPicPr>
          <p:cNvPr id="12" name="Image 2" descr="preencoded.png">    </p:cNvPr>
          <p:cNvPicPr>
            <a:picLocks noChangeAspect="1"/>
          </p:cNvPicPr>
          <p:nvPr/>
        </p:nvPicPr>
        <p:blipFill>
          <a:blip r:embed="rId3"/>
          <a:stretch>
            <a:fillRect/>
          </a:stretch>
        </p:blipFill>
        <p:spPr>
          <a:xfrm>
            <a:off x="7805318" y="1788566"/>
            <a:ext cx="263347" cy="263347"/>
          </a:xfrm>
          <a:prstGeom prst="rect">
            <a:avLst/>
          </a:prstGeom>
        </p:spPr>
      </p:pic>
      <p:sp>
        <p:nvSpPr>
          <p:cNvPr id="13" name="Text 8"/>
          <p:cNvSpPr txBox="1"/>
          <p:nvPr/>
        </p:nvSpPr>
        <p:spPr>
          <a:xfrm>
            <a:off x="8321040" y="1719072"/>
            <a:ext cx="3200400" cy="411480"/>
          </a:xfrm>
          <a:prstGeom prst="rect">
            <a:avLst/>
          </a:prstGeom>
          <a:noFill/>
          <a:ln/>
        </p:spPr>
        <p:txBody>
          <a:bodyPr wrap="square" lIns="0" tIns="0" rIns="0" bIns="0" rtlCol="0" anchor="t"/>
          <a:lstStyle/>
          <a:p>
            <a:pPr indent="0" marL="0">
              <a:buNone/>
            </a:pPr>
            <a:r>
              <a:rPr lang="en-US" sz="1600" b="1" dirty="0">
                <a:solidFill>
                  <a:srgbClr val="0A4A8C"/>
                </a:solidFill>
                <a:latin typeface="Calibri" pitchFamily="34" charset="0"/>
                <a:ea typeface="Calibri" pitchFamily="34" charset="-122"/>
                <a:cs typeface="Calibri" pitchFamily="34" charset="-120"/>
              </a:rPr>
              <a:t>Directeur</a:t>
            </a:r>
            <a:endParaRPr lang="en-US" sz="1600" dirty="0"/>
          </a:p>
        </p:txBody>
      </p:sp>
      <p:sp>
        <p:nvSpPr>
          <p:cNvPr id="14" name="Text 9"/>
          <p:cNvSpPr txBox="1"/>
          <p:nvPr/>
        </p:nvSpPr>
        <p:spPr>
          <a:xfrm>
            <a:off x="7680960" y="2240280"/>
            <a:ext cx="3794760" cy="594360"/>
          </a:xfrm>
          <a:prstGeom prst="rect">
            <a:avLst/>
          </a:prstGeom>
          <a:noFill/>
          <a:ln/>
        </p:spPr>
        <p:txBody>
          <a:bodyPr wrap="square" lIns="0" tIns="0" rIns="0" bIns="0" rtlCol="0" anchor="t"/>
          <a:lstStyle/>
          <a:p>
            <a:pPr indent="0" marL="0">
              <a:buNone/>
            </a:pPr>
            <a:r>
              <a:rPr lang="en-US" sz="1200" dirty="0">
                <a:solidFill>
                  <a:srgbClr val="5B6B7F"/>
                </a:solidFill>
                <a:latin typeface="Calibri" pitchFamily="34" charset="0"/>
                <a:ea typeface="Calibri" pitchFamily="34" charset="-122"/>
                <a:cs typeface="Calibri" pitchFamily="34" charset="-120"/>
              </a:rPr>
              <a:t>Consulte le tableau de bord, les rapports Power BI et la performance des modèles</a:t>
            </a:r>
            <a:endParaRPr lang="en-US" sz="1200" dirty="0"/>
          </a:p>
        </p:txBody>
      </p:sp>
      <p:sp>
        <p:nvSpPr>
          <p:cNvPr id="15" name="Shape 10"/>
          <p:cNvSpPr/>
          <p:nvPr/>
        </p:nvSpPr>
        <p:spPr>
          <a:xfrm>
            <a:off x="7498080" y="3035808"/>
            <a:ext cx="4133088" cy="1417320"/>
          </a:xfrm>
          <a:prstGeom prst="roundRect">
            <a:avLst>
              <a:gd name="adj" fmla="val 7742"/>
            </a:avLst>
          </a:prstGeom>
          <a:solidFill>
            <a:srgbClr val="FEF6E4"/>
          </a:solidFill>
          <a:ln w="12700">
            <a:solidFill>
              <a:srgbClr val="FEF6E4"/>
            </a:solidFill>
            <a:prstDash val="solid"/>
          </a:ln>
          <a:effectLst>
            <a:outerShdw sx="100000" sy="100000" kx="0" ky="0" algn="bl" rotWithShape="0" blurRad="101600" dist="25400" dir="5400000">
              <a:srgbClr val="0A2540">
                <a:alpha val="12000"/>
              </a:srgbClr>
            </a:outerShdw>
          </a:effectLst>
        </p:spPr>
      </p:sp>
      <p:sp>
        <p:nvSpPr>
          <p:cNvPr id="16" name="Shape 11"/>
          <p:cNvSpPr/>
          <p:nvPr/>
        </p:nvSpPr>
        <p:spPr>
          <a:xfrm>
            <a:off x="7662672" y="3218688"/>
            <a:ext cx="548640" cy="548640"/>
          </a:xfrm>
          <a:prstGeom prst="ellipse">
            <a:avLst/>
          </a:prstGeom>
          <a:solidFill>
            <a:srgbClr val="F39200"/>
          </a:solidFill>
          <a:ln w="12700">
            <a:solidFill>
              <a:srgbClr val="F39200"/>
            </a:solidFill>
            <a:prstDash val="solid"/>
          </a:ln>
        </p:spPr>
      </p:sp>
      <p:pic>
        <p:nvPicPr>
          <p:cNvPr id="17" name="Image 3" descr="preencoded.png">    </p:cNvPr>
          <p:cNvPicPr>
            <a:picLocks noChangeAspect="1"/>
          </p:cNvPicPr>
          <p:nvPr/>
        </p:nvPicPr>
        <p:blipFill>
          <a:blip r:embed="rId4"/>
          <a:stretch>
            <a:fillRect/>
          </a:stretch>
        </p:blipFill>
        <p:spPr>
          <a:xfrm>
            <a:off x="7805318" y="3361334"/>
            <a:ext cx="263347" cy="263347"/>
          </a:xfrm>
          <a:prstGeom prst="rect">
            <a:avLst/>
          </a:prstGeom>
        </p:spPr>
      </p:pic>
      <p:sp>
        <p:nvSpPr>
          <p:cNvPr id="18" name="Text 12"/>
          <p:cNvSpPr txBox="1"/>
          <p:nvPr/>
        </p:nvSpPr>
        <p:spPr>
          <a:xfrm>
            <a:off x="8321040" y="3291840"/>
            <a:ext cx="3200400" cy="411480"/>
          </a:xfrm>
          <a:prstGeom prst="rect">
            <a:avLst/>
          </a:prstGeom>
          <a:noFill/>
          <a:ln/>
        </p:spPr>
        <p:txBody>
          <a:bodyPr wrap="square" lIns="0" tIns="0" rIns="0" bIns="0" rtlCol="0" anchor="t"/>
          <a:lstStyle/>
          <a:p>
            <a:pPr indent="0" marL="0">
              <a:buNone/>
            </a:pPr>
            <a:r>
              <a:rPr lang="en-US" sz="1600" b="1" dirty="0">
                <a:solidFill>
                  <a:srgbClr val="0A4A8C"/>
                </a:solidFill>
                <a:latin typeface="Calibri" pitchFamily="34" charset="0"/>
                <a:ea typeface="Calibri" pitchFamily="34" charset="-122"/>
                <a:cs typeface="Calibri" pitchFamily="34" charset="-120"/>
              </a:rPr>
              <a:t>Conseiller commercial</a:t>
            </a:r>
            <a:endParaRPr lang="en-US" sz="1600" dirty="0"/>
          </a:p>
        </p:txBody>
      </p:sp>
      <p:sp>
        <p:nvSpPr>
          <p:cNvPr id="19" name="Text 13"/>
          <p:cNvSpPr txBox="1"/>
          <p:nvPr/>
        </p:nvSpPr>
        <p:spPr>
          <a:xfrm>
            <a:off x="7680960" y="3813048"/>
            <a:ext cx="3794760" cy="594360"/>
          </a:xfrm>
          <a:prstGeom prst="rect">
            <a:avLst/>
          </a:prstGeom>
          <a:noFill/>
          <a:ln/>
        </p:spPr>
        <p:txBody>
          <a:bodyPr wrap="square" lIns="0" tIns="0" rIns="0" bIns="0" rtlCol="0" anchor="t"/>
          <a:lstStyle/>
          <a:p>
            <a:pPr indent="0" marL="0">
              <a:buNone/>
            </a:pPr>
            <a:r>
              <a:rPr lang="en-US" sz="1200" dirty="0">
                <a:solidFill>
                  <a:srgbClr val="5B6B7F"/>
                </a:solidFill>
                <a:latin typeface="Calibri" pitchFamily="34" charset="0"/>
                <a:ea typeface="Calibri" pitchFamily="34" charset="-122"/>
                <a:cs typeface="Calibri" pitchFamily="34" charset="-120"/>
              </a:rPr>
              <a:t>Obtient des recommandations pour un client existant ou nouveau, et les exporte</a:t>
            </a:r>
            <a:endParaRPr lang="en-US" sz="1200" dirty="0"/>
          </a:p>
        </p:txBody>
      </p:sp>
      <p:sp>
        <p:nvSpPr>
          <p:cNvPr id="20" name="Shape 14"/>
          <p:cNvSpPr/>
          <p:nvPr/>
        </p:nvSpPr>
        <p:spPr>
          <a:xfrm>
            <a:off x="7498080" y="4608576"/>
            <a:ext cx="4133088" cy="1417320"/>
          </a:xfrm>
          <a:prstGeom prst="roundRect">
            <a:avLst>
              <a:gd name="adj" fmla="val 7742"/>
            </a:avLst>
          </a:prstGeom>
          <a:solidFill>
            <a:srgbClr val="EEF5FB"/>
          </a:solidFill>
          <a:ln w="12700">
            <a:solidFill>
              <a:srgbClr val="EEF5FB"/>
            </a:solidFill>
            <a:prstDash val="solid"/>
          </a:ln>
          <a:effectLst>
            <a:outerShdw sx="100000" sy="100000" kx="0" ky="0" algn="bl" rotWithShape="0" blurRad="101600" dist="25400" dir="5400000">
              <a:srgbClr val="0A2540">
                <a:alpha val="12000"/>
              </a:srgbClr>
            </a:outerShdw>
          </a:effectLst>
        </p:spPr>
      </p:sp>
      <p:sp>
        <p:nvSpPr>
          <p:cNvPr id="21" name="Shape 15"/>
          <p:cNvSpPr/>
          <p:nvPr/>
        </p:nvSpPr>
        <p:spPr>
          <a:xfrm>
            <a:off x="7662672" y="4791456"/>
            <a:ext cx="548640" cy="548640"/>
          </a:xfrm>
          <a:prstGeom prst="ellipse">
            <a:avLst/>
          </a:prstGeom>
          <a:solidFill>
            <a:srgbClr val="0A4A8C"/>
          </a:solidFill>
          <a:ln w="12700">
            <a:solidFill>
              <a:srgbClr val="0A4A8C"/>
            </a:solidFill>
            <a:prstDash val="solid"/>
          </a:ln>
        </p:spPr>
      </p:sp>
      <p:pic>
        <p:nvPicPr>
          <p:cNvPr id="22" name="Image 4" descr="preencoded.png">    </p:cNvPr>
          <p:cNvPicPr>
            <a:picLocks noChangeAspect="1"/>
          </p:cNvPicPr>
          <p:nvPr/>
        </p:nvPicPr>
        <p:blipFill>
          <a:blip r:embed="rId5"/>
          <a:stretch>
            <a:fillRect/>
          </a:stretch>
        </p:blipFill>
        <p:spPr>
          <a:xfrm>
            <a:off x="7805318" y="4934102"/>
            <a:ext cx="263347" cy="263347"/>
          </a:xfrm>
          <a:prstGeom prst="rect">
            <a:avLst/>
          </a:prstGeom>
        </p:spPr>
      </p:pic>
      <p:sp>
        <p:nvSpPr>
          <p:cNvPr id="23" name="Text 16"/>
          <p:cNvSpPr txBox="1"/>
          <p:nvPr/>
        </p:nvSpPr>
        <p:spPr>
          <a:xfrm>
            <a:off x="8321040" y="4864608"/>
            <a:ext cx="3200400" cy="411480"/>
          </a:xfrm>
          <a:prstGeom prst="rect">
            <a:avLst/>
          </a:prstGeom>
          <a:noFill/>
          <a:ln/>
        </p:spPr>
        <p:txBody>
          <a:bodyPr wrap="square" lIns="0" tIns="0" rIns="0" bIns="0" rtlCol="0" anchor="t"/>
          <a:lstStyle/>
          <a:p>
            <a:pPr indent="0" marL="0">
              <a:buNone/>
            </a:pPr>
            <a:r>
              <a:rPr lang="en-US" sz="1600" b="1" dirty="0">
                <a:solidFill>
                  <a:srgbClr val="0A4A8C"/>
                </a:solidFill>
                <a:latin typeface="Calibri" pitchFamily="34" charset="0"/>
                <a:ea typeface="Calibri" pitchFamily="34" charset="-122"/>
                <a:cs typeface="Calibri" pitchFamily="34" charset="-120"/>
              </a:rPr>
              <a:t>Analyste de données</a:t>
            </a:r>
            <a:endParaRPr lang="en-US" sz="1600" dirty="0"/>
          </a:p>
        </p:txBody>
      </p:sp>
      <p:sp>
        <p:nvSpPr>
          <p:cNvPr id="24" name="Text 17"/>
          <p:cNvSpPr txBox="1"/>
          <p:nvPr/>
        </p:nvSpPr>
        <p:spPr>
          <a:xfrm>
            <a:off x="7680960" y="5385816"/>
            <a:ext cx="3794760" cy="594360"/>
          </a:xfrm>
          <a:prstGeom prst="rect">
            <a:avLst/>
          </a:prstGeom>
          <a:noFill/>
          <a:ln/>
        </p:spPr>
        <p:txBody>
          <a:bodyPr wrap="square" lIns="0" tIns="0" rIns="0" bIns="0" rtlCol="0" anchor="t"/>
          <a:lstStyle/>
          <a:p>
            <a:pPr indent="0" marL="0">
              <a:buNone/>
            </a:pPr>
            <a:r>
              <a:rPr lang="en-US" sz="1200" dirty="0">
                <a:solidFill>
                  <a:srgbClr val="5B6B7F"/>
                </a:solidFill>
                <a:latin typeface="Calibri" pitchFamily="34" charset="0"/>
                <a:ea typeface="Calibri" pitchFamily="34" charset="-122"/>
                <a:cs typeface="Calibri" pitchFamily="34" charset="-120"/>
              </a:rPr>
              <a:t>Prépare les données, entraîne les modèles, publie et vérifie</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772400" cy="274320"/>
          </a:xfrm>
          <a:prstGeom prst="rect">
            <a:avLst/>
          </a:prstGeom>
          <a:noFill/>
          <a:ln/>
        </p:spPr>
        <p:txBody>
          <a:bodyPr wrap="square" lIns="0" tIns="0" rIns="0" bIns="0" rtlCol="0" anchor="t"/>
          <a:lstStyle/>
          <a:p>
            <a:pPr indent="0" marL="0">
              <a:buNone/>
            </a:pPr>
            <a:r>
              <a:rPr lang="en-US" sz="1100" b="1" spc="200" kern="0" dirty="0">
                <a:solidFill>
                  <a:srgbClr val="F39200"/>
                </a:solidFill>
                <a:latin typeface="Calibri" pitchFamily="34" charset="0"/>
                <a:ea typeface="Calibri" pitchFamily="34" charset="-122"/>
                <a:cs typeface="Calibri" pitchFamily="34" charset="-120"/>
              </a:rPr>
              <a:t>CONCEPTION</a:t>
            </a:r>
            <a:endParaRPr lang="en-US" sz="1100" dirty="0"/>
          </a:p>
        </p:txBody>
      </p:sp>
      <p:sp>
        <p:nvSpPr>
          <p:cNvPr id="3" name="Text 1"/>
          <p:cNvSpPr txBox="1"/>
          <p:nvPr/>
        </p:nvSpPr>
        <p:spPr>
          <a:xfrm>
            <a:off x="548640" y="603504"/>
            <a:ext cx="9326880" cy="685800"/>
          </a:xfrm>
          <a:prstGeom prst="rect">
            <a:avLst/>
          </a:prstGeom>
          <a:noFill/>
          <a:ln/>
        </p:spPr>
        <p:txBody>
          <a:bodyPr wrap="square" lIns="0" tIns="0" rIns="0" bIns="0" rtlCol="0" anchor="ctr"/>
          <a:lstStyle/>
          <a:p>
            <a:pPr indent="0" marL="0">
              <a:buNone/>
            </a:pPr>
            <a:r>
              <a:rPr lang="en-US" sz="3000" b="1" dirty="0">
                <a:solidFill>
                  <a:srgbClr val="0A4A8C"/>
                </a:solidFill>
                <a:latin typeface="Cambria" pitchFamily="34" charset="0"/>
                <a:ea typeface="Cambria" pitchFamily="34" charset="-122"/>
                <a:cs typeface="Cambria" pitchFamily="34" charset="-120"/>
              </a:rPr>
              <a:t>Diagramme de classes</a:t>
            </a:r>
            <a:endParaRPr lang="en-US" sz="3000" dirty="0"/>
          </a:p>
        </p:txBody>
      </p:sp>
      <p:pic>
        <p:nvPicPr>
          <p:cNvPr id="4" name="Image 0" descr="assets/logo_sunny.png">    </p:cNvPr>
          <p:cNvPicPr>
            <a:picLocks noChangeAspect="1"/>
          </p:cNvPicPr>
          <p:nvPr/>
        </p:nvPicPr>
        <p:blipFill>
          <a:blip r:embed="rId1"/>
          <a:stretch>
            <a:fillRect/>
          </a:stretch>
        </p:blipFill>
        <p:spPr>
          <a:xfrm>
            <a:off x="10012680" y="481366"/>
            <a:ext cx="1691640" cy="372291"/>
          </a:xfrm>
          <a:prstGeom prst="rect">
            <a:avLst/>
          </a:prstGeom>
        </p:spPr>
      </p:pic>
      <p:sp>
        <p:nvSpPr>
          <p:cNvPr id="5" name="Text 2"/>
          <p:cNvSpPr txBox="1"/>
          <p:nvPr/>
        </p:nvSpPr>
        <p:spPr>
          <a:xfrm>
            <a:off x="548640" y="6428232"/>
            <a:ext cx="7315200" cy="228600"/>
          </a:xfrm>
          <a:prstGeom prst="rect">
            <a:avLst/>
          </a:prstGeom>
          <a:noFill/>
          <a:ln/>
        </p:spPr>
        <p:txBody>
          <a:bodyPr wrap="square" lIns="0" tIns="0" rIns="0" bIns="0" rtlCol="0" anchor="t"/>
          <a:lstStyle/>
          <a:p>
            <a:pPr indent="0" marL="0">
              <a:buNone/>
            </a:pPr>
            <a:r>
              <a:rPr lang="en-US" sz="900" dirty="0">
                <a:solidFill>
                  <a:srgbClr val="5B6B7F"/>
                </a:solidFill>
                <a:latin typeface="Calibri" pitchFamily="34" charset="0"/>
                <a:ea typeface="Calibri" pitchFamily="34" charset="-122"/>
                <a:cs typeface="Calibri" pitchFamily="34" charset="-120"/>
              </a:rPr>
              <a:t>Ranim Nabi  ·  PFE ESPRIT 2025-2026  ·  2 Go Sunny Tunisia Trip</a:t>
            </a:r>
            <a:endParaRPr lang="en-US" sz="900" dirty="0"/>
          </a:p>
        </p:txBody>
      </p:sp>
      <p:sp>
        <p:nvSpPr>
          <p:cNvPr id="6" name="Shape 3"/>
          <p:cNvSpPr/>
          <p:nvPr/>
        </p:nvSpPr>
        <p:spPr>
          <a:xfrm>
            <a:off x="11320272" y="6364224"/>
            <a:ext cx="347472" cy="347472"/>
          </a:xfrm>
          <a:prstGeom prst="ellipse">
            <a:avLst/>
          </a:prstGeom>
          <a:solidFill>
            <a:srgbClr val="F39200"/>
          </a:solidFill>
          <a:ln w="12700">
            <a:solidFill>
              <a:srgbClr val="F39200"/>
            </a:solidFill>
            <a:prstDash val="solid"/>
          </a:ln>
        </p:spPr>
      </p:sp>
      <p:sp>
        <p:nvSpPr>
          <p:cNvPr id="7" name="Text 4"/>
          <p:cNvSpPr txBox="1"/>
          <p:nvPr/>
        </p:nvSpPr>
        <p:spPr>
          <a:xfrm>
            <a:off x="11320272" y="6364224"/>
            <a:ext cx="347472"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12</a:t>
            </a:r>
            <a:endParaRPr lang="en-US" sz="1000" dirty="0"/>
          </a:p>
        </p:txBody>
      </p:sp>
      <p:sp>
        <p:nvSpPr>
          <p:cNvPr id="8" name="Shape 5"/>
          <p:cNvSpPr/>
          <p:nvPr/>
        </p:nvSpPr>
        <p:spPr>
          <a:xfrm>
            <a:off x="548640" y="1463040"/>
            <a:ext cx="11082528" cy="3886200"/>
          </a:xfrm>
          <a:prstGeom prst="roundRect">
            <a:avLst>
              <a:gd name="adj" fmla="val 2824"/>
            </a:avLst>
          </a:prstGeom>
          <a:solidFill>
            <a:srgbClr val="FFFFFF"/>
          </a:solidFill>
          <a:ln w="12700">
            <a:solidFill>
              <a:srgbClr val="D5E3F0"/>
            </a:solidFill>
            <a:prstDash val="solid"/>
          </a:ln>
          <a:effectLst>
            <a:outerShdw sx="100000" sy="100000" kx="0" ky="0" algn="bl" rotWithShape="0" blurRad="101600" dist="25400" dir="5400000">
              <a:srgbClr val="0A2540">
                <a:alpha val="12000"/>
              </a:srgbClr>
            </a:outerShdw>
          </a:effectLst>
        </p:spPr>
      </p:sp>
      <p:pic>
        <p:nvPicPr>
          <p:cNvPr id="9" name="Image 1" descr="assets/uml-classes.png">    </p:cNvPr>
          <p:cNvPicPr>
            <a:picLocks noChangeAspect="1"/>
          </p:cNvPicPr>
          <p:nvPr/>
        </p:nvPicPr>
        <p:blipFill>
          <a:blip r:embed="rId2"/>
          <a:stretch>
            <a:fillRect/>
          </a:stretch>
        </p:blipFill>
        <p:spPr>
          <a:xfrm>
            <a:off x="2320672" y="1536192"/>
            <a:ext cx="7538465" cy="3749040"/>
          </a:xfrm>
          <a:prstGeom prst="rect">
            <a:avLst/>
          </a:prstGeom>
        </p:spPr>
      </p:pic>
      <p:sp>
        <p:nvSpPr>
          <p:cNvPr id="10" name="Shape 6"/>
          <p:cNvSpPr/>
          <p:nvPr/>
        </p:nvSpPr>
        <p:spPr>
          <a:xfrm>
            <a:off x="548640" y="5486400"/>
            <a:ext cx="3584448" cy="658368"/>
          </a:xfrm>
          <a:prstGeom prst="roundRect">
            <a:avLst>
              <a:gd name="adj" fmla="val 16667"/>
            </a:avLst>
          </a:prstGeom>
          <a:solidFill>
            <a:srgbClr val="EEF5FB"/>
          </a:solidFill>
          <a:ln w="12700">
            <a:solidFill>
              <a:srgbClr val="EEF5FB"/>
            </a:solidFill>
            <a:prstDash val="solid"/>
          </a:ln>
        </p:spPr>
      </p:sp>
      <p:sp>
        <p:nvSpPr>
          <p:cNvPr id="11" name="Text 7"/>
          <p:cNvSpPr txBox="1"/>
          <p:nvPr/>
        </p:nvSpPr>
        <p:spPr>
          <a:xfrm>
            <a:off x="685800" y="5486400"/>
            <a:ext cx="3337560" cy="658368"/>
          </a:xfrm>
          <a:prstGeom prst="rect">
            <a:avLst/>
          </a:prstGeom>
          <a:noFill/>
          <a:ln/>
        </p:spPr>
        <p:txBody>
          <a:bodyPr wrap="square" lIns="0" tIns="0" rIns="0" bIns="0" rtlCol="0" anchor="ctr"/>
          <a:lstStyle/>
          <a:p>
            <a:pPr indent="0" marL="0">
              <a:buNone/>
            </a:pPr>
            <a:r>
              <a:rPr lang="en-US" sz="1100" b="1" dirty="0">
                <a:solidFill>
                  <a:srgbClr val="F39200"/>
                </a:solidFill>
                <a:latin typeface="Calibri" pitchFamily="34" charset="0"/>
                <a:ea typeface="Calibri" pitchFamily="34" charset="-122"/>
                <a:cs typeface="Calibri" pitchFamily="34" charset="-120"/>
              </a:rPr>
              <a:t>Interface : </a:t>
            </a:r>
            <a:pPr indent="0" marL="0">
              <a:buNone/>
            </a:pPr>
            <a:r>
              <a:rPr lang="en-US" sz="1100" dirty="0">
                <a:solidFill>
                  <a:srgbClr val="1B2A3A"/>
                </a:solidFill>
                <a:latin typeface="Calibri" pitchFamily="34" charset="0"/>
                <a:ea typeface="Calibri" pitchFamily="34" charset="-122"/>
                <a:cs typeface="Calibri" pitchFamily="34" charset="-120"/>
              </a:rPr>
              <a:t>MainWindow et cinq pages : tableau de bord, rapports, recommandations, modèles, à propos</a:t>
            </a:r>
            <a:endParaRPr lang="en-US" sz="1100" dirty="0"/>
          </a:p>
        </p:txBody>
      </p:sp>
      <p:sp>
        <p:nvSpPr>
          <p:cNvPr id="12" name="Shape 8"/>
          <p:cNvSpPr/>
          <p:nvPr/>
        </p:nvSpPr>
        <p:spPr>
          <a:xfrm>
            <a:off x="4297680" y="5486400"/>
            <a:ext cx="3584448" cy="658368"/>
          </a:xfrm>
          <a:prstGeom prst="roundRect">
            <a:avLst>
              <a:gd name="adj" fmla="val 16667"/>
            </a:avLst>
          </a:prstGeom>
          <a:solidFill>
            <a:srgbClr val="FEF6E4"/>
          </a:solidFill>
          <a:ln w="12700">
            <a:solidFill>
              <a:srgbClr val="FEF6E4"/>
            </a:solidFill>
            <a:prstDash val="solid"/>
          </a:ln>
        </p:spPr>
      </p:sp>
      <p:sp>
        <p:nvSpPr>
          <p:cNvPr id="13" name="Text 9"/>
          <p:cNvSpPr txBox="1"/>
          <p:nvPr/>
        </p:nvSpPr>
        <p:spPr>
          <a:xfrm>
            <a:off x="4434840" y="5486400"/>
            <a:ext cx="3337560" cy="658368"/>
          </a:xfrm>
          <a:prstGeom prst="rect">
            <a:avLst/>
          </a:prstGeom>
          <a:noFill/>
          <a:ln/>
        </p:spPr>
        <p:txBody>
          <a:bodyPr wrap="square" lIns="0" tIns="0" rIns="0" bIns="0" rtlCol="0" anchor="ctr"/>
          <a:lstStyle/>
          <a:p>
            <a:pPr indent="0" marL="0">
              <a:buNone/>
            </a:pPr>
            <a:r>
              <a:rPr lang="en-US" sz="1100" b="1" dirty="0">
                <a:solidFill>
                  <a:srgbClr val="F39200"/>
                </a:solidFill>
                <a:latin typeface="Calibri" pitchFamily="34" charset="0"/>
                <a:ea typeface="Calibri" pitchFamily="34" charset="-122"/>
                <a:cs typeface="Calibri" pitchFamily="34" charset="-120"/>
              </a:rPr>
              <a:t>Moteur : </a:t>
            </a:r>
            <a:pPr indent="0" marL="0">
              <a:buNone/>
            </a:pPr>
            <a:r>
              <a:rPr lang="en-US" sz="1100" dirty="0">
                <a:solidFill>
                  <a:srgbClr val="1B2A3A"/>
                </a:solidFill>
                <a:latin typeface="Calibri" pitchFamily="34" charset="0"/>
                <a:ea typeface="Calibri" pitchFamily="34" charset="-122"/>
                <a:cs typeface="Calibri" pitchFamily="34" charset="-120"/>
              </a:rPr>
              <a:t>RecommenderEngine : calcule et explique les recommandations</a:t>
            </a:r>
            <a:endParaRPr lang="en-US" sz="1100" dirty="0"/>
          </a:p>
        </p:txBody>
      </p:sp>
      <p:sp>
        <p:nvSpPr>
          <p:cNvPr id="14" name="Shape 10"/>
          <p:cNvSpPr/>
          <p:nvPr/>
        </p:nvSpPr>
        <p:spPr>
          <a:xfrm>
            <a:off x="8046720" y="5486400"/>
            <a:ext cx="3584448" cy="658368"/>
          </a:xfrm>
          <a:prstGeom prst="roundRect">
            <a:avLst>
              <a:gd name="adj" fmla="val 16667"/>
            </a:avLst>
          </a:prstGeom>
          <a:solidFill>
            <a:srgbClr val="EEF5FB"/>
          </a:solidFill>
          <a:ln w="12700">
            <a:solidFill>
              <a:srgbClr val="EEF5FB"/>
            </a:solidFill>
            <a:prstDash val="solid"/>
          </a:ln>
        </p:spPr>
      </p:sp>
      <p:sp>
        <p:nvSpPr>
          <p:cNvPr id="15" name="Text 11"/>
          <p:cNvSpPr txBox="1"/>
          <p:nvPr/>
        </p:nvSpPr>
        <p:spPr>
          <a:xfrm>
            <a:off x="8183880" y="5486400"/>
            <a:ext cx="3337560" cy="658368"/>
          </a:xfrm>
          <a:prstGeom prst="rect">
            <a:avLst/>
          </a:prstGeom>
          <a:noFill/>
          <a:ln/>
        </p:spPr>
        <p:txBody>
          <a:bodyPr wrap="square" lIns="0" tIns="0" rIns="0" bIns="0" rtlCol="0" anchor="ctr"/>
          <a:lstStyle/>
          <a:p>
            <a:pPr indent="0" marL="0">
              <a:buNone/>
            </a:pPr>
            <a:r>
              <a:rPr lang="en-US" sz="1100" b="1" dirty="0">
                <a:solidFill>
                  <a:srgbClr val="F39200"/>
                </a:solidFill>
                <a:latin typeface="Calibri" pitchFamily="34" charset="0"/>
                <a:ea typeface="Calibri" pitchFamily="34" charset="-122"/>
                <a:cs typeface="Calibri" pitchFamily="34" charset="-120"/>
              </a:rPr>
              <a:t>Indicateurs : </a:t>
            </a:r>
            <a:pPr indent="0" marL="0">
              <a:buNone/>
            </a:pPr>
            <a:r>
              <a:rPr lang="en-US" sz="1100" dirty="0">
                <a:solidFill>
                  <a:srgbClr val="1B2A3A"/>
                </a:solidFill>
                <a:latin typeface="Calibri" pitchFamily="34" charset="0"/>
                <a:ea typeface="Calibri" pitchFamily="34" charset="-122"/>
                <a:cs typeface="Calibri" pitchFamily="34" charset="-120"/>
              </a:rPr>
              <a:t>Module indépendant qui calcule les KPI, testable sans interface</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772400" cy="274320"/>
          </a:xfrm>
          <a:prstGeom prst="rect">
            <a:avLst/>
          </a:prstGeom>
          <a:noFill/>
          <a:ln/>
        </p:spPr>
        <p:txBody>
          <a:bodyPr wrap="square" lIns="0" tIns="0" rIns="0" bIns="0" rtlCol="0" anchor="t"/>
          <a:lstStyle/>
          <a:p>
            <a:pPr indent="0" marL="0">
              <a:buNone/>
            </a:pPr>
            <a:r>
              <a:rPr lang="en-US" sz="1100" b="1" spc="200" kern="0" dirty="0">
                <a:solidFill>
                  <a:srgbClr val="F39200"/>
                </a:solidFill>
                <a:latin typeface="Calibri" pitchFamily="34" charset="0"/>
                <a:ea typeface="Calibri" pitchFamily="34" charset="-122"/>
                <a:cs typeface="Calibri" pitchFamily="34" charset="-120"/>
              </a:rPr>
              <a:t>RÉALISATION</a:t>
            </a:r>
            <a:endParaRPr lang="en-US" sz="1100" dirty="0"/>
          </a:p>
        </p:txBody>
      </p:sp>
      <p:sp>
        <p:nvSpPr>
          <p:cNvPr id="3" name="Text 1"/>
          <p:cNvSpPr txBox="1"/>
          <p:nvPr/>
        </p:nvSpPr>
        <p:spPr>
          <a:xfrm>
            <a:off x="548640" y="603504"/>
            <a:ext cx="9326880" cy="685800"/>
          </a:xfrm>
          <a:prstGeom prst="rect">
            <a:avLst/>
          </a:prstGeom>
          <a:noFill/>
          <a:ln/>
        </p:spPr>
        <p:txBody>
          <a:bodyPr wrap="square" lIns="0" tIns="0" rIns="0" bIns="0" rtlCol="0" anchor="ctr"/>
          <a:lstStyle/>
          <a:p>
            <a:pPr indent="0" marL="0">
              <a:buNone/>
            </a:pPr>
            <a:r>
              <a:rPr lang="en-US" sz="3000" b="1" dirty="0">
                <a:solidFill>
                  <a:srgbClr val="0A4A8C"/>
                </a:solidFill>
                <a:latin typeface="Cambria" pitchFamily="34" charset="0"/>
                <a:ea typeface="Cambria" pitchFamily="34" charset="-122"/>
                <a:cs typeface="Cambria" pitchFamily="34" charset="-120"/>
              </a:rPr>
              <a:t>Méthodologie de travail</a:t>
            </a:r>
            <a:endParaRPr lang="en-US" sz="3000" dirty="0"/>
          </a:p>
        </p:txBody>
      </p:sp>
      <p:pic>
        <p:nvPicPr>
          <p:cNvPr id="4" name="Image 0" descr="assets/logo_sunny.png">    </p:cNvPr>
          <p:cNvPicPr>
            <a:picLocks noChangeAspect="1"/>
          </p:cNvPicPr>
          <p:nvPr/>
        </p:nvPicPr>
        <p:blipFill>
          <a:blip r:embed="rId1"/>
          <a:stretch>
            <a:fillRect/>
          </a:stretch>
        </p:blipFill>
        <p:spPr>
          <a:xfrm>
            <a:off x="10012680" y="481366"/>
            <a:ext cx="1691640" cy="372291"/>
          </a:xfrm>
          <a:prstGeom prst="rect">
            <a:avLst/>
          </a:prstGeom>
        </p:spPr>
      </p:pic>
      <p:sp>
        <p:nvSpPr>
          <p:cNvPr id="5" name="Text 2"/>
          <p:cNvSpPr txBox="1"/>
          <p:nvPr/>
        </p:nvSpPr>
        <p:spPr>
          <a:xfrm>
            <a:off x="548640" y="6428232"/>
            <a:ext cx="7315200" cy="228600"/>
          </a:xfrm>
          <a:prstGeom prst="rect">
            <a:avLst/>
          </a:prstGeom>
          <a:noFill/>
          <a:ln/>
        </p:spPr>
        <p:txBody>
          <a:bodyPr wrap="square" lIns="0" tIns="0" rIns="0" bIns="0" rtlCol="0" anchor="t"/>
          <a:lstStyle/>
          <a:p>
            <a:pPr indent="0" marL="0">
              <a:buNone/>
            </a:pPr>
            <a:r>
              <a:rPr lang="en-US" sz="900" dirty="0">
                <a:solidFill>
                  <a:srgbClr val="5B6B7F"/>
                </a:solidFill>
                <a:latin typeface="Calibri" pitchFamily="34" charset="0"/>
                <a:ea typeface="Calibri" pitchFamily="34" charset="-122"/>
                <a:cs typeface="Calibri" pitchFamily="34" charset="-120"/>
              </a:rPr>
              <a:t>Ranim Nabi  ·  PFE ESPRIT 2025-2026  ·  2 Go Sunny Tunisia Trip</a:t>
            </a:r>
            <a:endParaRPr lang="en-US" sz="900" dirty="0"/>
          </a:p>
        </p:txBody>
      </p:sp>
      <p:sp>
        <p:nvSpPr>
          <p:cNvPr id="6" name="Shape 3"/>
          <p:cNvSpPr/>
          <p:nvPr/>
        </p:nvSpPr>
        <p:spPr>
          <a:xfrm>
            <a:off x="11320272" y="6364224"/>
            <a:ext cx="347472" cy="347472"/>
          </a:xfrm>
          <a:prstGeom prst="ellipse">
            <a:avLst/>
          </a:prstGeom>
          <a:solidFill>
            <a:srgbClr val="F39200"/>
          </a:solidFill>
          <a:ln w="12700">
            <a:solidFill>
              <a:srgbClr val="F39200"/>
            </a:solidFill>
            <a:prstDash val="solid"/>
          </a:ln>
        </p:spPr>
      </p:sp>
      <p:sp>
        <p:nvSpPr>
          <p:cNvPr id="7" name="Text 4"/>
          <p:cNvSpPr txBox="1"/>
          <p:nvPr/>
        </p:nvSpPr>
        <p:spPr>
          <a:xfrm>
            <a:off x="11320272" y="6364224"/>
            <a:ext cx="347472"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13</a:t>
            </a:r>
            <a:endParaRPr lang="en-US" sz="1000" dirty="0"/>
          </a:p>
        </p:txBody>
      </p:sp>
      <p:sp>
        <p:nvSpPr>
          <p:cNvPr id="8" name="Text 5"/>
          <p:cNvSpPr txBox="1"/>
          <p:nvPr/>
        </p:nvSpPr>
        <p:spPr>
          <a:xfrm>
            <a:off x="548640" y="1417320"/>
            <a:ext cx="11064240" cy="411480"/>
          </a:xfrm>
          <a:prstGeom prst="rect">
            <a:avLst/>
          </a:prstGeom>
          <a:noFill/>
          <a:ln/>
        </p:spPr>
        <p:txBody>
          <a:bodyPr wrap="square" lIns="0" tIns="0" rIns="0" bIns="0" rtlCol="0" anchor="t"/>
          <a:lstStyle/>
          <a:p>
            <a:pPr indent="0" marL="0">
              <a:buNone/>
            </a:pPr>
            <a:r>
              <a:rPr lang="en-US" sz="1600" dirty="0">
                <a:solidFill>
                  <a:srgbClr val="5B6B7F"/>
                </a:solidFill>
                <a:latin typeface="Calibri" pitchFamily="34" charset="0"/>
                <a:ea typeface="Calibri" pitchFamily="34" charset="-122"/>
                <a:cs typeface="Calibri" pitchFamily="34" charset="-120"/>
              </a:rPr>
              <a:t>Scrum pour livrer régulièrement de la valeur, CRISP-DM pour exploiter les données avec rigueur</a:t>
            </a:r>
            <a:endParaRPr lang="en-US" sz="1600" dirty="0"/>
          </a:p>
        </p:txBody>
      </p:sp>
      <p:sp>
        <p:nvSpPr>
          <p:cNvPr id="9" name="Shape 6"/>
          <p:cNvSpPr/>
          <p:nvPr/>
        </p:nvSpPr>
        <p:spPr>
          <a:xfrm>
            <a:off x="548640" y="2011680"/>
            <a:ext cx="3108960" cy="4069080"/>
          </a:xfrm>
          <a:prstGeom prst="roundRect">
            <a:avLst>
              <a:gd name="adj" fmla="val 3529"/>
            </a:avLst>
          </a:prstGeom>
          <a:solidFill>
            <a:srgbClr val="FFFFFF"/>
          </a:solidFill>
          <a:ln w="12700">
            <a:solidFill>
              <a:srgbClr val="D5E3F0"/>
            </a:solidFill>
            <a:prstDash val="solid"/>
          </a:ln>
          <a:effectLst>
            <a:outerShdw sx="100000" sy="100000" kx="0" ky="0" algn="bl" rotWithShape="0" blurRad="101600" dist="25400" dir="5400000">
              <a:srgbClr val="0A2540">
                <a:alpha val="12000"/>
              </a:srgbClr>
            </a:outerShdw>
          </a:effectLst>
        </p:spPr>
      </p:sp>
      <p:pic>
        <p:nvPicPr>
          <p:cNvPr id="10" name="Image 1" descr="assets/crispdm.jpg">    </p:cNvPr>
          <p:cNvPicPr>
            <a:picLocks noChangeAspect="1"/>
          </p:cNvPicPr>
          <p:nvPr/>
        </p:nvPicPr>
        <p:blipFill>
          <a:blip r:embed="rId2"/>
          <a:stretch>
            <a:fillRect/>
          </a:stretch>
        </p:blipFill>
        <p:spPr>
          <a:xfrm>
            <a:off x="685800" y="2286000"/>
            <a:ext cx="2834640" cy="2834640"/>
          </a:xfrm>
          <a:prstGeom prst="rect">
            <a:avLst/>
          </a:prstGeom>
        </p:spPr>
      </p:pic>
      <p:sp>
        <p:nvSpPr>
          <p:cNvPr id="11" name="Text 7"/>
          <p:cNvSpPr txBox="1"/>
          <p:nvPr/>
        </p:nvSpPr>
        <p:spPr>
          <a:xfrm>
            <a:off x="548640" y="5440680"/>
            <a:ext cx="3108960" cy="365760"/>
          </a:xfrm>
          <a:prstGeom prst="rect">
            <a:avLst/>
          </a:prstGeom>
          <a:noFill/>
          <a:ln/>
        </p:spPr>
        <p:txBody>
          <a:bodyPr wrap="square" lIns="0" tIns="0" rIns="0" bIns="0" rtlCol="0" anchor="t"/>
          <a:lstStyle/>
          <a:p>
            <a:pPr algn="ctr" indent="0" marL="0">
              <a:buNone/>
            </a:pPr>
            <a:r>
              <a:rPr lang="en-US" sz="1300" b="1" dirty="0">
                <a:solidFill>
                  <a:srgbClr val="0A4A8C"/>
                </a:solidFill>
                <a:latin typeface="Calibri" pitchFamily="34" charset="0"/>
                <a:ea typeface="Calibri" pitchFamily="34" charset="-122"/>
                <a:cs typeface="Calibri" pitchFamily="34" charset="-120"/>
              </a:rPr>
              <a:t>Cycle CRISP-DM</a:t>
            </a:r>
            <a:endParaRPr lang="en-US" sz="1300" dirty="0"/>
          </a:p>
        </p:txBody>
      </p:sp>
      <p:sp>
        <p:nvSpPr>
          <p:cNvPr id="12" name="Shape 8"/>
          <p:cNvSpPr/>
          <p:nvPr/>
        </p:nvSpPr>
        <p:spPr>
          <a:xfrm>
            <a:off x="3931920" y="2011680"/>
            <a:ext cx="3767328" cy="1938528"/>
          </a:xfrm>
          <a:prstGeom prst="roundRect">
            <a:avLst>
              <a:gd name="adj" fmla="val 5660"/>
            </a:avLst>
          </a:prstGeom>
          <a:solidFill>
            <a:srgbClr val="EEF5FB"/>
          </a:solidFill>
          <a:ln w="12700">
            <a:solidFill>
              <a:srgbClr val="EEF5FB"/>
            </a:solidFill>
            <a:prstDash val="solid"/>
          </a:ln>
          <a:effectLst>
            <a:outerShdw sx="100000" sy="100000" kx="0" ky="0" algn="bl" rotWithShape="0" blurRad="101600" dist="25400" dir="5400000">
              <a:srgbClr val="0A2540">
                <a:alpha val="12000"/>
              </a:srgbClr>
            </a:outerShdw>
          </a:effectLst>
        </p:spPr>
      </p:sp>
      <p:sp>
        <p:nvSpPr>
          <p:cNvPr id="13" name="Text 9"/>
          <p:cNvSpPr txBox="1"/>
          <p:nvPr/>
        </p:nvSpPr>
        <p:spPr>
          <a:xfrm>
            <a:off x="4160520" y="2194560"/>
            <a:ext cx="3291840" cy="274320"/>
          </a:xfrm>
          <a:prstGeom prst="rect">
            <a:avLst/>
          </a:prstGeom>
          <a:noFill/>
          <a:ln/>
        </p:spPr>
        <p:txBody>
          <a:bodyPr wrap="square" lIns="0" tIns="0" rIns="0" bIns="0" rtlCol="0" anchor="t"/>
          <a:lstStyle/>
          <a:p>
            <a:pPr indent="0" marL="0">
              <a:buNone/>
            </a:pPr>
            <a:r>
              <a:rPr lang="en-US" sz="1200" b="1" spc="200" kern="0" dirty="0">
                <a:solidFill>
                  <a:srgbClr val="F39200"/>
                </a:solidFill>
                <a:latin typeface="Calibri" pitchFamily="34" charset="0"/>
                <a:ea typeface="Calibri" pitchFamily="34" charset="-122"/>
                <a:cs typeface="Calibri" pitchFamily="34" charset="-120"/>
              </a:rPr>
              <a:t>SPRINT 1</a:t>
            </a:r>
            <a:endParaRPr lang="en-US" sz="1200" dirty="0"/>
          </a:p>
        </p:txBody>
      </p:sp>
      <p:sp>
        <p:nvSpPr>
          <p:cNvPr id="14" name="Text 10"/>
          <p:cNvSpPr txBox="1"/>
          <p:nvPr/>
        </p:nvSpPr>
        <p:spPr>
          <a:xfrm>
            <a:off x="4160520" y="2514600"/>
            <a:ext cx="3291840" cy="502920"/>
          </a:xfrm>
          <a:prstGeom prst="rect">
            <a:avLst/>
          </a:prstGeom>
          <a:noFill/>
          <a:ln/>
        </p:spPr>
        <p:txBody>
          <a:bodyPr wrap="square" lIns="0" tIns="0" rIns="0" bIns="0" rtlCol="0" anchor="t"/>
          <a:lstStyle/>
          <a:p>
            <a:pPr indent="0" marL="0">
              <a:buNone/>
            </a:pPr>
            <a:r>
              <a:rPr lang="en-US" sz="1900" b="1" dirty="0">
                <a:solidFill>
                  <a:srgbClr val="0A4A8C"/>
                </a:solidFill>
                <a:latin typeface="Cambria" pitchFamily="34" charset="0"/>
                <a:ea typeface="Cambria" pitchFamily="34" charset="-122"/>
                <a:cs typeface="Cambria" pitchFamily="34" charset="-120"/>
              </a:rPr>
              <a:t>Des données fiables</a:t>
            </a:r>
            <a:endParaRPr lang="en-US" sz="1900" dirty="0"/>
          </a:p>
        </p:txBody>
      </p:sp>
      <p:sp>
        <p:nvSpPr>
          <p:cNvPr id="15" name="Text 11"/>
          <p:cNvSpPr txBox="1"/>
          <p:nvPr/>
        </p:nvSpPr>
        <p:spPr>
          <a:xfrm>
            <a:off x="4160520" y="3063240"/>
            <a:ext cx="3291840" cy="731520"/>
          </a:xfrm>
          <a:prstGeom prst="rect">
            <a:avLst/>
          </a:prstGeom>
          <a:noFill/>
          <a:ln/>
        </p:spPr>
        <p:txBody>
          <a:bodyPr wrap="square" lIns="0" tIns="0" rIns="0" bIns="0" rtlCol="0" anchor="t"/>
          <a:lstStyle/>
          <a:p>
            <a:pPr indent="0" marL="0">
              <a:buNone/>
            </a:pPr>
            <a:r>
              <a:rPr lang="en-US" sz="1400" dirty="0">
                <a:solidFill>
                  <a:srgbClr val="5B6B7F"/>
                </a:solidFill>
                <a:latin typeface="Calibri" pitchFamily="34" charset="0"/>
                <a:ea typeface="Calibri" pitchFamily="34" charset="-122"/>
                <a:cs typeface="Calibri" pitchFamily="34" charset="-120"/>
              </a:rPr>
              <a:t>Nettoyage, enrichissement, profils clients</a:t>
            </a:r>
            <a:endParaRPr lang="en-US" sz="1400" dirty="0"/>
          </a:p>
        </p:txBody>
      </p:sp>
      <p:sp>
        <p:nvSpPr>
          <p:cNvPr id="16" name="Shape 12"/>
          <p:cNvSpPr/>
          <p:nvPr/>
        </p:nvSpPr>
        <p:spPr>
          <a:xfrm>
            <a:off x="7827264" y="2011680"/>
            <a:ext cx="3767328" cy="1938528"/>
          </a:xfrm>
          <a:prstGeom prst="roundRect">
            <a:avLst>
              <a:gd name="adj" fmla="val 5660"/>
            </a:avLst>
          </a:prstGeom>
          <a:solidFill>
            <a:srgbClr val="FEF6E4"/>
          </a:solidFill>
          <a:ln w="12700">
            <a:solidFill>
              <a:srgbClr val="FEF6E4"/>
            </a:solidFill>
            <a:prstDash val="solid"/>
          </a:ln>
          <a:effectLst>
            <a:outerShdw sx="100000" sy="100000" kx="0" ky="0" algn="bl" rotWithShape="0" blurRad="101600" dist="25400" dir="5400000">
              <a:srgbClr val="0A2540">
                <a:alpha val="12000"/>
              </a:srgbClr>
            </a:outerShdw>
          </a:effectLst>
        </p:spPr>
      </p:sp>
      <p:sp>
        <p:nvSpPr>
          <p:cNvPr id="17" name="Text 13"/>
          <p:cNvSpPr txBox="1"/>
          <p:nvPr/>
        </p:nvSpPr>
        <p:spPr>
          <a:xfrm>
            <a:off x="8055864" y="2194560"/>
            <a:ext cx="3291840" cy="274320"/>
          </a:xfrm>
          <a:prstGeom prst="rect">
            <a:avLst/>
          </a:prstGeom>
          <a:noFill/>
          <a:ln/>
        </p:spPr>
        <p:txBody>
          <a:bodyPr wrap="square" lIns="0" tIns="0" rIns="0" bIns="0" rtlCol="0" anchor="t"/>
          <a:lstStyle/>
          <a:p>
            <a:pPr indent="0" marL="0">
              <a:buNone/>
            </a:pPr>
            <a:r>
              <a:rPr lang="en-US" sz="1200" b="1" spc="200" kern="0" dirty="0">
                <a:solidFill>
                  <a:srgbClr val="F39200"/>
                </a:solidFill>
                <a:latin typeface="Calibri" pitchFamily="34" charset="0"/>
                <a:ea typeface="Calibri" pitchFamily="34" charset="-122"/>
                <a:cs typeface="Calibri" pitchFamily="34" charset="-120"/>
              </a:rPr>
              <a:t>SPRINT 2</a:t>
            </a:r>
            <a:endParaRPr lang="en-US" sz="1200" dirty="0"/>
          </a:p>
        </p:txBody>
      </p:sp>
      <p:sp>
        <p:nvSpPr>
          <p:cNvPr id="18" name="Text 14"/>
          <p:cNvSpPr txBox="1"/>
          <p:nvPr/>
        </p:nvSpPr>
        <p:spPr>
          <a:xfrm>
            <a:off x="8055864" y="2514600"/>
            <a:ext cx="3291840" cy="502920"/>
          </a:xfrm>
          <a:prstGeom prst="rect">
            <a:avLst/>
          </a:prstGeom>
          <a:noFill/>
          <a:ln/>
        </p:spPr>
        <p:txBody>
          <a:bodyPr wrap="square" lIns="0" tIns="0" rIns="0" bIns="0" rtlCol="0" anchor="t"/>
          <a:lstStyle/>
          <a:p>
            <a:pPr indent="0" marL="0">
              <a:buNone/>
            </a:pPr>
            <a:r>
              <a:rPr lang="en-US" sz="1900" b="1" dirty="0">
                <a:solidFill>
                  <a:srgbClr val="0A4A8C"/>
                </a:solidFill>
                <a:latin typeface="Cambria" pitchFamily="34" charset="0"/>
                <a:ea typeface="Cambria" pitchFamily="34" charset="-122"/>
                <a:cs typeface="Cambria" pitchFamily="34" charset="-120"/>
              </a:rPr>
              <a:t>Des tableaux de bord</a:t>
            </a:r>
            <a:endParaRPr lang="en-US" sz="1900" dirty="0"/>
          </a:p>
        </p:txBody>
      </p:sp>
      <p:sp>
        <p:nvSpPr>
          <p:cNvPr id="19" name="Text 15"/>
          <p:cNvSpPr txBox="1"/>
          <p:nvPr/>
        </p:nvSpPr>
        <p:spPr>
          <a:xfrm>
            <a:off x="8055864" y="3063240"/>
            <a:ext cx="3291840" cy="731520"/>
          </a:xfrm>
          <a:prstGeom prst="rect">
            <a:avLst/>
          </a:prstGeom>
          <a:noFill/>
          <a:ln/>
        </p:spPr>
        <p:txBody>
          <a:bodyPr wrap="square" lIns="0" tIns="0" rIns="0" bIns="0" rtlCol="0" anchor="t"/>
          <a:lstStyle/>
          <a:p>
            <a:pPr indent="0" marL="0">
              <a:buNone/>
            </a:pPr>
            <a:r>
              <a:rPr lang="en-US" sz="1400" dirty="0">
                <a:solidFill>
                  <a:srgbClr val="5B6B7F"/>
                </a:solidFill>
                <a:latin typeface="Calibri" pitchFamily="34" charset="0"/>
                <a:ea typeface="Calibri" pitchFamily="34" charset="-122"/>
                <a:cs typeface="Calibri" pitchFamily="34" charset="-120"/>
              </a:rPr>
              <a:t>Modèle en étoile et rapport Power BI</a:t>
            </a:r>
            <a:endParaRPr lang="en-US" sz="1400" dirty="0"/>
          </a:p>
        </p:txBody>
      </p:sp>
      <p:sp>
        <p:nvSpPr>
          <p:cNvPr id="20" name="Shape 16"/>
          <p:cNvSpPr/>
          <p:nvPr/>
        </p:nvSpPr>
        <p:spPr>
          <a:xfrm>
            <a:off x="3931920" y="4114800"/>
            <a:ext cx="3767328" cy="1938528"/>
          </a:xfrm>
          <a:prstGeom prst="roundRect">
            <a:avLst>
              <a:gd name="adj" fmla="val 5660"/>
            </a:avLst>
          </a:prstGeom>
          <a:solidFill>
            <a:srgbClr val="FEF6E4"/>
          </a:solidFill>
          <a:ln w="12700">
            <a:solidFill>
              <a:srgbClr val="FEF6E4"/>
            </a:solidFill>
            <a:prstDash val="solid"/>
          </a:ln>
          <a:effectLst>
            <a:outerShdw sx="100000" sy="100000" kx="0" ky="0" algn="bl" rotWithShape="0" blurRad="101600" dist="25400" dir="5400000">
              <a:srgbClr val="0A2540">
                <a:alpha val="12000"/>
              </a:srgbClr>
            </a:outerShdw>
          </a:effectLst>
        </p:spPr>
      </p:sp>
      <p:sp>
        <p:nvSpPr>
          <p:cNvPr id="21" name="Text 17"/>
          <p:cNvSpPr txBox="1"/>
          <p:nvPr/>
        </p:nvSpPr>
        <p:spPr>
          <a:xfrm>
            <a:off x="4160520" y="4297680"/>
            <a:ext cx="3291840" cy="274320"/>
          </a:xfrm>
          <a:prstGeom prst="rect">
            <a:avLst/>
          </a:prstGeom>
          <a:noFill/>
          <a:ln/>
        </p:spPr>
        <p:txBody>
          <a:bodyPr wrap="square" lIns="0" tIns="0" rIns="0" bIns="0" rtlCol="0" anchor="t"/>
          <a:lstStyle/>
          <a:p>
            <a:pPr indent="0" marL="0">
              <a:buNone/>
            </a:pPr>
            <a:r>
              <a:rPr lang="en-US" sz="1200" b="1" spc="200" kern="0" dirty="0">
                <a:solidFill>
                  <a:srgbClr val="F39200"/>
                </a:solidFill>
                <a:latin typeface="Calibri" pitchFamily="34" charset="0"/>
                <a:ea typeface="Calibri" pitchFamily="34" charset="-122"/>
                <a:cs typeface="Calibri" pitchFamily="34" charset="-120"/>
              </a:rPr>
              <a:t>SPRINT 3</a:t>
            </a:r>
            <a:endParaRPr lang="en-US" sz="1200" dirty="0"/>
          </a:p>
        </p:txBody>
      </p:sp>
      <p:sp>
        <p:nvSpPr>
          <p:cNvPr id="22" name="Text 18"/>
          <p:cNvSpPr txBox="1"/>
          <p:nvPr/>
        </p:nvSpPr>
        <p:spPr>
          <a:xfrm>
            <a:off x="4160520" y="4617720"/>
            <a:ext cx="3291840" cy="502920"/>
          </a:xfrm>
          <a:prstGeom prst="rect">
            <a:avLst/>
          </a:prstGeom>
          <a:noFill/>
          <a:ln/>
        </p:spPr>
        <p:txBody>
          <a:bodyPr wrap="square" lIns="0" tIns="0" rIns="0" bIns="0" rtlCol="0" anchor="t"/>
          <a:lstStyle/>
          <a:p>
            <a:pPr indent="0" marL="0">
              <a:buNone/>
            </a:pPr>
            <a:r>
              <a:rPr lang="en-US" sz="1900" b="1" dirty="0">
                <a:solidFill>
                  <a:srgbClr val="0A4A8C"/>
                </a:solidFill>
                <a:latin typeface="Cambria" pitchFamily="34" charset="0"/>
                <a:ea typeface="Cambria" pitchFamily="34" charset="-122"/>
                <a:cs typeface="Cambria" pitchFamily="34" charset="-120"/>
              </a:rPr>
              <a:t>Un moteur intelligent</a:t>
            </a:r>
            <a:endParaRPr lang="en-US" sz="1900" dirty="0"/>
          </a:p>
        </p:txBody>
      </p:sp>
      <p:sp>
        <p:nvSpPr>
          <p:cNvPr id="23" name="Text 19"/>
          <p:cNvSpPr txBox="1"/>
          <p:nvPr/>
        </p:nvSpPr>
        <p:spPr>
          <a:xfrm>
            <a:off x="4160520" y="5166360"/>
            <a:ext cx="3291840" cy="731520"/>
          </a:xfrm>
          <a:prstGeom prst="rect">
            <a:avLst/>
          </a:prstGeom>
          <a:noFill/>
          <a:ln/>
        </p:spPr>
        <p:txBody>
          <a:bodyPr wrap="square" lIns="0" tIns="0" rIns="0" bIns="0" rtlCol="0" anchor="t"/>
          <a:lstStyle/>
          <a:p>
            <a:pPr indent="0" marL="0">
              <a:buNone/>
            </a:pPr>
            <a:r>
              <a:rPr lang="en-US" sz="1400" dirty="0">
                <a:solidFill>
                  <a:srgbClr val="5B6B7F"/>
                </a:solidFill>
                <a:latin typeface="Calibri" pitchFamily="34" charset="0"/>
                <a:ea typeface="Calibri" pitchFamily="34" charset="-122"/>
                <a:cs typeface="Calibri" pitchFamily="34" charset="-120"/>
              </a:rPr>
              <a:t>Sept variantes comparées, la meilleure retenue</a:t>
            </a:r>
            <a:endParaRPr lang="en-US" sz="1400" dirty="0"/>
          </a:p>
        </p:txBody>
      </p:sp>
      <p:sp>
        <p:nvSpPr>
          <p:cNvPr id="24" name="Shape 20"/>
          <p:cNvSpPr/>
          <p:nvPr/>
        </p:nvSpPr>
        <p:spPr>
          <a:xfrm>
            <a:off x="7827264" y="4114800"/>
            <a:ext cx="3767328" cy="1938528"/>
          </a:xfrm>
          <a:prstGeom prst="roundRect">
            <a:avLst>
              <a:gd name="adj" fmla="val 5660"/>
            </a:avLst>
          </a:prstGeom>
          <a:solidFill>
            <a:srgbClr val="EEF5FB"/>
          </a:solidFill>
          <a:ln w="12700">
            <a:solidFill>
              <a:srgbClr val="EEF5FB"/>
            </a:solidFill>
            <a:prstDash val="solid"/>
          </a:ln>
          <a:effectLst>
            <a:outerShdw sx="100000" sy="100000" kx="0" ky="0" algn="bl" rotWithShape="0" blurRad="101600" dist="25400" dir="5400000">
              <a:srgbClr val="0A2540">
                <a:alpha val="12000"/>
              </a:srgbClr>
            </a:outerShdw>
          </a:effectLst>
        </p:spPr>
      </p:sp>
      <p:sp>
        <p:nvSpPr>
          <p:cNvPr id="25" name="Text 21"/>
          <p:cNvSpPr txBox="1"/>
          <p:nvPr/>
        </p:nvSpPr>
        <p:spPr>
          <a:xfrm>
            <a:off x="8055864" y="4297680"/>
            <a:ext cx="3291840" cy="274320"/>
          </a:xfrm>
          <a:prstGeom prst="rect">
            <a:avLst/>
          </a:prstGeom>
          <a:noFill/>
          <a:ln/>
        </p:spPr>
        <p:txBody>
          <a:bodyPr wrap="square" lIns="0" tIns="0" rIns="0" bIns="0" rtlCol="0" anchor="t"/>
          <a:lstStyle/>
          <a:p>
            <a:pPr indent="0" marL="0">
              <a:buNone/>
            </a:pPr>
            <a:r>
              <a:rPr lang="en-US" sz="1200" b="1" spc="200" kern="0" dirty="0">
                <a:solidFill>
                  <a:srgbClr val="F39200"/>
                </a:solidFill>
                <a:latin typeface="Calibri" pitchFamily="34" charset="0"/>
                <a:ea typeface="Calibri" pitchFamily="34" charset="-122"/>
                <a:cs typeface="Calibri" pitchFamily="34" charset="-120"/>
              </a:rPr>
              <a:t>SPRINT 4</a:t>
            </a:r>
            <a:endParaRPr lang="en-US" sz="1200" dirty="0"/>
          </a:p>
        </p:txBody>
      </p:sp>
      <p:sp>
        <p:nvSpPr>
          <p:cNvPr id="26" name="Text 22"/>
          <p:cNvSpPr txBox="1"/>
          <p:nvPr/>
        </p:nvSpPr>
        <p:spPr>
          <a:xfrm>
            <a:off x="8055864" y="4617720"/>
            <a:ext cx="3291840" cy="502920"/>
          </a:xfrm>
          <a:prstGeom prst="rect">
            <a:avLst/>
          </a:prstGeom>
          <a:noFill/>
          <a:ln/>
        </p:spPr>
        <p:txBody>
          <a:bodyPr wrap="square" lIns="0" tIns="0" rIns="0" bIns="0" rtlCol="0" anchor="t"/>
          <a:lstStyle/>
          <a:p>
            <a:pPr indent="0" marL="0">
              <a:buNone/>
            </a:pPr>
            <a:r>
              <a:rPr lang="en-US" sz="1900" b="1" dirty="0">
                <a:solidFill>
                  <a:srgbClr val="0A4A8C"/>
                </a:solidFill>
                <a:latin typeface="Cambria" pitchFamily="34" charset="0"/>
                <a:ea typeface="Cambria" pitchFamily="34" charset="-122"/>
                <a:cs typeface="Cambria" pitchFamily="34" charset="-120"/>
              </a:rPr>
              <a:t>Une application</a:t>
            </a:r>
            <a:endParaRPr lang="en-US" sz="1900" dirty="0"/>
          </a:p>
        </p:txBody>
      </p:sp>
      <p:sp>
        <p:nvSpPr>
          <p:cNvPr id="27" name="Text 23"/>
          <p:cNvSpPr txBox="1"/>
          <p:nvPr/>
        </p:nvSpPr>
        <p:spPr>
          <a:xfrm>
            <a:off x="8055864" y="5166360"/>
            <a:ext cx="3291840" cy="731520"/>
          </a:xfrm>
          <a:prstGeom prst="rect">
            <a:avLst/>
          </a:prstGeom>
          <a:noFill/>
          <a:ln/>
        </p:spPr>
        <p:txBody>
          <a:bodyPr wrap="square" lIns="0" tIns="0" rIns="0" bIns="0" rtlCol="0" anchor="t"/>
          <a:lstStyle/>
          <a:p>
            <a:pPr indent="0" marL="0">
              <a:buNone/>
            </a:pPr>
            <a:r>
              <a:rPr lang="en-US" sz="1400" dirty="0">
                <a:solidFill>
                  <a:srgbClr val="5B6B7F"/>
                </a:solidFill>
                <a:latin typeface="Calibri" pitchFamily="34" charset="0"/>
                <a:ea typeface="Calibri" pitchFamily="34" charset="-122"/>
                <a:cs typeface="Calibri" pitchFamily="34" charset="-120"/>
              </a:rPr>
              <a:t>TravelBI, livrée en exécutable Windows</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772400" cy="274320"/>
          </a:xfrm>
          <a:prstGeom prst="rect">
            <a:avLst/>
          </a:prstGeom>
          <a:noFill/>
          <a:ln/>
        </p:spPr>
        <p:txBody>
          <a:bodyPr wrap="square" lIns="0" tIns="0" rIns="0" bIns="0" rtlCol="0" anchor="t"/>
          <a:lstStyle/>
          <a:p>
            <a:pPr indent="0" marL="0">
              <a:buNone/>
            </a:pPr>
            <a:r>
              <a:rPr lang="en-US" sz="1100" b="1" spc="200" kern="0" dirty="0">
                <a:solidFill>
                  <a:srgbClr val="F39200"/>
                </a:solidFill>
                <a:latin typeface="Calibri" pitchFamily="34" charset="0"/>
                <a:ea typeface="Calibri" pitchFamily="34" charset="-122"/>
                <a:cs typeface="Calibri" pitchFamily="34" charset="-120"/>
              </a:rPr>
              <a:t>RÉALISATION</a:t>
            </a:r>
            <a:endParaRPr lang="en-US" sz="1100" dirty="0"/>
          </a:p>
        </p:txBody>
      </p:sp>
      <p:sp>
        <p:nvSpPr>
          <p:cNvPr id="3" name="Text 1"/>
          <p:cNvSpPr txBox="1"/>
          <p:nvPr/>
        </p:nvSpPr>
        <p:spPr>
          <a:xfrm>
            <a:off x="548640" y="603504"/>
            <a:ext cx="9326880" cy="685800"/>
          </a:xfrm>
          <a:prstGeom prst="rect">
            <a:avLst/>
          </a:prstGeom>
          <a:noFill/>
          <a:ln/>
        </p:spPr>
        <p:txBody>
          <a:bodyPr wrap="square" lIns="0" tIns="0" rIns="0" bIns="0" rtlCol="0" anchor="ctr"/>
          <a:lstStyle/>
          <a:p>
            <a:pPr indent="0" marL="0">
              <a:buNone/>
            </a:pPr>
            <a:r>
              <a:rPr lang="en-US" sz="3000" b="1" dirty="0">
                <a:solidFill>
                  <a:srgbClr val="0A4A8C"/>
                </a:solidFill>
                <a:latin typeface="Cambria" pitchFamily="34" charset="0"/>
                <a:ea typeface="Cambria" pitchFamily="34" charset="-122"/>
                <a:cs typeface="Cambria" pitchFamily="34" charset="-120"/>
              </a:rPr>
              <a:t>Technologies utilisées</a:t>
            </a:r>
            <a:endParaRPr lang="en-US" sz="3000" dirty="0"/>
          </a:p>
        </p:txBody>
      </p:sp>
      <p:pic>
        <p:nvPicPr>
          <p:cNvPr id="4" name="Image 0" descr="assets/logo_sunny.png">    </p:cNvPr>
          <p:cNvPicPr>
            <a:picLocks noChangeAspect="1"/>
          </p:cNvPicPr>
          <p:nvPr/>
        </p:nvPicPr>
        <p:blipFill>
          <a:blip r:embed="rId1"/>
          <a:stretch>
            <a:fillRect/>
          </a:stretch>
        </p:blipFill>
        <p:spPr>
          <a:xfrm>
            <a:off x="10012680" y="481366"/>
            <a:ext cx="1691640" cy="372291"/>
          </a:xfrm>
          <a:prstGeom prst="rect">
            <a:avLst/>
          </a:prstGeom>
        </p:spPr>
      </p:pic>
      <p:sp>
        <p:nvSpPr>
          <p:cNvPr id="5" name="Text 2"/>
          <p:cNvSpPr txBox="1"/>
          <p:nvPr/>
        </p:nvSpPr>
        <p:spPr>
          <a:xfrm>
            <a:off x="548640" y="6428232"/>
            <a:ext cx="7315200" cy="228600"/>
          </a:xfrm>
          <a:prstGeom prst="rect">
            <a:avLst/>
          </a:prstGeom>
          <a:noFill/>
          <a:ln/>
        </p:spPr>
        <p:txBody>
          <a:bodyPr wrap="square" lIns="0" tIns="0" rIns="0" bIns="0" rtlCol="0" anchor="t"/>
          <a:lstStyle/>
          <a:p>
            <a:pPr indent="0" marL="0">
              <a:buNone/>
            </a:pPr>
            <a:r>
              <a:rPr lang="en-US" sz="900" dirty="0">
                <a:solidFill>
                  <a:srgbClr val="5B6B7F"/>
                </a:solidFill>
                <a:latin typeface="Calibri" pitchFamily="34" charset="0"/>
                <a:ea typeface="Calibri" pitchFamily="34" charset="-122"/>
                <a:cs typeface="Calibri" pitchFamily="34" charset="-120"/>
              </a:rPr>
              <a:t>Ranim Nabi  ·  PFE ESPRIT 2025-2026  ·  2 Go Sunny Tunisia Trip</a:t>
            </a:r>
            <a:endParaRPr lang="en-US" sz="900" dirty="0"/>
          </a:p>
        </p:txBody>
      </p:sp>
      <p:sp>
        <p:nvSpPr>
          <p:cNvPr id="6" name="Shape 3"/>
          <p:cNvSpPr/>
          <p:nvPr/>
        </p:nvSpPr>
        <p:spPr>
          <a:xfrm>
            <a:off x="11320272" y="6364224"/>
            <a:ext cx="347472" cy="347472"/>
          </a:xfrm>
          <a:prstGeom prst="ellipse">
            <a:avLst/>
          </a:prstGeom>
          <a:solidFill>
            <a:srgbClr val="F39200"/>
          </a:solidFill>
          <a:ln w="12700">
            <a:solidFill>
              <a:srgbClr val="F39200"/>
            </a:solidFill>
            <a:prstDash val="solid"/>
          </a:ln>
        </p:spPr>
      </p:sp>
      <p:sp>
        <p:nvSpPr>
          <p:cNvPr id="7" name="Text 4"/>
          <p:cNvSpPr txBox="1"/>
          <p:nvPr/>
        </p:nvSpPr>
        <p:spPr>
          <a:xfrm>
            <a:off x="11320272" y="6364224"/>
            <a:ext cx="347472"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14</a:t>
            </a:r>
            <a:endParaRPr lang="en-US" sz="1000" dirty="0"/>
          </a:p>
        </p:txBody>
      </p:sp>
      <p:sp>
        <p:nvSpPr>
          <p:cNvPr id="8" name="Shape 5"/>
          <p:cNvSpPr/>
          <p:nvPr/>
        </p:nvSpPr>
        <p:spPr>
          <a:xfrm>
            <a:off x="548640" y="1600200"/>
            <a:ext cx="2606040" cy="4343400"/>
          </a:xfrm>
          <a:prstGeom prst="roundRect">
            <a:avLst>
              <a:gd name="adj" fmla="val 4211"/>
            </a:avLst>
          </a:prstGeom>
          <a:solidFill>
            <a:srgbClr val="EEF5FB"/>
          </a:solidFill>
          <a:ln w="12700">
            <a:solidFill>
              <a:srgbClr val="EEF5FB"/>
            </a:solidFill>
            <a:prstDash val="solid"/>
          </a:ln>
          <a:effectLst>
            <a:outerShdw sx="100000" sy="100000" kx="0" ky="0" algn="bl" rotWithShape="0" blurRad="101600" dist="25400" dir="5400000">
              <a:srgbClr val="0A2540">
                <a:alpha val="12000"/>
              </a:srgbClr>
            </a:outerShdw>
          </a:effectLst>
        </p:spPr>
      </p:sp>
      <p:sp>
        <p:nvSpPr>
          <p:cNvPr id="9" name="Shape 6"/>
          <p:cNvSpPr/>
          <p:nvPr/>
        </p:nvSpPr>
        <p:spPr>
          <a:xfrm>
            <a:off x="1399032" y="1874520"/>
            <a:ext cx="914400" cy="914400"/>
          </a:xfrm>
          <a:prstGeom prst="ellipse">
            <a:avLst/>
          </a:prstGeom>
          <a:solidFill>
            <a:srgbClr val="0A4A8C"/>
          </a:solidFill>
          <a:ln w="12700">
            <a:solidFill>
              <a:srgbClr val="0A4A8C"/>
            </a:solidFill>
            <a:prstDash val="solid"/>
          </a:ln>
        </p:spPr>
      </p:sp>
      <p:pic>
        <p:nvPicPr>
          <p:cNvPr id="10" name="Image 1" descr="preencoded.png">    </p:cNvPr>
          <p:cNvPicPr>
            <a:picLocks noChangeAspect="1"/>
          </p:cNvPicPr>
          <p:nvPr/>
        </p:nvPicPr>
        <p:blipFill>
          <a:blip r:embed="rId2"/>
          <a:stretch>
            <a:fillRect/>
          </a:stretch>
        </p:blipFill>
        <p:spPr>
          <a:xfrm>
            <a:off x="1636776" y="2112264"/>
            <a:ext cx="438912" cy="438912"/>
          </a:xfrm>
          <a:prstGeom prst="rect">
            <a:avLst/>
          </a:prstGeom>
        </p:spPr>
      </p:pic>
      <p:sp>
        <p:nvSpPr>
          <p:cNvPr id="11" name="Text 7"/>
          <p:cNvSpPr txBox="1"/>
          <p:nvPr/>
        </p:nvSpPr>
        <p:spPr>
          <a:xfrm>
            <a:off x="731520" y="2926080"/>
            <a:ext cx="2240280" cy="594360"/>
          </a:xfrm>
          <a:prstGeom prst="rect">
            <a:avLst/>
          </a:prstGeom>
          <a:noFill/>
          <a:ln/>
        </p:spPr>
        <p:txBody>
          <a:bodyPr wrap="square" lIns="0" tIns="0" rIns="0" bIns="0" rtlCol="0" anchor="ctr"/>
          <a:lstStyle/>
          <a:p>
            <a:pPr algn="ctr" indent="0" marL="0">
              <a:buNone/>
            </a:pPr>
            <a:r>
              <a:rPr lang="en-US" sz="1900" b="1" dirty="0">
                <a:solidFill>
                  <a:srgbClr val="0A4A8C"/>
                </a:solidFill>
                <a:latin typeface="Cambria" pitchFamily="34" charset="0"/>
                <a:ea typeface="Cambria" pitchFamily="34" charset="-122"/>
                <a:cs typeface="Cambria" pitchFamily="34" charset="-120"/>
              </a:rPr>
              <a:t>Données</a:t>
            </a:r>
            <a:endParaRPr lang="en-US" sz="1900" dirty="0"/>
          </a:p>
        </p:txBody>
      </p:sp>
      <p:sp>
        <p:nvSpPr>
          <p:cNvPr id="12" name="Shape 8"/>
          <p:cNvSpPr/>
          <p:nvPr/>
        </p:nvSpPr>
        <p:spPr>
          <a:xfrm>
            <a:off x="822960" y="3703320"/>
            <a:ext cx="2057400" cy="475488"/>
          </a:xfrm>
          <a:prstGeom prst="roundRect">
            <a:avLst>
              <a:gd name="adj" fmla="val 42308"/>
            </a:avLst>
          </a:prstGeom>
          <a:solidFill>
            <a:srgbClr val="FFFFFF"/>
          </a:solidFill>
          <a:ln w="12700">
            <a:solidFill>
              <a:srgbClr val="D5E3F0"/>
            </a:solidFill>
            <a:prstDash val="solid"/>
          </a:ln>
        </p:spPr>
      </p:sp>
      <p:sp>
        <p:nvSpPr>
          <p:cNvPr id="13" name="Text 9"/>
          <p:cNvSpPr txBox="1"/>
          <p:nvPr/>
        </p:nvSpPr>
        <p:spPr>
          <a:xfrm>
            <a:off x="822960" y="3703320"/>
            <a:ext cx="2057400" cy="475488"/>
          </a:xfrm>
          <a:prstGeom prst="rect">
            <a:avLst/>
          </a:prstGeom>
          <a:noFill/>
          <a:ln/>
        </p:spPr>
        <p:txBody>
          <a:bodyPr wrap="square" lIns="0" tIns="0" rIns="0" bIns="0" rtlCol="0" anchor="ctr"/>
          <a:lstStyle/>
          <a:p>
            <a:pPr algn="ctr" indent="0" marL="0">
              <a:buNone/>
            </a:pPr>
            <a:r>
              <a:rPr lang="en-US" sz="1300" dirty="0">
                <a:solidFill>
                  <a:srgbClr val="1B2A3A"/>
                </a:solidFill>
                <a:latin typeface="Calibri" pitchFamily="34" charset="0"/>
                <a:ea typeface="Calibri" pitchFamily="34" charset="-122"/>
                <a:cs typeface="Calibri" pitchFamily="34" charset="-120"/>
              </a:rPr>
              <a:t>Python</a:t>
            </a:r>
            <a:endParaRPr lang="en-US" sz="1300" dirty="0"/>
          </a:p>
        </p:txBody>
      </p:sp>
      <p:sp>
        <p:nvSpPr>
          <p:cNvPr id="14" name="Shape 10"/>
          <p:cNvSpPr/>
          <p:nvPr/>
        </p:nvSpPr>
        <p:spPr>
          <a:xfrm>
            <a:off x="822960" y="4361688"/>
            <a:ext cx="2057400" cy="475488"/>
          </a:xfrm>
          <a:prstGeom prst="roundRect">
            <a:avLst>
              <a:gd name="adj" fmla="val 42308"/>
            </a:avLst>
          </a:prstGeom>
          <a:solidFill>
            <a:srgbClr val="FFFFFF"/>
          </a:solidFill>
          <a:ln w="12700">
            <a:solidFill>
              <a:srgbClr val="D5E3F0"/>
            </a:solidFill>
            <a:prstDash val="solid"/>
          </a:ln>
        </p:spPr>
      </p:sp>
      <p:sp>
        <p:nvSpPr>
          <p:cNvPr id="15" name="Text 11"/>
          <p:cNvSpPr txBox="1"/>
          <p:nvPr/>
        </p:nvSpPr>
        <p:spPr>
          <a:xfrm>
            <a:off x="822960" y="4361688"/>
            <a:ext cx="2057400" cy="475488"/>
          </a:xfrm>
          <a:prstGeom prst="rect">
            <a:avLst/>
          </a:prstGeom>
          <a:noFill/>
          <a:ln/>
        </p:spPr>
        <p:txBody>
          <a:bodyPr wrap="square" lIns="0" tIns="0" rIns="0" bIns="0" rtlCol="0" anchor="ctr"/>
          <a:lstStyle/>
          <a:p>
            <a:pPr algn="ctr" indent="0" marL="0">
              <a:buNone/>
            </a:pPr>
            <a:r>
              <a:rPr lang="en-US" sz="1300" dirty="0">
                <a:solidFill>
                  <a:srgbClr val="1B2A3A"/>
                </a:solidFill>
                <a:latin typeface="Calibri" pitchFamily="34" charset="0"/>
                <a:ea typeface="Calibri" pitchFamily="34" charset="-122"/>
                <a:cs typeface="Calibri" pitchFamily="34" charset="-120"/>
              </a:rPr>
              <a:t>pandas · NumPy</a:t>
            </a:r>
            <a:endParaRPr lang="en-US" sz="1300" dirty="0"/>
          </a:p>
        </p:txBody>
      </p:sp>
      <p:sp>
        <p:nvSpPr>
          <p:cNvPr id="16" name="Shape 12"/>
          <p:cNvSpPr/>
          <p:nvPr/>
        </p:nvSpPr>
        <p:spPr>
          <a:xfrm>
            <a:off x="822960" y="5020056"/>
            <a:ext cx="2057400" cy="475488"/>
          </a:xfrm>
          <a:prstGeom prst="roundRect">
            <a:avLst>
              <a:gd name="adj" fmla="val 42308"/>
            </a:avLst>
          </a:prstGeom>
          <a:solidFill>
            <a:srgbClr val="FFFFFF"/>
          </a:solidFill>
          <a:ln w="12700">
            <a:solidFill>
              <a:srgbClr val="D5E3F0"/>
            </a:solidFill>
            <a:prstDash val="solid"/>
          </a:ln>
        </p:spPr>
      </p:sp>
      <p:sp>
        <p:nvSpPr>
          <p:cNvPr id="17" name="Text 13"/>
          <p:cNvSpPr txBox="1"/>
          <p:nvPr/>
        </p:nvSpPr>
        <p:spPr>
          <a:xfrm>
            <a:off x="822960" y="5020056"/>
            <a:ext cx="2057400" cy="475488"/>
          </a:xfrm>
          <a:prstGeom prst="rect">
            <a:avLst/>
          </a:prstGeom>
          <a:noFill/>
          <a:ln/>
        </p:spPr>
        <p:txBody>
          <a:bodyPr wrap="square" lIns="0" tIns="0" rIns="0" bIns="0" rtlCol="0" anchor="ctr"/>
          <a:lstStyle/>
          <a:p>
            <a:pPr algn="ctr" indent="0" marL="0">
              <a:buNone/>
            </a:pPr>
            <a:r>
              <a:rPr lang="en-US" sz="1300" dirty="0">
                <a:solidFill>
                  <a:srgbClr val="1B2A3A"/>
                </a:solidFill>
                <a:latin typeface="Calibri" pitchFamily="34" charset="0"/>
                <a:ea typeface="Calibri" pitchFamily="34" charset="-122"/>
                <a:cs typeface="Calibri" pitchFamily="34" charset="-120"/>
              </a:rPr>
              <a:t>Google Colab</a:t>
            </a:r>
            <a:endParaRPr lang="en-US" sz="1300" dirty="0"/>
          </a:p>
        </p:txBody>
      </p:sp>
      <p:sp>
        <p:nvSpPr>
          <p:cNvPr id="18" name="Shape 14"/>
          <p:cNvSpPr/>
          <p:nvPr/>
        </p:nvSpPr>
        <p:spPr>
          <a:xfrm>
            <a:off x="3364992" y="1600200"/>
            <a:ext cx="2606040" cy="4343400"/>
          </a:xfrm>
          <a:prstGeom prst="roundRect">
            <a:avLst>
              <a:gd name="adj" fmla="val 4211"/>
            </a:avLst>
          </a:prstGeom>
          <a:solidFill>
            <a:srgbClr val="FEF6E4"/>
          </a:solidFill>
          <a:ln w="12700">
            <a:solidFill>
              <a:srgbClr val="FEF6E4"/>
            </a:solidFill>
            <a:prstDash val="solid"/>
          </a:ln>
          <a:effectLst>
            <a:outerShdw sx="100000" sy="100000" kx="0" ky="0" algn="bl" rotWithShape="0" blurRad="101600" dist="25400" dir="5400000">
              <a:srgbClr val="0A2540">
                <a:alpha val="12000"/>
              </a:srgbClr>
            </a:outerShdw>
          </a:effectLst>
        </p:spPr>
      </p:sp>
      <p:sp>
        <p:nvSpPr>
          <p:cNvPr id="19" name="Shape 15"/>
          <p:cNvSpPr/>
          <p:nvPr/>
        </p:nvSpPr>
        <p:spPr>
          <a:xfrm>
            <a:off x="4215384" y="1874520"/>
            <a:ext cx="914400" cy="914400"/>
          </a:xfrm>
          <a:prstGeom prst="ellipse">
            <a:avLst/>
          </a:prstGeom>
          <a:solidFill>
            <a:srgbClr val="F39200"/>
          </a:solidFill>
          <a:ln w="12700">
            <a:solidFill>
              <a:srgbClr val="F39200"/>
            </a:solidFill>
            <a:prstDash val="solid"/>
          </a:ln>
        </p:spPr>
      </p:sp>
      <p:pic>
        <p:nvPicPr>
          <p:cNvPr id="20" name="Image 2" descr="preencoded.png">    </p:cNvPr>
          <p:cNvPicPr>
            <a:picLocks noChangeAspect="1"/>
          </p:cNvPicPr>
          <p:nvPr/>
        </p:nvPicPr>
        <p:blipFill>
          <a:blip r:embed="rId3"/>
          <a:stretch>
            <a:fillRect/>
          </a:stretch>
        </p:blipFill>
        <p:spPr>
          <a:xfrm>
            <a:off x="4453128" y="2112264"/>
            <a:ext cx="438912" cy="438912"/>
          </a:xfrm>
          <a:prstGeom prst="rect">
            <a:avLst/>
          </a:prstGeom>
        </p:spPr>
      </p:pic>
      <p:sp>
        <p:nvSpPr>
          <p:cNvPr id="21" name="Text 16"/>
          <p:cNvSpPr txBox="1"/>
          <p:nvPr/>
        </p:nvSpPr>
        <p:spPr>
          <a:xfrm>
            <a:off x="3547872" y="2926080"/>
            <a:ext cx="2240280" cy="594360"/>
          </a:xfrm>
          <a:prstGeom prst="rect">
            <a:avLst/>
          </a:prstGeom>
          <a:noFill/>
          <a:ln/>
        </p:spPr>
        <p:txBody>
          <a:bodyPr wrap="square" lIns="0" tIns="0" rIns="0" bIns="0" rtlCol="0" anchor="ctr"/>
          <a:lstStyle/>
          <a:p>
            <a:pPr algn="ctr" indent="0" marL="0">
              <a:buNone/>
            </a:pPr>
            <a:r>
              <a:rPr lang="en-US" sz="1900" b="1" dirty="0">
                <a:solidFill>
                  <a:srgbClr val="0A4A8C"/>
                </a:solidFill>
                <a:latin typeface="Cambria" pitchFamily="34" charset="0"/>
                <a:ea typeface="Cambria" pitchFamily="34" charset="-122"/>
                <a:cs typeface="Cambria" pitchFamily="34" charset="-120"/>
              </a:rPr>
              <a:t>Intelligence artificielle</a:t>
            </a:r>
            <a:endParaRPr lang="en-US" sz="1900" dirty="0"/>
          </a:p>
        </p:txBody>
      </p:sp>
      <p:sp>
        <p:nvSpPr>
          <p:cNvPr id="22" name="Shape 17"/>
          <p:cNvSpPr/>
          <p:nvPr/>
        </p:nvSpPr>
        <p:spPr>
          <a:xfrm>
            <a:off x="3639312" y="3703320"/>
            <a:ext cx="2057400" cy="475488"/>
          </a:xfrm>
          <a:prstGeom prst="roundRect">
            <a:avLst>
              <a:gd name="adj" fmla="val 42308"/>
            </a:avLst>
          </a:prstGeom>
          <a:solidFill>
            <a:srgbClr val="FFFFFF"/>
          </a:solidFill>
          <a:ln w="12700">
            <a:solidFill>
              <a:srgbClr val="D5E3F0"/>
            </a:solidFill>
            <a:prstDash val="solid"/>
          </a:ln>
        </p:spPr>
      </p:sp>
      <p:sp>
        <p:nvSpPr>
          <p:cNvPr id="23" name="Text 18"/>
          <p:cNvSpPr txBox="1"/>
          <p:nvPr/>
        </p:nvSpPr>
        <p:spPr>
          <a:xfrm>
            <a:off x="3639312" y="3703320"/>
            <a:ext cx="2057400" cy="475488"/>
          </a:xfrm>
          <a:prstGeom prst="rect">
            <a:avLst/>
          </a:prstGeom>
          <a:noFill/>
          <a:ln/>
        </p:spPr>
        <p:txBody>
          <a:bodyPr wrap="square" lIns="0" tIns="0" rIns="0" bIns="0" rtlCol="0" anchor="ctr"/>
          <a:lstStyle/>
          <a:p>
            <a:pPr algn="ctr" indent="0" marL="0">
              <a:buNone/>
            </a:pPr>
            <a:r>
              <a:rPr lang="en-US" sz="1300" dirty="0">
                <a:solidFill>
                  <a:srgbClr val="1B2A3A"/>
                </a:solidFill>
                <a:latin typeface="Calibri" pitchFamily="34" charset="0"/>
                <a:ea typeface="Calibri" pitchFamily="34" charset="-122"/>
                <a:cs typeface="Calibri" pitchFamily="34" charset="-120"/>
              </a:rPr>
              <a:t>scikit-learn</a:t>
            </a:r>
            <a:endParaRPr lang="en-US" sz="1300" dirty="0"/>
          </a:p>
        </p:txBody>
      </p:sp>
      <p:sp>
        <p:nvSpPr>
          <p:cNvPr id="24" name="Shape 19"/>
          <p:cNvSpPr/>
          <p:nvPr/>
        </p:nvSpPr>
        <p:spPr>
          <a:xfrm>
            <a:off x="3639312" y="4361688"/>
            <a:ext cx="2057400" cy="475488"/>
          </a:xfrm>
          <a:prstGeom prst="roundRect">
            <a:avLst>
              <a:gd name="adj" fmla="val 42308"/>
            </a:avLst>
          </a:prstGeom>
          <a:solidFill>
            <a:srgbClr val="FFFFFF"/>
          </a:solidFill>
          <a:ln w="12700">
            <a:solidFill>
              <a:srgbClr val="D5E3F0"/>
            </a:solidFill>
            <a:prstDash val="solid"/>
          </a:ln>
        </p:spPr>
      </p:sp>
      <p:sp>
        <p:nvSpPr>
          <p:cNvPr id="25" name="Text 20"/>
          <p:cNvSpPr txBox="1"/>
          <p:nvPr/>
        </p:nvSpPr>
        <p:spPr>
          <a:xfrm>
            <a:off x="3639312" y="4361688"/>
            <a:ext cx="2057400" cy="475488"/>
          </a:xfrm>
          <a:prstGeom prst="rect">
            <a:avLst/>
          </a:prstGeom>
          <a:noFill/>
          <a:ln/>
        </p:spPr>
        <p:txBody>
          <a:bodyPr wrap="square" lIns="0" tIns="0" rIns="0" bIns="0" rtlCol="0" anchor="ctr"/>
          <a:lstStyle/>
          <a:p>
            <a:pPr algn="ctr" indent="0" marL="0">
              <a:buNone/>
            </a:pPr>
            <a:r>
              <a:rPr lang="en-US" sz="1300" dirty="0">
                <a:solidFill>
                  <a:srgbClr val="1B2A3A"/>
                </a:solidFill>
                <a:latin typeface="Calibri" pitchFamily="34" charset="0"/>
                <a:ea typeface="Calibri" pitchFamily="34" charset="-122"/>
                <a:cs typeface="Calibri" pitchFamily="34" charset="-120"/>
              </a:rPr>
              <a:t>LightGBM · XGBoost</a:t>
            </a:r>
            <a:endParaRPr lang="en-US" sz="1300" dirty="0"/>
          </a:p>
        </p:txBody>
      </p:sp>
      <p:sp>
        <p:nvSpPr>
          <p:cNvPr id="26" name="Shape 21"/>
          <p:cNvSpPr/>
          <p:nvPr/>
        </p:nvSpPr>
        <p:spPr>
          <a:xfrm>
            <a:off x="3639312" y="5020056"/>
            <a:ext cx="2057400" cy="475488"/>
          </a:xfrm>
          <a:prstGeom prst="roundRect">
            <a:avLst>
              <a:gd name="adj" fmla="val 42308"/>
            </a:avLst>
          </a:prstGeom>
          <a:solidFill>
            <a:srgbClr val="FFFFFF"/>
          </a:solidFill>
          <a:ln w="12700">
            <a:solidFill>
              <a:srgbClr val="D5E3F0"/>
            </a:solidFill>
            <a:prstDash val="solid"/>
          </a:ln>
        </p:spPr>
      </p:sp>
      <p:sp>
        <p:nvSpPr>
          <p:cNvPr id="27" name="Text 22"/>
          <p:cNvSpPr txBox="1"/>
          <p:nvPr/>
        </p:nvSpPr>
        <p:spPr>
          <a:xfrm>
            <a:off x="3639312" y="5020056"/>
            <a:ext cx="2057400" cy="475488"/>
          </a:xfrm>
          <a:prstGeom prst="rect">
            <a:avLst/>
          </a:prstGeom>
          <a:noFill/>
          <a:ln/>
        </p:spPr>
        <p:txBody>
          <a:bodyPr wrap="square" lIns="0" tIns="0" rIns="0" bIns="0" rtlCol="0" anchor="ctr"/>
          <a:lstStyle/>
          <a:p>
            <a:pPr algn="ctr" indent="0" marL="0">
              <a:buNone/>
            </a:pPr>
            <a:r>
              <a:rPr lang="en-US" sz="1300" dirty="0">
                <a:solidFill>
                  <a:srgbClr val="1B2A3A"/>
                </a:solidFill>
                <a:latin typeface="Calibri" pitchFamily="34" charset="0"/>
                <a:ea typeface="Calibri" pitchFamily="34" charset="-122"/>
                <a:cs typeface="Calibri" pitchFamily="34" charset="-120"/>
              </a:rPr>
              <a:t>CatBoost</a:t>
            </a:r>
            <a:endParaRPr lang="en-US" sz="1300" dirty="0"/>
          </a:p>
        </p:txBody>
      </p:sp>
      <p:sp>
        <p:nvSpPr>
          <p:cNvPr id="28" name="Shape 23"/>
          <p:cNvSpPr/>
          <p:nvPr/>
        </p:nvSpPr>
        <p:spPr>
          <a:xfrm>
            <a:off x="6181344" y="1600200"/>
            <a:ext cx="2606040" cy="4343400"/>
          </a:xfrm>
          <a:prstGeom prst="roundRect">
            <a:avLst>
              <a:gd name="adj" fmla="val 4211"/>
            </a:avLst>
          </a:prstGeom>
          <a:solidFill>
            <a:srgbClr val="EEF5FB"/>
          </a:solidFill>
          <a:ln w="12700">
            <a:solidFill>
              <a:srgbClr val="EEF5FB"/>
            </a:solidFill>
            <a:prstDash val="solid"/>
          </a:ln>
          <a:effectLst>
            <a:outerShdw sx="100000" sy="100000" kx="0" ky="0" algn="bl" rotWithShape="0" blurRad="101600" dist="25400" dir="5400000">
              <a:srgbClr val="0A2540">
                <a:alpha val="12000"/>
              </a:srgbClr>
            </a:outerShdw>
          </a:effectLst>
        </p:spPr>
      </p:sp>
      <p:sp>
        <p:nvSpPr>
          <p:cNvPr id="29" name="Shape 24"/>
          <p:cNvSpPr/>
          <p:nvPr/>
        </p:nvSpPr>
        <p:spPr>
          <a:xfrm>
            <a:off x="7031736" y="1874520"/>
            <a:ext cx="914400" cy="914400"/>
          </a:xfrm>
          <a:prstGeom prst="ellipse">
            <a:avLst/>
          </a:prstGeom>
          <a:solidFill>
            <a:srgbClr val="0A4A8C"/>
          </a:solidFill>
          <a:ln w="12700">
            <a:solidFill>
              <a:srgbClr val="0A4A8C"/>
            </a:solidFill>
            <a:prstDash val="solid"/>
          </a:ln>
        </p:spPr>
      </p:sp>
      <p:pic>
        <p:nvPicPr>
          <p:cNvPr id="30" name="Image 3" descr="preencoded.png">    </p:cNvPr>
          <p:cNvPicPr>
            <a:picLocks noChangeAspect="1"/>
          </p:cNvPicPr>
          <p:nvPr/>
        </p:nvPicPr>
        <p:blipFill>
          <a:blip r:embed="rId4"/>
          <a:stretch>
            <a:fillRect/>
          </a:stretch>
        </p:blipFill>
        <p:spPr>
          <a:xfrm>
            <a:off x="7269480" y="2112264"/>
            <a:ext cx="438912" cy="438912"/>
          </a:xfrm>
          <a:prstGeom prst="rect">
            <a:avLst/>
          </a:prstGeom>
        </p:spPr>
      </p:pic>
      <p:sp>
        <p:nvSpPr>
          <p:cNvPr id="31" name="Text 25"/>
          <p:cNvSpPr txBox="1"/>
          <p:nvPr/>
        </p:nvSpPr>
        <p:spPr>
          <a:xfrm>
            <a:off x="6364224" y="2926080"/>
            <a:ext cx="2240280" cy="594360"/>
          </a:xfrm>
          <a:prstGeom prst="rect">
            <a:avLst/>
          </a:prstGeom>
          <a:noFill/>
          <a:ln/>
        </p:spPr>
        <p:txBody>
          <a:bodyPr wrap="square" lIns="0" tIns="0" rIns="0" bIns="0" rtlCol="0" anchor="ctr"/>
          <a:lstStyle/>
          <a:p>
            <a:pPr algn="ctr" indent="0" marL="0">
              <a:buNone/>
            </a:pPr>
            <a:r>
              <a:rPr lang="en-US" sz="1900" b="1" dirty="0">
                <a:solidFill>
                  <a:srgbClr val="0A4A8C"/>
                </a:solidFill>
                <a:latin typeface="Cambria" pitchFamily="34" charset="0"/>
                <a:ea typeface="Cambria" pitchFamily="34" charset="-122"/>
                <a:cs typeface="Cambria" pitchFamily="34" charset="-120"/>
              </a:rPr>
              <a:t>Tableaux de bord</a:t>
            </a:r>
            <a:endParaRPr lang="en-US" sz="1900" dirty="0"/>
          </a:p>
        </p:txBody>
      </p:sp>
      <p:sp>
        <p:nvSpPr>
          <p:cNvPr id="32" name="Shape 26"/>
          <p:cNvSpPr/>
          <p:nvPr/>
        </p:nvSpPr>
        <p:spPr>
          <a:xfrm>
            <a:off x="6455664" y="3703320"/>
            <a:ext cx="2057400" cy="475488"/>
          </a:xfrm>
          <a:prstGeom prst="roundRect">
            <a:avLst>
              <a:gd name="adj" fmla="val 42308"/>
            </a:avLst>
          </a:prstGeom>
          <a:solidFill>
            <a:srgbClr val="FFFFFF"/>
          </a:solidFill>
          <a:ln w="12700">
            <a:solidFill>
              <a:srgbClr val="D5E3F0"/>
            </a:solidFill>
            <a:prstDash val="solid"/>
          </a:ln>
        </p:spPr>
      </p:sp>
      <p:sp>
        <p:nvSpPr>
          <p:cNvPr id="33" name="Text 27"/>
          <p:cNvSpPr txBox="1"/>
          <p:nvPr/>
        </p:nvSpPr>
        <p:spPr>
          <a:xfrm>
            <a:off x="6455664" y="3703320"/>
            <a:ext cx="2057400" cy="475488"/>
          </a:xfrm>
          <a:prstGeom prst="rect">
            <a:avLst/>
          </a:prstGeom>
          <a:noFill/>
          <a:ln/>
        </p:spPr>
        <p:txBody>
          <a:bodyPr wrap="square" lIns="0" tIns="0" rIns="0" bIns="0" rtlCol="0" anchor="ctr"/>
          <a:lstStyle/>
          <a:p>
            <a:pPr algn="ctr" indent="0" marL="0">
              <a:buNone/>
            </a:pPr>
            <a:r>
              <a:rPr lang="en-US" sz="1300" dirty="0">
                <a:solidFill>
                  <a:srgbClr val="1B2A3A"/>
                </a:solidFill>
                <a:latin typeface="Calibri" pitchFamily="34" charset="0"/>
                <a:ea typeface="Calibri" pitchFamily="34" charset="-122"/>
                <a:cs typeface="Calibri" pitchFamily="34" charset="-120"/>
              </a:rPr>
              <a:t>Power BI Desktop</a:t>
            </a:r>
            <a:endParaRPr lang="en-US" sz="1300" dirty="0"/>
          </a:p>
        </p:txBody>
      </p:sp>
      <p:sp>
        <p:nvSpPr>
          <p:cNvPr id="34" name="Shape 28"/>
          <p:cNvSpPr/>
          <p:nvPr/>
        </p:nvSpPr>
        <p:spPr>
          <a:xfrm>
            <a:off x="6455664" y="4361688"/>
            <a:ext cx="2057400" cy="475488"/>
          </a:xfrm>
          <a:prstGeom prst="roundRect">
            <a:avLst>
              <a:gd name="adj" fmla="val 42308"/>
            </a:avLst>
          </a:prstGeom>
          <a:solidFill>
            <a:srgbClr val="FFFFFF"/>
          </a:solidFill>
          <a:ln w="12700">
            <a:solidFill>
              <a:srgbClr val="D5E3F0"/>
            </a:solidFill>
            <a:prstDash val="solid"/>
          </a:ln>
        </p:spPr>
      </p:sp>
      <p:sp>
        <p:nvSpPr>
          <p:cNvPr id="35" name="Text 29"/>
          <p:cNvSpPr txBox="1"/>
          <p:nvPr/>
        </p:nvSpPr>
        <p:spPr>
          <a:xfrm>
            <a:off x="6455664" y="4361688"/>
            <a:ext cx="2057400" cy="475488"/>
          </a:xfrm>
          <a:prstGeom prst="rect">
            <a:avLst/>
          </a:prstGeom>
          <a:noFill/>
          <a:ln/>
        </p:spPr>
        <p:txBody>
          <a:bodyPr wrap="square" lIns="0" tIns="0" rIns="0" bIns="0" rtlCol="0" anchor="ctr"/>
          <a:lstStyle/>
          <a:p>
            <a:pPr algn="ctr" indent="0" marL="0">
              <a:buNone/>
            </a:pPr>
            <a:r>
              <a:rPr lang="en-US" sz="1300" dirty="0">
                <a:solidFill>
                  <a:srgbClr val="1B2A3A"/>
                </a:solidFill>
                <a:latin typeface="Calibri" pitchFamily="34" charset="0"/>
                <a:ea typeface="Calibri" pitchFamily="34" charset="-122"/>
                <a:cs typeface="Calibri" pitchFamily="34" charset="-120"/>
              </a:rPr>
              <a:t>Power BI Service</a:t>
            </a:r>
            <a:endParaRPr lang="en-US" sz="1300" dirty="0"/>
          </a:p>
        </p:txBody>
      </p:sp>
      <p:sp>
        <p:nvSpPr>
          <p:cNvPr id="36" name="Shape 30"/>
          <p:cNvSpPr/>
          <p:nvPr/>
        </p:nvSpPr>
        <p:spPr>
          <a:xfrm>
            <a:off x="6455664" y="5020056"/>
            <a:ext cx="2057400" cy="475488"/>
          </a:xfrm>
          <a:prstGeom prst="roundRect">
            <a:avLst>
              <a:gd name="adj" fmla="val 42308"/>
            </a:avLst>
          </a:prstGeom>
          <a:solidFill>
            <a:srgbClr val="FFFFFF"/>
          </a:solidFill>
          <a:ln w="12700">
            <a:solidFill>
              <a:srgbClr val="D5E3F0"/>
            </a:solidFill>
            <a:prstDash val="solid"/>
          </a:ln>
        </p:spPr>
      </p:sp>
      <p:sp>
        <p:nvSpPr>
          <p:cNvPr id="37" name="Text 31"/>
          <p:cNvSpPr txBox="1"/>
          <p:nvPr/>
        </p:nvSpPr>
        <p:spPr>
          <a:xfrm>
            <a:off x="6455664" y="5020056"/>
            <a:ext cx="2057400" cy="475488"/>
          </a:xfrm>
          <a:prstGeom prst="rect">
            <a:avLst/>
          </a:prstGeom>
          <a:noFill/>
          <a:ln/>
        </p:spPr>
        <p:txBody>
          <a:bodyPr wrap="square" lIns="0" tIns="0" rIns="0" bIns="0" rtlCol="0" anchor="ctr"/>
          <a:lstStyle/>
          <a:p>
            <a:pPr algn="ctr" indent="0" marL="0">
              <a:buNone/>
            </a:pPr>
            <a:r>
              <a:rPr lang="en-US" sz="1300" dirty="0">
                <a:solidFill>
                  <a:srgbClr val="1B2A3A"/>
                </a:solidFill>
                <a:latin typeface="Calibri" pitchFamily="34" charset="0"/>
                <a:ea typeface="Calibri" pitchFamily="34" charset="-122"/>
                <a:cs typeface="Calibri" pitchFamily="34" charset="-120"/>
              </a:rPr>
              <a:t>DAX</a:t>
            </a:r>
            <a:endParaRPr lang="en-US" sz="1300" dirty="0"/>
          </a:p>
        </p:txBody>
      </p:sp>
      <p:sp>
        <p:nvSpPr>
          <p:cNvPr id="38" name="Shape 32"/>
          <p:cNvSpPr/>
          <p:nvPr/>
        </p:nvSpPr>
        <p:spPr>
          <a:xfrm>
            <a:off x="8997696" y="1600200"/>
            <a:ext cx="2606040" cy="4343400"/>
          </a:xfrm>
          <a:prstGeom prst="roundRect">
            <a:avLst>
              <a:gd name="adj" fmla="val 4211"/>
            </a:avLst>
          </a:prstGeom>
          <a:solidFill>
            <a:srgbClr val="FEF6E4"/>
          </a:solidFill>
          <a:ln w="12700">
            <a:solidFill>
              <a:srgbClr val="FEF6E4"/>
            </a:solidFill>
            <a:prstDash val="solid"/>
          </a:ln>
          <a:effectLst>
            <a:outerShdw sx="100000" sy="100000" kx="0" ky="0" algn="bl" rotWithShape="0" blurRad="101600" dist="25400" dir="5400000">
              <a:srgbClr val="0A2540">
                <a:alpha val="12000"/>
              </a:srgbClr>
            </a:outerShdw>
          </a:effectLst>
        </p:spPr>
      </p:sp>
      <p:sp>
        <p:nvSpPr>
          <p:cNvPr id="39" name="Shape 33"/>
          <p:cNvSpPr/>
          <p:nvPr/>
        </p:nvSpPr>
        <p:spPr>
          <a:xfrm>
            <a:off x="9848088" y="1874520"/>
            <a:ext cx="914400" cy="914400"/>
          </a:xfrm>
          <a:prstGeom prst="ellipse">
            <a:avLst/>
          </a:prstGeom>
          <a:solidFill>
            <a:srgbClr val="F39200"/>
          </a:solidFill>
          <a:ln w="12700">
            <a:solidFill>
              <a:srgbClr val="F39200"/>
            </a:solidFill>
            <a:prstDash val="solid"/>
          </a:ln>
        </p:spPr>
      </p:sp>
      <p:pic>
        <p:nvPicPr>
          <p:cNvPr id="40" name="Image 4" descr="preencoded.png">    </p:cNvPr>
          <p:cNvPicPr>
            <a:picLocks noChangeAspect="1"/>
          </p:cNvPicPr>
          <p:nvPr/>
        </p:nvPicPr>
        <p:blipFill>
          <a:blip r:embed="rId5"/>
          <a:stretch>
            <a:fillRect/>
          </a:stretch>
        </p:blipFill>
        <p:spPr>
          <a:xfrm>
            <a:off x="10085832" y="2112264"/>
            <a:ext cx="438912" cy="438912"/>
          </a:xfrm>
          <a:prstGeom prst="rect">
            <a:avLst/>
          </a:prstGeom>
        </p:spPr>
      </p:pic>
      <p:sp>
        <p:nvSpPr>
          <p:cNvPr id="41" name="Text 34"/>
          <p:cNvSpPr txBox="1"/>
          <p:nvPr/>
        </p:nvSpPr>
        <p:spPr>
          <a:xfrm>
            <a:off x="9180576" y="2926080"/>
            <a:ext cx="2240280" cy="594360"/>
          </a:xfrm>
          <a:prstGeom prst="rect">
            <a:avLst/>
          </a:prstGeom>
          <a:noFill/>
          <a:ln/>
        </p:spPr>
        <p:txBody>
          <a:bodyPr wrap="square" lIns="0" tIns="0" rIns="0" bIns="0" rtlCol="0" anchor="ctr"/>
          <a:lstStyle/>
          <a:p>
            <a:pPr algn="ctr" indent="0" marL="0">
              <a:buNone/>
            </a:pPr>
            <a:r>
              <a:rPr lang="en-US" sz="1900" b="1" dirty="0">
                <a:solidFill>
                  <a:srgbClr val="0A4A8C"/>
                </a:solidFill>
                <a:latin typeface="Cambria" pitchFamily="34" charset="0"/>
                <a:ea typeface="Cambria" pitchFamily="34" charset="-122"/>
                <a:cs typeface="Cambria" pitchFamily="34" charset="-120"/>
              </a:rPr>
              <a:t>Application</a:t>
            </a:r>
            <a:endParaRPr lang="en-US" sz="1900" dirty="0"/>
          </a:p>
        </p:txBody>
      </p:sp>
      <p:sp>
        <p:nvSpPr>
          <p:cNvPr id="42" name="Shape 35"/>
          <p:cNvSpPr/>
          <p:nvPr/>
        </p:nvSpPr>
        <p:spPr>
          <a:xfrm>
            <a:off x="9272016" y="3703320"/>
            <a:ext cx="2057400" cy="475488"/>
          </a:xfrm>
          <a:prstGeom prst="roundRect">
            <a:avLst>
              <a:gd name="adj" fmla="val 42308"/>
            </a:avLst>
          </a:prstGeom>
          <a:solidFill>
            <a:srgbClr val="FFFFFF"/>
          </a:solidFill>
          <a:ln w="12700">
            <a:solidFill>
              <a:srgbClr val="D5E3F0"/>
            </a:solidFill>
            <a:prstDash val="solid"/>
          </a:ln>
        </p:spPr>
      </p:sp>
      <p:sp>
        <p:nvSpPr>
          <p:cNvPr id="43" name="Text 36"/>
          <p:cNvSpPr txBox="1"/>
          <p:nvPr/>
        </p:nvSpPr>
        <p:spPr>
          <a:xfrm>
            <a:off x="9272016" y="3703320"/>
            <a:ext cx="2057400" cy="475488"/>
          </a:xfrm>
          <a:prstGeom prst="rect">
            <a:avLst/>
          </a:prstGeom>
          <a:noFill/>
          <a:ln/>
        </p:spPr>
        <p:txBody>
          <a:bodyPr wrap="square" lIns="0" tIns="0" rIns="0" bIns="0" rtlCol="0" anchor="ctr"/>
          <a:lstStyle/>
          <a:p>
            <a:pPr algn="ctr" indent="0" marL="0">
              <a:buNone/>
            </a:pPr>
            <a:r>
              <a:rPr lang="en-US" sz="1300" dirty="0">
                <a:solidFill>
                  <a:srgbClr val="1B2A3A"/>
                </a:solidFill>
                <a:latin typeface="Calibri" pitchFamily="34" charset="0"/>
                <a:ea typeface="Calibri" pitchFamily="34" charset="-122"/>
                <a:cs typeface="Calibri" pitchFamily="34" charset="-120"/>
              </a:rPr>
              <a:t>PyQt6</a:t>
            </a:r>
            <a:endParaRPr lang="en-US" sz="1300" dirty="0"/>
          </a:p>
        </p:txBody>
      </p:sp>
      <p:sp>
        <p:nvSpPr>
          <p:cNvPr id="44" name="Shape 37"/>
          <p:cNvSpPr/>
          <p:nvPr/>
        </p:nvSpPr>
        <p:spPr>
          <a:xfrm>
            <a:off x="9272016" y="4361688"/>
            <a:ext cx="2057400" cy="475488"/>
          </a:xfrm>
          <a:prstGeom prst="roundRect">
            <a:avLst>
              <a:gd name="adj" fmla="val 42308"/>
            </a:avLst>
          </a:prstGeom>
          <a:solidFill>
            <a:srgbClr val="FFFFFF"/>
          </a:solidFill>
          <a:ln w="12700">
            <a:solidFill>
              <a:srgbClr val="D5E3F0"/>
            </a:solidFill>
            <a:prstDash val="solid"/>
          </a:ln>
        </p:spPr>
      </p:sp>
      <p:sp>
        <p:nvSpPr>
          <p:cNvPr id="45" name="Text 38"/>
          <p:cNvSpPr txBox="1"/>
          <p:nvPr/>
        </p:nvSpPr>
        <p:spPr>
          <a:xfrm>
            <a:off x="9272016" y="4361688"/>
            <a:ext cx="2057400" cy="475488"/>
          </a:xfrm>
          <a:prstGeom prst="rect">
            <a:avLst/>
          </a:prstGeom>
          <a:noFill/>
          <a:ln/>
        </p:spPr>
        <p:txBody>
          <a:bodyPr wrap="square" lIns="0" tIns="0" rIns="0" bIns="0" rtlCol="0" anchor="ctr"/>
          <a:lstStyle/>
          <a:p>
            <a:pPr algn="ctr" indent="0" marL="0">
              <a:buNone/>
            </a:pPr>
            <a:r>
              <a:rPr lang="en-US" sz="1300" dirty="0">
                <a:solidFill>
                  <a:srgbClr val="1B2A3A"/>
                </a:solidFill>
                <a:latin typeface="Calibri" pitchFamily="34" charset="0"/>
                <a:ea typeface="Calibri" pitchFamily="34" charset="-122"/>
                <a:cs typeface="Calibri" pitchFamily="34" charset="-120"/>
              </a:rPr>
              <a:t>Qt WebEngine</a:t>
            </a:r>
            <a:endParaRPr lang="en-US" sz="1300" dirty="0"/>
          </a:p>
        </p:txBody>
      </p:sp>
      <p:sp>
        <p:nvSpPr>
          <p:cNvPr id="46" name="Shape 39"/>
          <p:cNvSpPr/>
          <p:nvPr/>
        </p:nvSpPr>
        <p:spPr>
          <a:xfrm>
            <a:off x="9272016" y="5020056"/>
            <a:ext cx="2057400" cy="475488"/>
          </a:xfrm>
          <a:prstGeom prst="roundRect">
            <a:avLst>
              <a:gd name="adj" fmla="val 42308"/>
            </a:avLst>
          </a:prstGeom>
          <a:solidFill>
            <a:srgbClr val="FFFFFF"/>
          </a:solidFill>
          <a:ln w="12700">
            <a:solidFill>
              <a:srgbClr val="D5E3F0"/>
            </a:solidFill>
            <a:prstDash val="solid"/>
          </a:ln>
        </p:spPr>
      </p:sp>
      <p:sp>
        <p:nvSpPr>
          <p:cNvPr id="47" name="Text 40"/>
          <p:cNvSpPr txBox="1"/>
          <p:nvPr/>
        </p:nvSpPr>
        <p:spPr>
          <a:xfrm>
            <a:off x="9272016" y="5020056"/>
            <a:ext cx="2057400" cy="475488"/>
          </a:xfrm>
          <a:prstGeom prst="rect">
            <a:avLst/>
          </a:prstGeom>
          <a:noFill/>
          <a:ln/>
        </p:spPr>
        <p:txBody>
          <a:bodyPr wrap="square" lIns="0" tIns="0" rIns="0" bIns="0" rtlCol="0" anchor="ctr"/>
          <a:lstStyle/>
          <a:p>
            <a:pPr algn="ctr" indent="0" marL="0">
              <a:buNone/>
            </a:pPr>
            <a:r>
              <a:rPr lang="en-US" sz="1300" dirty="0">
                <a:solidFill>
                  <a:srgbClr val="1B2A3A"/>
                </a:solidFill>
                <a:latin typeface="Calibri" pitchFamily="34" charset="0"/>
                <a:ea typeface="Calibri" pitchFamily="34" charset="-122"/>
                <a:cs typeface="Calibri" pitchFamily="34" charset="-120"/>
              </a:rPr>
              <a:t>PyInstaller (.exe)</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772400" cy="274320"/>
          </a:xfrm>
          <a:prstGeom prst="rect">
            <a:avLst/>
          </a:prstGeom>
          <a:noFill/>
          <a:ln/>
        </p:spPr>
        <p:txBody>
          <a:bodyPr wrap="square" lIns="0" tIns="0" rIns="0" bIns="0" rtlCol="0" anchor="t"/>
          <a:lstStyle/>
          <a:p>
            <a:pPr indent="0" marL="0">
              <a:buNone/>
            </a:pPr>
            <a:r>
              <a:rPr lang="en-US" sz="1100" b="1" spc="200" kern="0" dirty="0">
                <a:solidFill>
                  <a:srgbClr val="F39200"/>
                </a:solidFill>
                <a:latin typeface="Calibri" pitchFamily="34" charset="0"/>
                <a:ea typeface="Calibri" pitchFamily="34" charset="-122"/>
                <a:cs typeface="Calibri" pitchFamily="34" charset="-120"/>
              </a:rPr>
              <a:t>RÉALISATION</a:t>
            </a:r>
            <a:endParaRPr lang="en-US" sz="1100" dirty="0"/>
          </a:p>
        </p:txBody>
      </p:sp>
      <p:sp>
        <p:nvSpPr>
          <p:cNvPr id="3" name="Text 1"/>
          <p:cNvSpPr txBox="1"/>
          <p:nvPr/>
        </p:nvSpPr>
        <p:spPr>
          <a:xfrm>
            <a:off x="548640" y="603504"/>
            <a:ext cx="9326880" cy="685800"/>
          </a:xfrm>
          <a:prstGeom prst="rect">
            <a:avLst/>
          </a:prstGeom>
          <a:noFill/>
          <a:ln/>
        </p:spPr>
        <p:txBody>
          <a:bodyPr wrap="square" lIns="0" tIns="0" rIns="0" bIns="0" rtlCol="0" anchor="ctr"/>
          <a:lstStyle/>
          <a:p>
            <a:pPr indent="0" marL="0">
              <a:buNone/>
            </a:pPr>
            <a:r>
              <a:rPr lang="en-US" sz="3000" b="1" dirty="0">
                <a:solidFill>
                  <a:srgbClr val="0A4A8C"/>
                </a:solidFill>
                <a:latin typeface="Cambria" pitchFamily="34" charset="0"/>
                <a:ea typeface="Cambria" pitchFamily="34" charset="-122"/>
                <a:cs typeface="Cambria" pitchFamily="34" charset="-120"/>
              </a:rPr>
              <a:t>Architecture logique</a:t>
            </a:r>
            <a:endParaRPr lang="en-US" sz="3000" dirty="0"/>
          </a:p>
        </p:txBody>
      </p:sp>
      <p:pic>
        <p:nvPicPr>
          <p:cNvPr id="4" name="Image 0" descr="assets/logo_sunny.png">    </p:cNvPr>
          <p:cNvPicPr>
            <a:picLocks noChangeAspect="1"/>
          </p:cNvPicPr>
          <p:nvPr/>
        </p:nvPicPr>
        <p:blipFill>
          <a:blip r:embed="rId1"/>
          <a:stretch>
            <a:fillRect/>
          </a:stretch>
        </p:blipFill>
        <p:spPr>
          <a:xfrm>
            <a:off x="10012680" y="481366"/>
            <a:ext cx="1691640" cy="372291"/>
          </a:xfrm>
          <a:prstGeom prst="rect">
            <a:avLst/>
          </a:prstGeom>
        </p:spPr>
      </p:pic>
      <p:sp>
        <p:nvSpPr>
          <p:cNvPr id="5" name="Text 2"/>
          <p:cNvSpPr txBox="1"/>
          <p:nvPr/>
        </p:nvSpPr>
        <p:spPr>
          <a:xfrm>
            <a:off x="548640" y="6428232"/>
            <a:ext cx="7315200" cy="228600"/>
          </a:xfrm>
          <a:prstGeom prst="rect">
            <a:avLst/>
          </a:prstGeom>
          <a:noFill/>
          <a:ln/>
        </p:spPr>
        <p:txBody>
          <a:bodyPr wrap="square" lIns="0" tIns="0" rIns="0" bIns="0" rtlCol="0" anchor="t"/>
          <a:lstStyle/>
          <a:p>
            <a:pPr indent="0" marL="0">
              <a:buNone/>
            </a:pPr>
            <a:r>
              <a:rPr lang="en-US" sz="900" dirty="0">
                <a:solidFill>
                  <a:srgbClr val="5B6B7F"/>
                </a:solidFill>
                <a:latin typeface="Calibri" pitchFamily="34" charset="0"/>
                <a:ea typeface="Calibri" pitchFamily="34" charset="-122"/>
                <a:cs typeface="Calibri" pitchFamily="34" charset="-120"/>
              </a:rPr>
              <a:t>Ranim Nabi  ·  PFE ESPRIT 2025-2026  ·  2 Go Sunny Tunisia Trip</a:t>
            </a:r>
            <a:endParaRPr lang="en-US" sz="900" dirty="0"/>
          </a:p>
        </p:txBody>
      </p:sp>
      <p:sp>
        <p:nvSpPr>
          <p:cNvPr id="6" name="Shape 3"/>
          <p:cNvSpPr/>
          <p:nvPr/>
        </p:nvSpPr>
        <p:spPr>
          <a:xfrm>
            <a:off x="11320272" y="6364224"/>
            <a:ext cx="347472" cy="347472"/>
          </a:xfrm>
          <a:prstGeom prst="ellipse">
            <a:avLst/>
          </a:prstGeom>
          <a:solidFill>
            <a:srgbClr val="F39200"/>
          </a:solidFill>
          <a:ln w="12700">
            <a:solidFill>
              <a:srgbClr val="F39200"/>
            </a:solidFill>
            <a:prstDash val="solid"/>
          </a:ln>
        </p:spPr>
      </p:sp>
      <p:sp>
        <p:nvSpPr>
          <p:cNvPr id="7" name="Text 4"/>
          <p:cNvSpPr txBox="1"/>
          <p:nvPr/>
        </p:nvSpPr>
        <p:spPr>
          <a:xfrm>
            <a:off x="11320272" y="6364224"/>
            <a:ext cx="347472"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15</a:t>
            </a:r>
            <a:endParaRPr lang="en-US" sz="1000" dirty="0"/>
          </a:p>
        </p:txBody>
      </p:sp>
      <p:sp>
        <p:nvSpPr>
          <p:cNvPr id="8" name="Shape 5"/>
          <p:cNvSpPr/>
          <p:nvPr/>
        </p:nvSpPr>
        <p:spPr>
          <a:xfrm>
            <a:off x="548640" y="5193792"/>
            <a:ext cx="7498080" cy="786384"/>
          </a:xfrm>
          <a:prstGeom prst="roundRect">
            <a:avLst>
              <a:gd name="adj" fmla="val 13953"/>
            </a:avLst>
          </a:prstGeom>
          <a:solidFill>
            <a:srgbClr val="EEF5FB"/>
          </a:solidFill>
          <a:ln w="12700">
            <a:solidFill>
              <a:srgbClr val="EEF5FB"/>
            </a:solidFill>
            <a:prstDash val="solid"/>
          </a:ln>
          <a:effectLst>
            <a:outerShdw sx="100000" sy="100000" kx="0" ky="0" algn="bl" rotWithShape="0" blurRad="101600" dist="25400" dir="5400000">
              <a:srgbClr val="0A2540">
                <a:alpha val="12000"/>
              </a:srgbClr>
            </a:outerShdw>
          </a:effectLst>
        </p:spPr>
      </p:sp>
      <p:sp>
        <p:nvSpPr>
          <p:cNvPr id="9" name="Shape 6"/>
          <p:cNvSpPr/>
          <p:nvPr/>
        </p:nvSpPr>
        <p:spPr>
          <a:xfrm>
            <a:off x="713232" y="5330952"/>
            <a:ext cx="512064" cy="512064"/>
          </a:xfrm>
          <a:prstGeom prst="ellipse">
            <a:avLst/>
          </a:prstGeom>
          <a:solidFill>
            <a:srgbClr val="0A4A8C"/>
          </a:solidFill>
          <a:ln w="12700">
            <a:solidFill>
              <a:srgbClr val="0A4A8C"/>
            </a:solidFill>
            <a:prstDash val="solid"/>
          </a:ln>
        </p:spPr>
      </p:sp>
      <p:pic>
        <p:nvPicPr>
          <p:cNvPr id="10" name="Image 1" descr="preencoded.png">    </p:cNvPr>
          <p:cNvPicPr>
            <a:picLocks noChangeAspect="1"/>
          </p:cNvPicPr>
          <p:nvPr/>
        </p:nvPicPr>
        <p:blipFill>
          <a:blip r:embed="rId2"/>
          <a:stretch>
            <a:fillRect/>
          </a:stretch>
        </p:blipFill>
        <p:spPr>
          <a:xfrm>
            <a:off x="846369" y="5464089"/>
            <a:ext cx="245791" cy="245791"/>
          </a:xfrm>
          <a:prstGeom prst="rect">
            <a:avLst/>
          </a:prstGeom>
        </p:spPr>
      </p:pic>
      <p:sp>
        <p:nvSpPr>
          <p:cNvPr id="11" name="Text 7"/>
          <p:cNvSpPr txBox="1"/>
          <p:nvPr/>
        </p:nvSpPr>
        <p:spPr>
          <a:xfrm>
            <a:off x="1371600" y="5266944"/>
            <a:ext cx="1828800" cy="640080"/>
          </a:xfrm>
          <a:prstGeom prst="rect">
            <a:avLst/>
          </a:prstGeom>
          <a:noFill/>
          <a:ln/>
        </p:spPr>
        <p:txBody>
          <a:bodyPr wrap="square" lIns="0" tIns="0" rIns="0" bIns="0" rtlCol="0" anchor="ctr"/>
          <a:lstStyle/>
          <a:p>
            <a:pPr indent="0" marL="0">
              <a:buNone/>
            </a:pPr>
            <a:r>
              <a:rPr lang="en-US" sz="1600" b="1" dirty="0">
                <a:solidFill>
                  <a:srgbClr val="0A4A8C"/>
                </a:solidFill>
                <a:latin typeface="Calibri" pitchFamily="34" charset="0"/>
                <a:ea typeface="Calibri" pitchFamily="34" charset="-122"/>
                <a:cs typeface="Calibri" pitchFamily="34" charset="-120"/>
              </a:rPr>
              <a:t>Données</a:t>
            </a:r>
            <a:endParaRPr lang="en-US" sz="1600" dirty="0"/>
          </a:p>
        </p:txBody>
      </p:sp>
      <p:sp>
        <p:nvSpPr>
          <p:cNvPr id="12" name="Text 8"/>
          <p:cNvSpPr txBox="1"/>
          <p:nvPr/>
        </p:nvSpPr>
        <p:spPr>
          <a:xfrm>
            <a:off x="3108960" y="5266944"/>
            <a:ext cx="4754880" cy="640080"/>
          </a:xfrm>
          <a:prstGeom prst="rect">
            <a:avLst/>
          </a:prstGeom>
          <a:noFill/>
          <a:ln/>
        </p:spPr>
        <p:txBody>
          <a:bodyPr wrap="square" lIns="0" tIns="0" rIns="0" bIns="0" rtlCol="0" anchor="ctr"/>
          <a:lstStyle/>
          <a:p>
            <a:pPr indent="0" marL="0">
              <a:buNone/>
            </a:pPr>
            <a:r>
              <a:rPr lang="en-US" sz="1200" dirty="0">
                <a:solidFill>
                  <a:srgbClr val="5B6B7F"/>
                </a:solidFill>
                <a:latin typeface="Calibri" pitchFamily="34" charset="0"/>
                <a:ea typeface="Calibri" pitchFamily="34" charset="-122"/>
                <a:cs typeface="Calibri" pitchFamily="34" charset="-120"/>
              </a:rPr>
              <a:t>Clients, réservations, destinations, hôtels et vols de l'agence</a:t>
            </a:r>
            <a:endParaRPr lang="en-US" sz="1200" dirty="0"/>
          </a:p>
        </p:txBody>
      </p:sp>
      <p:sp>
        <p:nvSpPr>
          <p:cNvPr id="13" name="Shape 9"/>
          <p:cNvSpPr/>
          <p:nvPr/>
        </p:nvSpPr>
        <p:spPr>
          <a:xfrm>
            <a:off x="868680" y="4261104"/>
            <a:ext cx="6858000" cy="786384"/>
          </a:xfrm>
          <a:prstGeom prst="roundRect">
            <a:avLst>
              <a:gd name="adj" fmla="val 13953"/>
            </a:avLst>
          </a:prstGeom>
          <a:solidFill>
            <a:srgbClr val="FEF6E4"/>
          </a:solidFill>
          <a:ln w="12700">
            <a:solidFill>
              <a:srgbClr val="FEF6E4"/>
            </a:solidFill>
            <a:prstDash val="solid"/>
          </a:ln>
          <a:effectLst>
            <a:outerShdw sx="100000" sy="100000" kx="0" ky="0" algn="bl" rotWithShape="0" blurRad="101600" dist="25400" dir="5400000">
              <a:srgbClr val="0A2540">
                <a:alpha val="12000"/>
              </a:srgbClr>
            </a:outerShdw>
          </a:effectLst>
        </p:spPr>
      </p:sp>
      <p:sp>
        <p:nvSpPr>
          <p:cNvPr id="14" name="Shape 10"/>
          <p:cNvSpPr/>
          <p:nvPr/>
        </p:nvSpPr>
        <p:spPr>
          <a:xfrm>
            <a:off x="1033272" y="4398264"/>
            <a:ext cx="512064" cy="512064"/>
          </a:xfrm>
          <a:prstGeom prst="ellipse">
            <a:avLst/>
          </a:prstGeom>
          <a:solidFill>
            <a:srgbClr val="F39200"/>
          </a:solidFill>
          <a:ln w="12700">
            <a:solidFill>
              <a:srgbClr val="F39200"/>
            </a:solidFill>
            <a:prstDash val="solid"/>
          </a:ln>
        </p:spPr>
      </p:sp>
      <p:pic>
        <p:nvPicPr>
          <p:cNvPr id="15" name="Image 2" descr="preencoded.png">    </p:cNvPr>
          <p:cNvPicPr>
            <a:picLocks noChangeAspect="1"/>
          </p:cNvPicPr>
          <p:nvPr/>
        </p:nvPicPr>
        <p:blipFill>
          <a:blip r:embed="rId3"/>
          <a:stretch>
            <a:fillRect/>
          </a:stretch>
        </p:blipFill>
        <p:spPr>
          <a:xfrm>
            <a:off x="1166409" y="4531401"/>
            <a:ext cx="245791" cy="245791"/>
          </a:xfrm>
          <a:prstGeom prst="rect">
            <a:avLst/>
          </a:prstGeom>
        </p:spPr>
      </p:pic>
      <p:sp>
        <p:nvSpPr>
          <p:cNvPr id="16" name="Text 11"/>
          <p:cNvSpPr txBox="1"/>
          <p:nvPr/>
        </p:nvSpPr>
        <p:spPr>
          <a:xfrm>
            <a:off x="1691640" y="4334256"/>
            <a:ext cx="1828800" cy="640080"/>
          </a:xfrm>
          <a:prstGeom prst="rect">
            <a:avLst/>
          </a:prstGeom>
          <a:noFill/>
          <a:ln/>
        </p:spPr>
        <p:txBody>
          <a:bodyPr wrap="square" lIns="0" tIns="0" rIns="0" bIns="0" rtlCol="0" anchor="ctr"/>
          <a:lstStyle/>
          <a:p>
            <a:pPr indent="0" marL="0">
              <a:buNone/>
            </a:pPr>
            <a:r>
              <a:rPr lang="en-US" sz="1600" b="1" dirty="0">
                <a:solidFill>
                  <a:srgbClr val="0A4A8C"/>
                </a:solidFill>
                <a:latin typeface="Calibri" pitchFamily="34" charset="0"/>
                <a:ea typeface="Calibri" pitchFamily="34" charset="-122"/>
                <a:cs typeface="Calibri" pitchFamily="34" charset="-120"/>
              </a:rPr>
              <a:t>Préparation</a:t>
            </a:r>
            <a:endParaRPr lang="en-US" sz="1600" dirty="0"/>
          </a:p>
        </p:txBody>
      </p:sp>
      <p:sp>
        <p:nvSpPr>
          <p:cNvPr id="17" name="Text 12"/>
          <p:cNvSpPr txBox="1"/>
          <p:nvPr/>
        </p:nvSpPr>
        <p:spPr>
          <a:xfrm>
            <a:off x="3429000" y="4334256"/>
            <a:ext cx="4114800" cy="640080"/>
          </a:xfrm>
          <a:prstGeom prst="rect">
            <a:avLst/>
          </a:prstGeom>
          <a:noFill/>
          <a:ln/>
        </p:spPr>
        <p:txBody>
          <a:bodyPr wrap="square" lIns="0" tIns="0" rIns="0" bIns="0" rtlCol="0" anchor="ctr"/>
          <a:lstStyle/>
          <a:p>
            <a:pPr indent="0" marL="0">
              <a:buNone/>
            </a:pPr>
            <a:r>
              <a:rPr lang="en-US" sz="1200" dirty="0">
                <a:solidFill>
                  <a:srgbClr val="5B6B7F"/>
                </a:solidFill>
                <a:latin typeface="Calibri" pitchFamily="34" charset="0"/>
                <a:ea typeface="Calibri" pitchFamily="34" charset="-122"/>
                <a:cs typeface="Calibri" pitchFamily="34" charset="-120"/>
              </a:rPr>
              <a:t>Nettoyage, correction des anomalies, profils clients</a:t>
            </a:r>
            <a:endParaRPr lang="en-US" sz="1200" dirty="0"/>
          </a:p>
        </p:txBody>
      </p:sp>
      <p:sp>
        <p:nvSpPr>
          <p:cNvPr id="18" name="Shape 13"/>
          <p:cNvSpPr/>
          <p:nvPr/>
        </p:nvSpPr>
        <p:spPr>
          <a:xfrm>
            <a:off x="1188720" y="3328416"/>
            <a:ext cx="6217920" cy="786384"/>
          </a:xfrm>
          <a:prstGeom prst="roundRect">
            <a:avLst>
              <a:gd name="adj" fmla="val 13953"/>
            </a:avLst>
          </a:prstGeom>
          <a:solidFill>
            <a:srgbClr val="0A4A8C"/>
          </a:solidFill>
          <a:ln w="12700">
            <a:solidFill>
              <a:srgbClr val="0A4A8C"/>
            </a:solidFill>
            <a:prstDash val="solid"/>
          </a:ln>
          <a:effectLst>
            <a:outerShdw sx="100000" sy="100000" kx="0" ky="0" algn="bl" rotWithShape="0" blurRad="101600" dist="25400" dir="5400000">
              <a:srgbClr val="0A2540">
                <a:alpha val="12000"/>
              </a:srgbClr>
            </a:outerShdw>
          </a:effectLst>
        </p:spPr>
      </p:sp>
      <p:sp>
        <p:nvSpPr>
          <p:cNvPr id="19" name="Shape 14"/>
          <p:cNvSpPr/>
          <p:nvPr/>
        </p:nvSpPr>
        <p:spPr>
          <a:xfrm>
            <a:off x="1353312" y="3465576"/>
            <a:ext cx="512064" cy="512064"/>
          </a:xfrm>
          <a:prstGeom prst="ellipse">
            <a:avLst/>
          </a:prstGeom>
          <a:solidFill>
            <a:srgbClr val="F39200"/>
          </a:solidFill>
          <a:ln w="12700">
            <a:solidFill>
              <a:srgbClr val="F39200"/>
            </a:solidFill>
            <a:prstDash val="solid"/>
          </a:ln>
        </p:spPr>
      </p:sp>
      <p:pic>
        <p:nvPicPr>
          <p:cNvPr id="20" name="Image 3" descr="preencoded.png">    </p:cNvPr>
          <p:cNvPicPr>
            <a:picLocks noChangeAspect="1"/>
          </p:cNvPicPr>
          <p:nvPr/>
        </p:nvPicPr>
        <p:blipFill>
          <a:blip r:embed="rId4"/>
          <a:stretch>
            <a:fillRect/>
          </a:stretch>
        </p:blipFill>
        <p:spPr>
          <a:xfrm>
            <a:off x="1486449" y="3598713"/>
            <a:ext cx="245791" cy="245791"/>
          </a:xfrm>
          <a:prstGeom prst="rect">
            <a:avLst/>
          </a:prstGeom>
        </p:spPr>
      </p:pic>
      <p:sp>
        <p:nvSpPr>
          <p:cNvPr id="21" name="Text 15"/>
          <p:cNvSpPr txBox="1"/>
          <p:nvPr/>
        </p:nvSpPr>
        <p:spPr>
          <a:xfrm>
            <a:off x="2011680" y="3401568"/>
            <a:ext cx="1828800" cy="64008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Intelligence</a:t>
            </a:r>
            <a:endParaRPr lang="en-US" sz="1600" dirty="0"/>
          </a:p>
        </p:txBody>
      </p:sp>
      <p:sp>
        <p:nvSpPr>
          <p:cNvPr id="22" name="Text 16"/>
          <p:cNvSpPr txBox="1"/>
          <p:nvPr/>
        </p:nvSpPr>
        <p:spPr>
          <a:xfrm>
            <a:off x="3749040" y="3401568"/>
            <a:ext cx="3474720" cy="640080"/>
          </a:xfrm>
          <a:prstGeom prst="rect">
            <a:avLst/>
          </a:prstGeom>
          <a:noFill/>
          <a:ln/>
        </p:spPr>
        <p:txBody>
          <a:bodyPr wrap="square" lIns="0" tIns="0" rIns="0" bIns="0" rtlCol="0" anchor="ctr"/>
          <a:lstStyle/>
          <a:p>
            <a:pPr indent="0" marL="0">
              <a:buNone/>
            </a:pPr>
            <a:r>
              <a:rPr lang="en-US" sz="1200" dirty="0">
                <a:solidFill>
                  <a:srgbClr val="CFE3F5"/>
                </a:solidFill>
                <a:latin typeface="Calibri" pitchFamily="34" charset="0"/>
                <a:ea typeface="Calibri" pitchFamily="34" charset="-122"/>
                <a:cs typeface="Calibri" pitchFamily="34" charset="-120"/>
              </a:rPr>
              <a:t>Moteur de recommandation hybride et segmentation</a:t>
            </a:r>
            <a:endParaRPr lang="en-US" sz="1200" dirty="0"/>
          </a:p>
        </p:txBody>
      </p:sp>
      <p:sp>
        <p:nvSpPr>
          <p:cNvPr id="23" name="Shape 17"/>
          <p:cNvSpPr/>
          <p:nvPr/>
        </p:nvSpPr>
        <p:spPr>
          <a:xfrm>
            <a:off x="1508760" y="2395728"/>
            <a:ext cx="5577840" cy="786384"/>
          </a:xfrm>
          <a:prstGeom prst="roundRect">
            <a:avLst>
              <a:gd name="adj" fmla="val 13953"/>
            </a:avLst>
          </a:prstGeom>
          <a:solidFill>
            <a:srgbClr val="FEF6E4"/>
          </a:solidFill>
          <a:ln w="12700">
            <a:solidFill>
              <a:srgbClr val="FEF6E4"/>
            </a:solidFill>
            <a:prstDash val="solid"/>
          </a:ln>
          <a:effectLst>
            <a:outerShdw sx="100000" sy="100000" kx="0" ky="0" algn="bl" rotWithShape="0" blurRad="101600" dist="25400" dir="5400000">
              <a:srgbClr val="0A2540">
                <a:alpha val="12000"/>
              </a:srgbClr>
            </a:outerShdw>
          </a:effectLst>
        </p:spPr>
      </p:sp>
      <p:sp>
        <p:nvSpPr>
          <p:cNvPr id="24" name="Shape 18"/>
          <p:cNvSpPr/>
          <p:nvPr/>
        </p:nvSpPr>
        <p:spPr>
          <a:xfrm>
            <a:off x="1673352" y="2532888"/>
            <a:ext cx="512064" cy="512064"/>
          </a:xfrm>
          <a:prstGeom prst="ellipse">
            <a:avLst/>
          </a:prstGeom>
          <a:solidFill>
            <a:srgbClr val="F39200"/>
          </a:solidFill>
          <a:ln w="12700">
            <a:solidFill>
              <a:srgbClr val="F39200"/>
            </a:solidFill>
            <a:prstDash val="solid"/>
          </a:ln>
        </p:spPr>
      </p:sp>
      <p:pic>
        <p:nvPicPr>
          <p:cNvPr id="25" name="Image 4" descr="preencoded.png">    </p:cNvPr>
          <p:cNvPicPr>
            <a:picLocks noChangeAspect="1"/>
          </p:cNvPicPr>
          <p:nvPr/>
        </p:nvPicPr>
        <p:blipFill>
          <a:blip r:embed="rId5"/>
          <a:stretch>
            <a:fillRect/>
          </a:stretch>
        </p:blipFill>
        <p:spPr>
          <a:xfrm>
            <a:off x="1806489" y="2666025"/>
            <a:ext cx="245791" cy="245791"/>
          </a:xfrm>
          <a:prstGeom prst="rect">
            <a:avLst/>
          </a:prstGeom>
        </p:spPr>
      </p:pic>
      <p:sp>
        <p:nvSpPr>
          <p:cNvPr id="26" name="Text 19"/>
          <p:cNvSpPr txBox="1"/>
          <p:nvPr/>
        </p:nvSpPr>
        <p:spPr>
          <a:xfrm>
            <a:off x="2331720" y="2468880"/>
            <a:ext cx="1828800" cy="640080"/>
          </a:xfrm>
          <a:prstGeom prst="rect">
            <a:avLst/>
          </a:prstGeom>
          <a:noFill/>
          <a:ln/>
        </p:spPr>
        <p:txBody>
          <a:bodyPr wrap="square" lIns="0" tIns="0" rIns="0" bIns="0" rtlCol="0" anchor="ctr"/>
          <a:lstStyle/>
          <a:p>
            <a:pPr indent="0" marL="0">
              <a:buNone/>
            </a:pPr>
            <a:r>
              <a:rPr lang="en-US" sz="1600" b="1" dirty="0">
                <a:solidFill>
                  <a:srgbClr val="0A4A8C"/>
                </a:solidFill>
                <a:latin typeface="Calibri" pitchFamily="34" charset="0"/>
                <a:ea typeface="Calibri" pitchFamily="34" charset="-122"/>
                <a:cs typeface="Calibri" pitchFamily="34" charset="-120"/>
              </a:rPr>
              <a:t>Restitution</a:t>
            </a:r>
            <a:endParaRPr lang="en-US" sz="1600" dirty="0"/>
          </a:p>
        </p:txBody>
      </p:sp>
      <p:sp>
        <p:nvSpPr>
          <p:cNvPr id="27" name="Text 20"/>
          <p:cNvSpPr txBox="1"/>
          <p:nvPr/>
        </p:nvSpPr>
        <p:spPr>
          <a:xfrm>
            <a:off x="4069080" y="2468880"/>
            <a:ext cx="2834640" cy="640080"/>
          </a:xfrm>
          <a:prstGeom prst="rect">
            <a:avLst/>
          </a:prstGeom>
          <a:noFill/>
          <a:ln/>
        </p:spPr>
        <p:txBody>
          <a:bodyPr wrap="square" lIns="0" tIns="0" rIns="0" bIns="0" rtlCol="0" anchor="ctr"/>
          <a:lstStyle/>
          <a:p>
            <a:pPr indent="0" marL="0">
              <a:buNone/>
            </a:pPr>
            <a:r>
              <a:rPr lang="en-US" sz="1200" dirty="0">
                <a:solidFill>
                  <a:srgbClr val="5B6B7F"/>
                </a:solidFill>
                <a:latin typeface="Calibri" pitchFamily="34" charset="0"/>
                <a:ea typeface="Calibri" pitchFamily="34" charset="-122"/>
                <a:cs typeface="Calibri" pitchFamily="34" charset="-120"/>
              </a:rPr>
              <a:t>Modèle en étoile, indicateurs, rapport Power BI</a:t>
            </a:r>
            <a:endParaRPr lang="en-US" sz="1200" dirty="0"/>
          </a:p>
        </p:txBody>
      </p:sp>
      <p:sp>
        <p:nvSpPr>
          <p:cNvPr id="28" name="Shape 21"/>
          <p:cNvSpPr/>
          <p:nvPr/>
        </p:nvSpPr>
        <p:spPr>
          <a:xfrm>
            <a:off x="1828800" y="1463040"/>
            <a:ext cx="4937760" cy="786384"/>
          </a:xfrm>
          <a:prstGeom prst="roundRect">
            <a:avLst>
              <a:gd name="adj" fmla="val 13953"/>
            </a:avLst>
          </a:prstGeom>
          <a:solidFill>
            <a:srgbClr val="EEF5FB"/>
          </a:solidFill>
          <a:ln w="12700">
            <a:solidFill>
              <a:srgbClr val="EEF5FB"/>
            </a:solidFill>
            <a:prstDash val="solid"/>
          </a:ln>
          <a:effectLst>
            <a:outerShdw sx="100000" sy="100000" kx="0" ky="0" algn="bl" rotWithShape="0" blurRad="101600" dist="25400" dir="5400000">
              <a:srgbClr val="0A2540">
                <a:alpha val="12000"/>
              </a:srgbClr>
            </a:outerShdw>
          </a:effectLst>
        </p:spPr>
      </p:sp>
      <p:sp>
        <p:nvSpPr>
          <p:cNvPr id="29" name="Shape 22"/>
          <p:cNvSpPr/>
          <p:nvPr/>
        </p:nvSpPr>
        <p:spPr>
          <a:xfrm>
            <a:off x="1993392" y="1600200"/>
            <a:ext cx="512064" cy="512064"/>
          </a:xfrm>
          <a:prstGeom prst="ellipse">
            <a:avLst/>
          </a:prstGeom>
          <a:solidFill>
            <a:srgbClr val="0A4A8C"/>
          </a:solidFill>
          <a:ln w="12700">
            <a:solidFill>
              <a:srgbClr val="0A4A8C"/>
            </a:solidFill>
            <a:prstDash val="solid"/>
          </a:ln>
        </p:spPr>
      </p:sp>
      <p:pic>
        <p:nvPicPr>
          <p:cNvPr id="30" name="Image 5" descr="preencoded.png">    </p:cNvPr>
          <p:cNvPicPr>
            <a:picLocks noChangeAspect="1"/>
          </p:cNvPicPr>
          <p:nvPr/>
        </p:nvPicPr>
        <p:blipFill>
          <a:blip r:embed="rId6"/>
          <a:stretch>
            <a:fillRect/>
          </a:stretch>
        </p:blipFill>
        <p:spPr>
          <a:xfrm>
            <a:off x="2126529" y="1733337"/>
            <a:ext cx="245791" cy="245791"/>
          </a:xfrm>
          <a:prstGeom prst="rect">
            <a:avLst/>
          </a:prstGeom>
        </p:spPr>
      </p:pic>
      <p:sp>
        <p:nvSpPr>
          <p:cNvPr id="31" name="Text 23"/>
          <p:cNvSpPr txBox="1"/>
          <p:nvPr/>
        </p:nvSpPr>
        <p:spPr>
          <a:xfrm>
            <a:off x="2651760" y="1536192"/>
            <a:ext cx="1828800" cy="640080"/>
          </a:xfrm>
          <a:prstGeom prst="rect">
            <a:avLst/>
          </a:prstGeom>
          <a:noFill/>
          <a:ln/>
        </p:spPr>
        <p:txBody>
          <a:bodyPr wrap="square" lIns="0" tIns="0" rIns="0" bIns="0" rtlCol="0" anchor="ctr"/>
          <a:lstStyle/>
          <a:p>
            <a:pPr indent="0" marL="0">
              <a:buNone/>
            </a:pPr>
            <a:r>
              <a:rPr lang="en-US" sz="1600" b="1" dirty="0">
                <a:solidFill>
                  <a:srgbClr val="0A4A8C"/>
                </a:solidFill>
                <a:latin typeface="Calibri" pitchFamily="34" charset="0"/>
                <a:ea typeface="Calibri" pitchFamily="34" charset="-122"/>
                <a:cs typeface="Calibri" pitchFamily="34" charset="-120"/>
              </a:rPr>
              <a:t>Présentation</a:t>
            </a:r>
            <a:endParaRPr lang="en-US" sz="1600" dirty="0"/>
          </a:p>
        </p:txBody>
      </p:sp>
      <p:sp>
        <p:nvSpPr>
          <p:cNvPr id="32" name="Text 24"/>
          <p:cNvSpPr txBox="1"/>
          <p:nvPr/>
        </p:nvSpPr>
        <p:spPr>
          <a:xfrm>
            <a:off x="4389120" y="1536192"/>
            <a:ext cx="2194560" cy="640080"/>
          </a:xfrm>
          <a:prstGeom prst="rect">
            <a:avLst/>
          </a:prstGeom>
          <a:noFill/>
          <a:ln/>
        </p:spPr>
        <p:txBody>
          <a:bodyPr wrap="square" lIns="0" tIns="0" rIns="0" bIns="0" rtlCol="0" anchor="ctr"/>
          <a:lstStyle/>
          <a:p>
            <a:pPr indent="0" marL="0">
              <a:buNone/>
            </a:pPr>
            <a:r>
              <a:rPr lang="en-US" sz="1200" dirty="0">
                <a:solidFill>
                  <a:srgbClr val="5B6B7F"/>
                </a:solidFill>
                <a:latin typeface="Calibri" pitchFamily="34" charset="0"/>
                <a:ea typeface="Calibri" pitchFamily="34" charset="-122"/>
                <a:cs typeface="Calibri" pitchFamily="34" charset="-120"/>
              </a:rPr>
              <a:t>Application TravelBI pour la direction et les conseillers</a:t>
            </a:r>
            <a:endParaRPr lang="en-US" sz="1200" dirty="0"/>
          </a:p>
        </p:txBody>
      </p:sp>
      <p:sp>
        <p:nvSpPr>
          <p:cNvPr id="33" name="Shape 25"/>
          <p:cNvSpPr/>
          <p:nvPr/>
        </p:nvSpPr>
        <p:spPr>
          <a:xfrm>
            <a:off x="8321040" y="1463040"/>
            <a:ext cx="3310128" cy="4617720"/>
          </a:xfrm>
          <a:prstGeom prst="roundRect">
            <a:avLst>
              <a:gd name="adj" fmla="val 3315"/>
            </a:avLst>
          </a:prstGeom>
          <a:solidFill>
            <a:srgbClr val="FEF6E4"/>
          </a:solidFill>
          <a:ln w="12700">
            <a:solidFill>
              <a:srgbClr val="FEF6E4"/>
            </a:solidFill>
            <a:prstDash val="solid"/>
          </a:ln>
          <a:effectLst>
            <a:outerShdw sx="100000" sy="100000" kx="0" ky="0" algn="bl" rotWithShape="0" blurRad="101600" dist="25400" dir="5400000">
              <a:srgbClr val="0A2540">
                <a:alpha val="12000"/>
              </a:srgbClr>
            </a:outerShdw>
          </a:effectLst>
        </p:spPr>
      </p:sp>
      <p:sp>
        <p:nvSpPr>
          <p:cNvPr id="34" name="Shape 26"/>
          <p:cNvSpPr/>
          <p:nvPr/>
        </p:nvSpPr>
        <p:spPr>
          <a:xfrm>
            <a:off x="9564624" y="1737360"/>
            <a:ext cx="822960" cy="822960"/>
          </a:xfrm>
          <a:prstGeom prst="ellipse">
            <a:avLst/>
          </a:prstGeom>
          <a:solidFill>
            <a:srgbClr val="F39200"/>
          </a:solidFill>
          <a:ln w="12700">
            <a:solidFill>
              <a:srgbClr val="F39200"/>
            </a:solidFill>
            <a:prstDash val="solid"/>
          </a:ln>
        </p:spPr>
      </p:sp>
      <p:pic>
        <p:nvPicPr>
          <p:cNvPr id="35" name="Image 6" descr="preencoded.png">    </p:cNvPr>
          <p:cNvPicPr>
            <a:picLocks noChangeAspect="1"/>
          </p:cNvPicPr>
          <p:nvPr/>
        </p:nvPicPr>
        <p:blipFill>
          <a:blip r:embed="rId7"/>
          <a:stretch>
            <a:fillRect/>
          </a:stretch>
        </p:blipFill>
        <p:spPr>
          <a:xfrm>
            <a:off x="9778594" y="1951330"/>
            <a:ext cx="395021" cy="395021"/>
          </a:xfrm>
          <a:prstGeom prst="rect">
            <a:avLst/>
          </a:prstGeom>
        </p:spPr>
      </p:pic>
      <p:sp>
        <p:nvSpPr>
          <p:cNvPr id="36" name="Text 27"/>
          <p:cNvSpPr txBox="1"/>
          <p:nvPr/>
        </p:nvSpPr>
        <p:spPr>
          <a:xfrm>
            <a:off x="8503920" y="2743200"/>
            <a:ext cx="2944368" cy="731520"/>
          </a:xfrm>
          <a:prstGeom prst="rect">
            <a:avLst/>
          </a:prstGeom>
          <a:noFill/>
          <a:ln/>
        </p:spPr>
        <p:txBody>
          <a:bodyPr wrap="square" lIns="0" tIns="0" rIns="0" bIns="0" rtlCol="0" anchor="t"/>
          <a:lstStyle/>
          <a:p>
            <a:pPr algn="ctr" indent="0" marL="0">
              <a:buNone/>
            </a:pPr>
            <a:r>
              <a:rPr lang="en-US" sz="1900" b="1" dirty="0">
                <a:solidFill>
                  <a:srgbClr val="0A4A8C"/>
                </a:solidFill>
                <a:latin typeface="Cambria" pitchFamily="34" charset="0"/>
                <a:ea typeface="Cambria" pitchFamily="34" charset="-122"/>
                <a:cs typeface="Cambria" pitchFamily="34" charset="-120"/>
              </a:rPr>
              <a:t>Cinq couches, un seul flux</a:t>
            </a:r>
            <a:endParaRPr lang="en-US" sz="1900" dirty="0"/>
          </a:p>
        </p:txBody>
      </p:sp>
      <p:sp>
        <p:nvSpPr>
          <p:cNvPr id="37" name="Text 28"/>
          <p:cNvSpPr txBox="1"/>
          <p:nvPr/>
        </p:nvSpPr>
        <p:spPr>
          <a:xfrm>
            <a:off x="8549640" y="3566160"/>
            <a:ext cx="2852928" cy="2194560"/>
          </a:xfrm>
          <a:prstGeom prst="rect">
            <a:avLst/>
          </a:prstGeom>
          <a:noFill/>
          <a:ln/>
        </p:spPr>
        <p:txBody>
          <a:bodyPr wrap="square" lIns="0" tIns="0" rIns="0" bIns="0" rtlCol="0" anchor="t"/>
          <a:lstStyle/>
          <a:p>
            <a:pPr algn="ctr" indent="0" marL="0">
              <a:buNone/>
            </a:pPr>
            <a:r>
              <a:rPr lang="en-US" sz="1400" dirty="0">
                <a:solidFill>
                  <a:srgbClr val="1B2A3A"/>
                </a:solidFill>
                <a:latin typeface="Calibri" pitchFamily="34" charset="0"/>
                <a:ea typeface="Calibri" pitchFamily="34" charset="-122"/>
                <a:cs typeface="Calibri" pitchFamily="34" charset="-120"/>
              </a:rPr>
              <a:t>De la donnée brute à la décision : chaque couche enrichit la précédente et peut évoluer indépendamment.</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772400" cy="274320"/>
          </a:xfrm>
          <a:prstGeom prst="rect">
            <a:avLst/>
          </a:prstGeom>
          <a:noFill/>
          <a:ln/>
        </p:spPr>
        <p:txBody>
          <a:bodyPr wrap="square" lIns="0" tIns="0" rIns="0" bIns="0" rtlCol="0" anchor="t"/>
          <a:lstStyle/>
          <a:p>
            <a:pPr indent="0" marL="0">
              <a:buNone/>
            </a:pPr>
            <a:r>
              <a:rPr lang="en-US" sz="1100" b="1" spc="200" kern="0" dirty="0">
                <a:solidFill>
                  <a:srgbClr val="F39200"/>
                </a:solidFill>
                <a:latin typeface="Calibri" pitchFamily="34" charset="0"/>
                <a:ea typeface="Calibri" pitchFamily="34" charset="-122"/>
                <a:cs typeface="Calibri" pitchFamily="34" charset="-120"/>
              </a:rPr>
              <a:t>RÉALISATION</a:t>
            </a:r>
            <a:endParaRPr lang="en-US" sz="1100" dirty="0"/>
          </a:p>
        </p:txBody>
      </p:sp>
      <p:sp>
        <p:nvSpPr>
          <p:cNvPr id="3" name="Text 1"/>
          <p:cNvSpPr txBox="1"/>
          <p:nvPr/>
        </p:nvSpPr>
        <p:spPr>
          <a:xfrm>
            <a:off x="548640" y="603504"/>
            <a:ext cx="9326880" cy="685800"/>
          </a:xfrm>
          <a:prstGeom prst="rect">
            <a:avLst/>
          </a:prstGeom>
          <a:noFill/>
          <a:ln/>
        </p:spPr>
        <p:txBody>
          <a:bodyPr wrap="square" lIns="0" tIns="0" rIns="0" bIns="0" rtlCol="0" anchor="ctr"/>
          <a:lstStyle/>
          <a:p>
            <a:pPr indent="0" marL="0">
              <a:buNone/>
            </a:pPr>
            <a:r>
              <a:rPr lang="en-US" sz="3000" b="1" dirty="0">
                <a:solidFill>
                  <a:srgbClr val="0A4A8C"/>
                </a:solidFill>
                <a:latin typeface="Cambria" pitchFamily="34" charset="0"/>
                <a:ea typeface="Cambria" pitchFamily="34" charset="-122"/>
                <a:cs typeface="Cambria" pitchFamily="34" charset="-120"/>
              </a:rPr>
              <a:t>Architecture physique</a:t>
            </a:r>
            <a:endParaRPr lang="en-US" sz="3000" dirty="0"/>
          </a:p>
        </p:txBody>
      </p:sp>
      <p:pic>
        <p:nvPicPr>
          <p:cNvPr id="4" name="Image 0" descr="assets/logo_sunny.png">    </p:cNvPr>
          <p:cNvPicPr>
            <a:picLocks noChangeAspect="1"/>
          </p:cNvPicPr>
          <p:nvPr/>
        </p:nvPicPr>
        <p:blipFill>
          <a:blip r:embed="rId1"/>
          <a:stretch>
            <a:fillRect/>
          </a:stretch>
        </p:blipFill>
        <p:spPr>
          <a:xfrm>
            <a:off x="10012680" y="481366"/>
            <a:ext cx="1691640" cy="372291"/>
          </a:xfrm>
          <a:prstGeom prst="rect">
            <a:avLst/>
          </a:prstGeom>
        </p:spPr>
      </p:pic>
      <p:sp>
        <p:nvSpPr>
          <p:cNvPr id="5" name="Text 2"/>
          <p:cNvSpPr txBox="1"/>
          <p:nvPr/>
        </p:nvSpPr>
        <p:spPr>
          <a:xfrm>
            <a:off x="548640" y="6428232"/>
            <a:ext cx="7315200" cy="228600"/>
          </a:xfrm>
          <a:prstGeom prst="rect">
            <a:avLst/>
          </a:prstGeom>
          <a:noFill/>
          <a:ln/>
        </p:spPr>
        <p:txBody>
          <a:bodyPr wrap="square" lIns="0" tIns="0" rIns="0" bIns="0" rtlCol="0" anchor="t"/>
          <a:lstStyle/>
          <a:p>
            <a:pPr indent="0" marL="0">
              <a:buNone/>
            </a:pPr>
            <a:r>
              <a:rPr lang="en-US" sz="900" dirty="0">
                <a:solidFill>
                  <a:srgbClr val="5B6B7F"/>
                </a:solidFill>
                <a:latin typeface="Calibri" pitchFamily="34" charset="0"/>
                <a:ea typeface="Calibri" pitchFamily="34" charset="-122"/>
                <a:cs typeface="Calibri" pitchFamily="34" charset="-120"/>
              </a:rPr>
              <a:t>Ranim Nabi  ·  PFE ESPRIT 2025-2026  ·  2 Go Sunny Tunisia Trip</a:t>
            </a:r>
            <a:endParaRPr lang="en-US" sz="900" dirty="0"/>
          </a:p>
        </p:txBody>
      </p:sp>
      <p:sp>
        <p:nvSpPr>
          <p:cNvPr id="6" name="Shape 3"/>
          <p:cNvSpPr/>
          <p:nvPr/>
        </p:nvSpPr>
        <p:spPr>
          <a:xfrm>
            <a:off x="11320272" y="6364224"/>
            <a:ext cx="347472" cy="347472"/>
          </a:xfrm>
          <a:prstGeom prst="ellipse">
            <a:avLst/>
          </a:prstGeom>
          <a:solidFill>
            <a:srgbClr val="F39200"/>
          </a:solidFill>
          <a:ln w="12700">
            <a:solidFill>
              <a:srgbClr val="F39200"/>
            </a:solidFill>
            <a:prstDash val="solid"/>
          </a:ln>
        </p:spPr>
      </p:sp>
      <p:sp>
        <p:nvSpPr>
          <p:cNvPr id="7" name="Text 4"/>
          <p:cNvSpPr txBox="1"/>
          <p:nvPr/>
        </p:nvSpPr>
        <p:spPr>
          <a:xfrm>
            <a:off x="11320272" y="6364224"/>
            <a:ext cx="347472"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16</a:t>
            </a:r>
            <a:endParaRPr lang="en-US" sz="1000" dirty="0"/>
          </a:p>
        </p:txBody>
      </p:sp>
      <p:sp>
        <p:nvSpPr>
          <p:cNvPr id="8" name="Shape 5"/>
          <p:cNvSpPr/>
          <p:nvPr/>
        </p:nvSpPr>
        <p:spPr>
          <a:xfrm>
            <a:off x="548640" y="1463040"/>
            <a:ext cx="7498080" cy="4663440"/>
          </a:xfrm>
          <a:prstGeom prst="roundRect">
            <a:avLst>
              <a:gd name="adj" fmla="val 2353"/>
            </a:avLst>
          </a:prstGeom>
          <a:solidFill>
            <a:srgbClr val="FFFFFF"/>
          </a:solidFill>
          <a:ln w="12700">
            <a:solidFill>
              <a:srgbClr val="D5E3F0"/>
            </a:solidFill>
            <a:prstDash val="solid"/>
          </a:ln>
          <a:effectLst>
            <a:outerShdw sx="100000" sy="100000" kx="0" ky="0" algn="bl" rotWithShape="0" blurRad="101600" dist="25400" dir="5400000">
              <a:srgbClr val="0A2540">
                <a:alpha val="12000"/>
              </a:srgbClr>
            </a:outerShdw>
          </a:effectLst>
        </p:spPr>
      </p:sp>
      <p:pic>
        <p:nvPicPr>
          <p:cNvPr id="9" name="Image 1" descr="assets/uml-deploiement.png">    </p:cNvPr>
          <p:cNvPicPr>
            <a:picLocks noChangeAspect="1"/>
          </p:cNvPicPr>
          <p:nvPr/>
        </p:nvPicPr>
        <p:blipFill>
          <a:blip r:embed="rId2"/>
          <a:stretch>
            <a:fillRect/>
          </a:stretch>
        </p:blipFill>
        <p:spPr>
          <a:xfrm>
            <a:off x="731520" y="2049332"/>
            <a:ext cx="7132320" cy="3490856"/>
          </a:xfrm>
          <a:prstGeom prst="rect">
            <a:avLst/>
          </a:prstGeom>
        </p:spPr>
      </p:pic>
      <p:sp>
        <p:nvSpPr>
          <p:cNvPr id="10" name="Shape 6"/>
          <p:cNvSpPr/>
          <p:nvPr/>
        </p:nvSpPr>
        <p:spPr>
          <a:xfrm>
            <a:off x="8321040" y="1463040"/>
            <a:ext cx="3337560" cy="1417320"/>
          </a:xfrm>
          <a:prstGeom prst="roundRect">
            <a:avLst>
              <a:gd name="adj" fmla="val 7742"/>
            </a:avLst>
          </a:prstGeom>
          <a:solidFill>
            <a:srgbClr val="EEF5FB"/>
          </a:solidFill>
          <a:ln w="12700">
            <a:solidFill>
              <a:srgbClr val="EEF5FB"/>
            </a:solidFill>
            <a:prstDash val="solid"/>
          </a:ln>
          <a:effectLst>
            <a:outerShdw sx="100000" sy="100000" kx="0" ky="0" algn="bl" rotWithShape="0" blurRad="101600" dist="25400" dir="5400000">
              <a:srgbClr val="0A2540">
                <a:alpha val="12000"/>
              </a:srgbClr>
            </a:outerShdw>
          </a:effectLst>
        </p:spPr>
      </p:sp>
      <p:sp>
        <p:nvSpPr>
          <p:cNvPr id="11" name="Shape 7"/>
          <p:cNvSpPr/>
          <p:nvPr/>
        </p:nvSpPr>
        <p:spPr>
          <a:xfrm>
            <a:off x="8485632" y="1645920"/>
            <a:ext cx="502920" cy="502920"/>
          </a:xfrm>
          <a:prstGeom prst="ellipse">
            <a:avLst/>
          </a:prstGeom>
          <a:solidFill>
            <a:srgbClr val="0A4A8C"/>
          </a:solidFill>
          <a:ln w="12700">
            <a:solidFill>
              <a:srgbClr val="0A4A8C"/>
            </a:solidFill>
            <a:prstDash val="solid"/>
          </a:ln>
        </p:spPr>
      </p:sp>
      <p:pic>
        <p:nvPicPr>
          <p:cNvPr id="12" name="Image 2" descr="preencoded.png">    </p:cNvPr>
          <p:cNvPicPr>
            <a:picLocks noChangeAspect="1"/>
          </p:cNvPicPr>
          <p:nvPr/>
        </p:nvPicPr>
        <p:blipFill>
          <a:blip r:embed="rId3"/>
          <a:stretch>
            <a:fillRect/>
          </a:stretch>
        </p:blipFill>
        <p:spPr>
          <a:xfrm>
            <a:off x="8616391" y="1776679"/>
            <a:ext cx="241402" cy="241402"/>
          </a:xfrm>
          <a:prstGeom prst="rect">
            <a:avLst/>
          </a:prstGeom>
        </p:spPr>
      </p:pic>
      <p:sp>
        <p:nvSpPr>
          <p:cNvPr id="13" name="Text 8"/>
          <p:cNvSpPr txBox="1"/>
          <p:nvPr/>
        </p:nvSpPr>
        <p:spPr>
          <a:xfrm>
            <a:off x="9098280" y="1709928"/>
            <a:ext cx="2468880" cy="365760"/>
          </a:xfrm>
          <a:prstGeom prst="rect">
            <a:avLst/>
          </a:prstGeom>
          <a:noFill/>
          <a:ln/>
        </p:spPr>
        <p:txBody>
          <a:bodyPr wrap="square" lIns="0" tIns="0" rIns="0" bIns="0" rtlCol="0" anchor="t"/>
          <a:lstStyle/>
          <a:p>
            <a:pPr indent="0" marL="0">
              <a:buNone/>
            </a:pPr>
            <a:r>
              <a:rPr lang="en-US" sz="1500" b="1" dirty="0">
                <a:solidFill>
                  <a:srgbClr val="0A4A8C"/>
                </a:solidFill>
                <a:latin typeface="Calibri" pitchFamily="34" charset="0"/>
                <a:ea typeface="Calibri" pitchFamily="34" charset="-122"/>
                <a:cs typeface="Calibri" pitchFamily="34" charset="-120"/>
              </a:rPr>
              <a:t>Poste d'analyse</a:t>
            </a:r>
            <a:endParaRPr lang="en-US" sz="1500" dirty="0"/>
          </a:p>
        </p:txBody>
      </p:sp>
      <p:sp>
        <p:nvSpPr>
          <p:cNvPr id="14" name="Text 9"/>
          <p:cNvSpPr txBox="1"/>
          <p:nvPr/>
        </p:nvSpPr>
        <p:spPr>
          <a:xfrm>
            <a:off x="8503920" y="2212848"/>
            <a:ext cx="3017520" cy="640080"/>
          </a:xfrm>
          <a:prstGeom prst="rect">
            <a:avLst/>
          </a:prstGeom>
          <a:noFill/>
          <a:ln/>
        </p:spPr>
        <p:txBody>
          <a:bodyPr wrap="square" lIns="0" tIns="0" rIns="0" bIns="0" rtlCol="0" anchor="t"/>
          <a:lstStyle/>
          <a:p>
            <a:pPr indent="0" marL="0">
              <a:buNone/>
            </a:pPr>
            <a:r>
              <a:rPr lang="en-US" sz="1200" dirty="0">
                <a:solidFill>
                  <a:srgbClr val="5B6B7F"/>
                </a:solidFill>
                <a:latin typeface="Calibri" pitchFamily="34" charset="0"/>
                <a:ea typeface="Calibri" pitchFamily="34" charset="-122"/>
                <a:cs typeface="Calibri" pitchFamily="34" charset="-120"/>
              </a:rPr>
              <a:t>Prépare les données et entraîne les modèles, puis exporte les résultats</a:t>
            </a:r>
            <a:endParaRPr lang="en-US" sz="1200" dirty="0"/>
          </a:p>
        </p:txBody>
      </p:sp>
      <p:sp>
        <p:nvSpPr>
          <p:cNvPr id="15" name="Shape 10"/>
          <p:cNvSpPr/>
          <p:nvPr/>
        </p:nvSpPr>
        <p:spPr>
          <a:xfrm>
            <a:off x="8321040" y="3035808"/>
            <a:ext cx="3337560" cy="1417320"/>
          </a:xfrm>
          <a:prstGeom prst="roundRect">
            <a:avLst>
              <a:gd name="adj" fmla="val 7742"/>
            </a:avLst>
          </a:prstGeom>
          <a:solidFill>
            <a:srgbClr val="FEF6E4"/>
          </a:solidFill>
          <a:ln w="12700">
            <a:solidFill>
              <a:srgbClr val="FEF6E4"/>
            </a:solidFill>
            <a:prstDash val="solid"/>
          </a:ln>
          <a:effectLst>
            <a:outerShdw sx="100000" sy="100000" kx="0" ky="0" algn="bl" rotWithShape="0" blurRad="101600" dist="25400" dir="5400000">
              <a:srgbClr val="0A2540">
                <a:alpha val="12000"/>
              </a:srgbClr>
            </a:outerShdw>
          </a:effectLst>
        </p:spPr>
      </p:sp>
      <p:sp>
        <p:nvSpPr>
          <p:cNvPr id="16" name="Shape 11"/>
          <p:cNvSpPr/>
          <p:nvPr/>
        </p:nvSpPr>
        <p:spPr>
          <a:xfrm>
            <a:off x="8485632" y="3218688"/>
            <a:ext cx="502920" cy="502920"/>
          </a:xfrm>
          <a:prstGeom prst="ellipse">
            <a:avLst/>
          </a:prstGeom>
          <a:solidFill>
            <a:srgbClr val="F39200"/>
          </a:solidFill>
          <a:ln w="12700">
            <a:solidFill>
              <a:srgbClr val="F39200"/>
            </a:solidFill>
            <a:prstDash val="solid"/>
          </a:ln>
        </p:spPr>
      </p:sp>
      <p:pic>
        <p:nvPicPr>
          <p:cNvPr id="17" name="Image 3" descr="preencoded.png">    </p:cNvPr>
          <p:cNvPicPr>
            <a:picLocks noChangeAspect="1"/>
          </p:cNvPicPr>
          <p:nvPr/>
        </p:nvPicPr>
        <p:blipFill>
          <a:blip r:embed="rId4"/>
          <a:stretch>
            <a:fillRect/>
          </a:stretch>
        </p:blipFill>
        <p:spPr>
          <a:xfrm>
            <a:off x="8616391" y="3349447"/>
            <a:ext cx="241402" cy="241402"/>
          </a:xfrm>
          <a:prstGeom prst="rect">
            <a:avLst/>
          </a:prstGeom>
        </p:spPr>
      </p:pic>
      <p:sp>
        <p:nvSpPr>
          <p:cNvPr id="18" name="Text 12"/>
          <p:cNvSpPr txBox="1"/>
          <p:nvPr/>
        </p:nvSpPr>
        <p:spPr>
          <a:xfrm>
            <a:off x="9098280" y="3282696"/>
            <a:ext cx="2468880" cy="365760"/>
          </a:xfrm>
          <a:prstGeom prst="rect">
            <a:avLst/>
          </a:prstGeom>
          <a:noFill/>
          <a:ln/>
        </p:spPr>
        <p:txBody>
          <a:bodyPr wrap="square" lIns="0" tIns="0" rIns="0" bIns="0" rtlCol="0" anchor="t"/>
          <a:lstStyle/>
          <a:p>
            <a:pPr indent="0" marL="0">
              <a:buNone/>
            </a:pPr>
            <a:r>
              <a:rPr lang="en-US" sz="1500" b="1" dirty="0">
                <a:solidFill>
                  <a:srgbClr val="0A4A8C"/>
                </a:solidFill>
                <a:latin typeface="Calibri" pitchFamily="34" charset="0"/>
                <a:ea typeface="Calibri" pitchFamily="34" charset="-122"/>
                <a:cs typeface="Calibri" pitchFamily="34" charset="-120"/>
              </a:rPr>
              <a:t>Power BI Service</a:t>
            </a:r>
            <a:endParaRPr lang="en-US" sz="1500" dirty="0"/>
          </a:p>
        </p:txBody>
      </p:sp>
      <p:sp>
        <p:nvSpPr>
          <p:cNvPr id="19" name="Text 13"/>
          <p:cNvSpPr txBox="1"/>
          <p:nvPr/>
        </p:nvSpPr>
        <p:spPr>
          <a:xfrm>
            <a:off x="8503920" y="3785616"/>
            <a:ext cx="3017520" cy="640080"/>
          </a:xfrm>
          <a:prstGeom prst="rect">
            <a:avLst/>
          </a:prstGeom>
          <a:noFill/>
          <a:ln/>
        </p:spPr>
        <p:txBody>
          <a:bodyPr wrap="square" lIns="0" tIns="0" rIns="0" bIns="0" rtlCol="0" anchor="t"/>
          <a:lstStyle/>
          <a:p>
            <a:pPr indent="0" marL="0">
              <a:buNone/>
            </a:pPr>
            <a:r>
              <a:rPr lang="en-US" sz="1200" dirty="0">
                <a:solidFill>
                  <a:srgbClr val="5B6B7F"/>
                </a:solidFill>
                <a:latin typeface="Calibri" pitchFamily="34" charset="0"/>
                <a:ea typeface="Calibri" pitchFamily="34" charset="-122"/>
                <a:cs typeface="Calibri" pitchFamily="34" charset="-120"/>
              </a:rPr>
              <a:t>Héberge le rapport, accessible de façon sécurisée</a:t>
            </a:r>
            <a:endParaRPr lang="en-US" sz="1200" dirty="0"/>
          </a:p>
        </p:txBody>
      </p:sp>
      <p:sp>
        <p:nvSpPr>
          <p:cNvPr id="20" name="Shape 14"/>
          <p:cNvSpPr/>
          <p:nvPr/>
        </p:nvSpPr>
        <p:spPr>
          <a:xfrm>
            <a:off x="8321040" y="4608576"/>
            <a:ext cx="3337560" cy="1417320"/>
          </a:xfrm>
          <a:prstGeom prst="roundRect">
            <a:avLst>
              <a:gd name="adj" fmla="val 7742"/>
            </a:avLst>
          </a:prstGeom>
          <a:solidFill>
            <a:srgbClr val="EEF5FB"/>
          </a:solidFill>
          <a:ln w="12700">
            <a:solidFill>
              <a:srgbClr val="EEF5FB"/>
            </a:solidFill>
            <a:prstDash val="solid"/>
          </a:ln>
          <a:effectLst>
            <a:outerShdw sx="100000" sy="100000" kx="0" ky="0" algn="bl" rotWithShape="0" blurRad="101600" dist="25400" dir="5400000">
              <a:srgbClr val="0A2540">
                <a:alpha val="12000"/>
              </a:srgbClr>
            </a:outerShdw>
          </a:effectLst>
        </p:spPr>
      </p:sp>
      <p:sp>
        <p:nvSpPr>
          <p:cNvPr id="21" name="Shape 15"/>
          <p:cNvSpPr/>
          <p:nvPr/>
        </p:nvSpPr>
        <p:spPr>
          <a:xfrm>
            <a:off x="8485632" y="4791456"/>
            <a:ext cx="502920" cy="502920"/>
          </a:xfrm>
          <a:prstGeom prst="ellipse">
            <a:avLst/>
          </a:prstGeom>
          <a:solidFill>
            <a:srgbClr val="0A4A8C"/>
          </a:solidFill>
          <a:ln w="12700">
            <a:solidFill>
              <a:srgbClr val="0A4A8C"/>
            </a:solidFill>
            <a:prstDash val="solid"/>
          </a:ln>
        </p:spPr>
      </p:sp>
      <p:pic>
        <p:nvPicPr>
          <p:cNvPr id="22" name="Image 4" descr="preencoded.png">    </p:cNvPr>
          <p:cNvPicPr>
            <a:picLocks noChangeAspect="1"/>
          </p:cNvPicPr>
          <p:nvPr/>
        </p:nvPicPr>
        <p:blipFill>
          <a:blip r:embed="rId5"/>
          <a:stretch>
            <a:fillRect/>
          </a:stretch>
        </p:blipFill>
        <p:spPr>
          <a:xfrm>
            <a:off x="8616391" y="4922215"/>
            <a:ext cx="241402" cy="241402"/>
          </a:xfrm>
          <a:prstGeom prst="rect">
            <a:avLst/>
          </a:prstGeom>
        </p:spPr>
      </p:pic>
      <p:sp>
        <p:nvSpPr>
          <p:cNvPr id="23" name="Text 16"/>
          <p:cNvSpPr txBox="1"/>
          <p:nvPr/>
        </p:nvSpPr>
        <p:spPr>
          <a:xfrm>
            <a:off x="9098280" y="4855464"/>
            <a:ext cx="2468880" cy="365760"/>
          </a:xfrm>
          <a:prstGeom prst="rect">
            <a:avLst/>
          </a:prstGeom>
          <a:noFill/>
          <a:ln/>
        </p:spPr>
        <p:txBody>
          <a:bodyPr wrap="square" lIns="0" tIns="0" rIns="0" bIns="0" rtlCol="0" anchor="t"/>
          <a:lstStyle/>
          <a:p>
            <a:pPr indent="0" marL="0">
              <a:buNone/>
            </a:pPr>
            <a:r>
              <a:rPr lang="en-US" sz="1500" b="1" dirty="0">
                <a:solidFill>
                  <a:srgbClr val="0A4A8C"/>
                </a:solidFill>
                <a:latin typeface="Calibri" pitchFamily="34" charset="0"/>
                <a:ea typeface="Calibri" pitchFamily="34" charset="-122"/>
                <a:cs typeface="Calibri" pitchFamily="34" charset="-120"/>
              </a:rPr>
              <a:t>Poste de l'agence</a:t>
            </a:r>
            <a:endParaRPr lang="en-US" sz="1500" dirty="0"/>
          </a:p>
        </p:txBody>
      </p:sp>
      <p:sp>
        <p:nvSpPr>
          <p:cNvPr id="24" name="Text 17"/>
          <p:cNvSpPr txBox="1"/>
          <p:nvPr/>
        </p:nvSpPr>
        <p:spPr>
          <a:xfrm>
            <a:off x="8503920" y="5358384"/>
            <a:ext cx="3017520" cy="640080"/>
          </a:xfrm>
          <a:prstGeom prst="rect">
            <a:avLst/>
          </a:prstGeom>
          <a:noFill/>
          <a:ln/>
        </p:spPr>
        <p:txBody>
          <a:bodyPr wrap="square" lIns="0" tIns="0" rIns="0" bIns="0" rtlCol="0" anchor="t"/>
          <a:lstStyle/>
          <a:p>
            <a:pPr indent="0" marL="0">
              <a:buNone/>
            </a:pPr>
            <a:r>
              <a:rPr lang="en-US" sz="1200" dirty="0">
                <a:solidFill>
                  <a:srgbClr val="5B6B7F"/>
                </a:solidFill>
                <a:latin typeface="Calibri" pitchFamily="34" charset="0"/>
                <a:ea typeface="Calibri" pitchFamily="34" charset="-122"/>
                <a:cs typeface="Calibri" pitchFamily="34" charset="-120"/>
              </a:rPr>
              <a:t>TravelBI calcule tout en local et affiche le rapport publié</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772400" cy="274320"/>
          </a:xfrm>
          <a:prstGeom prst="rect">
            <a:avLst/>
          </a:prstGeom>
          <a:noFill/>
          <a:ln/>
        </p:spPr>
        <p:txBody>
          <a:bodyPr wrap="square" lIns="0" tIns="0" rIns="0" bIns="0" rtlCol="0" anchor="t"/>
          <a:lstStyle/>
          <a:p>
            <a:pPr indent="0" marL="0">
              <a:buNone/>
            </a:pPr>
            <a:r>
              <a:rPr lang="en-US" sz="1100" b="1" spc="200" kern="0" dirty="0">
                <a:solidFill>
                  <a:srgbClr val="F39200"/>
                </a:solidFill>
                <a:latin typeface="Calibri" pitchFamily="34" charset="0"/>
                <a:ea typeface="Calibri" pitchFamily="34" charset="-122"/>
                <a:cs typeface="Calibri" pitchFamily="34" charset="-120"/>
              </a:rPr>
              <a:t>INTELLIGENCE ARTIFICIELLE</a:t>
            </a:r>
            <a:endParaRPr lang="en-US" sz="1100" dirty="0"/>
          </a:p>
        </p:txBody>
      </p:sp>
      <p:sp>
        <p:nvSpPr>
          <p:cNvPr id="3" name="Text 1"/>
          <p:cNvSpPr txBox="1"/>
          <p:nvPr/>
        </p:nvSpPr>
        <p:spPr>
          <a:xfrm>
            <a:off x="548640" y="603504"/>
            <a:ext cx="9326880" cy="685800"/>
          </a:xfrm>
          <a:prstGeom prst="rect">
            <a:avLst/>
          </a:prstGeom>
          <a:noFill/>
          <a:ln/>
        </p:spPr>
        <p:txBody>
          <a:bodyPr wrap="square" lIns="0" tIns="0" rIns="0" bIns="0" rtlCol="0" anchor="ctr"/>
          <a:lstStyle/>
          <a:p>
            <a:pPr indent="0" marL="0">
              <a:buNone/>
            </a:pPr>
            <a:r>
              <a:rPr lang="en-US" sz="3000" b="1" dirty="0">
                <a:solidFill>
                  <a:srgbClr val="0A4A8C"/>
                </a:solidFill>
                <a:latin typeface="Cambria" pitchFamily="34" charset="0"/>
                <a:ea typeface="Cambria" pitchFamily="34" charset="-122"/>
                <a:cs typeface="Cambria" pitchFamily="34" charset="-120"/>
              </a:rPr>
              <a:t>Modèles IA : un moteur hybride</a:t>
            </a:r>
            <a:endParaRPr lang="en-US" sz="3000" dirty="0"/>
          </a:p>
        </p:txBody>
      </p:sp>
      <p:pic>
        <p:nvPicPr>
          <p:cNvPr id="4" name="Image 0" descr="assets/logo_sunny.png">    </p:cNvPr>
          <p:cNvPicPr>
            <a:picLocks noChangeAspect="1"/>
          </p:cNvPicPr>
          <p:nvPr/>
        </p:nvPicPr>
        <p:blipFill>
          <a:blip r:embed="rId1"/>
          <a:stretch>
            <a:fillRect/>
          </a:stretch>
        </p:blipFill>
        <p:spPr>
          <a:xfrm>
            <a:off x="10012680" y="481366"/>
            <a:ext cx="1691640" cy="372291"/>
          </a:xfrm>
          <a:prstGeom prst="rect">
            <a:avLst/>
          </a:prstGeom>
        </p:spPr>
      </p:pic>
      <p:sp>
        <p:nvSpPr>
          <p:cNvPr id="5" name="Text 2"/>
          <p:cNvSpPr txBox="1"/>
          <p:nvPr/>
        </p:nvSpPr>
        <p:spPr>
          <a:xfrm>
            <a:off x="548640" y="6428232"/>
            <a:ext cx="7315200" cy="228600"/>
          </a:xfrm>
          <a:prstGeom prst="rect">
            <a:avLst/>
          </a:prstGeom>
          <a:noFill/>
          <a:ln/>
        </p:spPr>
        <p:txBody>
          <a:bodyPr wrap="square" lIns="0" tIns="0" rIns="0" bIns="0" rtlCol="0" anchor="t"/>
          <a:lstStyle/>
          <a:p>
            <a:pPr indent="0" marL="0">
              <a:buNone/>
            </a:pPr>
            <a:r>
              <a:rPr lang="en-US" sz="900" dirty="0">
                <a:solidFill>
                  <a:srgbClr val="5B6B7F"/>
                </a:solidFill>
                <a:latin typeface="Calibri" pitchFamily="34" charset="0"/>
                <a:ea typeface="Calibri" pitchFamily="34" charset="-122"/>
                <a:cs typeface="Calibri" pitchFamily="34" charset="-120"/>
              </a:rPr>
              <a:t>Ranim Nabi  ·  PFE ESPRIT 2025-2026  ·  2 Go Sunny Tunisia Trip</a:t>
            </a:r>
            <a:endParaRPr lang="en-US" sz="900" dirty="0"/>
          </a:p>
        </p:txBody>
      </p:sp>
      <p:sp>
        <p:nvSpPr>
          <p:cNvPr id="6" name="Shape 3"/>
          <p:cNvSpPr/>
          <p:nvPr/>
        </p:nvSpPr>
        <p:spPr>
          <a:xfrm>
            <a:off x="11320272" y="6364224"/>
            <a:ext cx="347472" cy="347472"/>
          </a:xfrm>
          <a:prstGeom prst="ellipse">
            <a:avLst/>
          </a:prstGeom>
          <a:solidFill>
            <a:srgbClr val="F39200"/>
          </a:solidFill>
          <a:ln w="12700">
            <a:solidFill>
              <a:srgbClr val="F39200"/>
            </a:solidFill>
            <a:prstDash val="solid"/>
          </a:ln>
        </p:spPr>
      </p:sp>
      <p:sp>
        <p:nvSpPr>
          <p:cNvPr id="7" name="Text 4"/>
          <p:cNvSpPr txBox="1"/>
          <p:nvPr/>
        </p:nvSpPr>
        <p:spPr>
          <a:xfrm>
            <a:off x="11320272" y="6364224"/>
            <a:ext cx="347472"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17</a:t>
            </a:r>
            <a:endParaRPr lang="en-US" sz="1000" dirty="0"/>
          </a:p>
        </p:txBody>
      </p:sp>
      <p:sp>
        <p:nvSpPr>
          <p:cNvPr id="8" name="Text 5"/>
          <p:cNvSpPr txBox="1"/>
          <p:nvPr/>
        </p:nvSpPr>
        <p:spPr>
          <a:xfrm>
            <a:off x="548640" y="1417320"/>
            <a:ext cx="10972800" cy="411480"/>
          </a:xfrm>
          <a:prstGeom prst="rect">
            <a:avLst/>
          </a:prstGeom>
          <a:noFill/>
          <a:ln/>
        </p:spPr>
        <p:txBody>
          <a:bodyPr wrap="square" lIns="0" tIns="0" rIns="0" bIns="0" rtlCol="0" anchor="t"/>
          <a:lstStyle/>
          <a:p>
            <a:pPr indent="0" marL="0">
              <a:buNone/>
            </a:pPr>
            <a:r>
              <a:rPr lang="en-US" sz="1600" dirty="0">
                <a:solidFill>
                  <a:srgbClr val="5B6B7F"/>
                </a:solidFill>
                <a:latin typeface="Calibri" pitchFamily="34" charset="0"/>
                <a:ea typeface="Calibri" pitchFamily="34" charset="-122"/>
                <a:cs typeface="Calibri" pitchFamily="34" charset="-120"/>
              </a:rPr>
              <a:t>Comme un conseiller expérimenté, le moteur combine quatre sources d'information</a:t>
            </a:r>
            <a:endParaRPr lang="en-US" sz="1600" dirty="0"/>
          </a:p>
        </p:txBody>
      </p:sp>
      <p:sp>
        <p:nvSpPr>
          <p:cNvPr id="9" name="Shape 6"/>
          <p:cNvSpPr/>
          <p:nvPr/>
        </p:nvSpPr>
        <p:spPr>
          <a:xfrm>
            <a:off x="548640" y="2011680"/>
            <a:ext cx="2606040" cy="3017520"/>
          </a:xfrm>
          <a:prstGeom prst="roundRect">
            <a:avLst>
              <a:gd name="adj" fmla="val 4211"/>
            </a:avLst>
          </a:prstGeom>
          <a:solidFill>
            <a:srgbClr val="EEF5FB"/>
          </a:solidFill>
          <a:ln w="12700">
            <a:solidFill>
              <a:srgbClr val="EEF5FB"/>
            </a:solidFill>
            <a:prstDash val="solid"/>
          </a:ln>
          <a:effectLst>
            <a:outerShdw sx="100000" sy="100000" kx="0" ky="0" algn="bl" rotWithShape="0" blurRad="101600" dist="25400" dir="5400000">
              <a:srgbClr val="0A2540">
                <a:alpha val="12000"/>
              </a:srgbClr>
            </a:outerShdw>
          </a:effectLst>
        </p:spPr>
      </p:sp>
      <p:sp>
        <p:nvSpPr>
          <p:cNvPr id="10" name="Shape 7"/>
          <p:cNvSpPr/>
          <p:nvPr/>
        </p:nvSpPr>
        <p:spPr>
          <a:xfrm>
            <a:off x="777240" y="2240280"/>
            <a:ext cx="685800" cy="685800"/>
          </a:xfrm>
          <a:prstGeom prst="ellipse">
            <a:avLst/>
          </a:prstGeom>
          <a:solidFill>
            <a:srgbClr val="0A4A8C"/>
          </a:solidFill>
          <a:ln w="12700">
            <a:solidFill>
              <a:srgbClr val="0A4A8C"/>
            </a:solidFill>
            <a:prstDash val="solid"/>
          </a:ln>
        </p:spPr>
      </p:sp>
      <p:pic>
        <p:nvPicPr>
          <p:cNvPr id="11" name="Image 1" descr="preencoded.png">    </p:cNvPr>
          <p:cNvPicPr>
            <a:picLocks noChangeAspect="1"/>
          </p:cNvPicPr>
          <p:nvPr/>
        </p:nvPicPr>
        <p:blipFill>
          <a:blip r:embed="rId2"/>
          <a:stretch>
            <a:fillRect/>
          </a:stretch>
        </p:blipFill>
        <p:spPr>
          <a:xfrm>
            <a:off x="955548" y="2418588"/>
            <a:ext cx="329184" cy="329184"/>
          </a:xfrm>
          <a:prstGeom prst="rect">
            <a:avLst/>
          </a:prstGeom>
        </p:spPr>
      </p:pic>
      <p:sp>
        <p:nvSpPr>
          <p:cNvPr id="12" name="Text 8"/>
          <p:cNvSpPr txBox="1"/>
          <p:nvPr/>
        </p:nvSpPr>
        <p:spPr>
          <a:xfrm>
            <a:off x="1645920" y="2240280"/>
            <a:ext cx="1325880" cy="685800"/>
          </a:xfrm>
          <a:prstGeom prst="rect">
            <a:avLst/>
          </a:prstGeom>
          <a:noFill/>
          <a:ln/>
        </p:spPr>
        <p:txBody>
          <a:bodyPr wrap="square" lIns="0" tIns="0" rIns="0" bIns="0" rtlCol="0" anchor="ctr"/>
          <a:lstStyle/>
          <a:p>
            <a:pPr algn="r" indent="0" marL="0">
              <a:buNone/>
            </a:pPr>
            <a:r>
              <a:rPr lang="en-US" sz="3000" b="1" dirty="0">
                <a:solidFill>
                  <a:srgbClr val="F39200"/>
                </a:solidFill>
                <a:latin typeface="Cambria" pitchFamily="34" charset="0"/>
                <a:ea typeface="Cambria" pitchFamily="34" charset="-122"/>
                <a:cs typeface="Cambria" pitchFamily="34" charset="-120"/>
              </a:rPr>
              <a:t>20 %</a:t>
            </a:r>
            <a:endParaRPr lang="en-US" sz="3000" dirty="0"/>
          </a:p>
        </p:txBody>
      </p:sp>
      <p:sp>
        <p:nvSpPr>
          <p:cNvPr id="13" name="Text 9"/>
          <p:cNvSpPr txBox="1"/>
          <p:nvPr/>
        </p:nvSpPr>
        <p:spPr>
          <a:xfrm>
            <a:off x="777240" y="3108960"/>
            <a:ext cx="2194560" cy="685800"/>
          </a:xfrm>
          <a:prstGeom prst="rect">
            <a:avLst/>
          </a:prstGeom>
          <a:noFill/>
          <a:ln/>
        </p:spPr>
        <p:txBody>
          <a:bodyPr wrap="square" lIns="0" tIns="0" rIns="0" bIns="0" rtlCol="0" anchor="t"/>
          <a:lstStyle/>
          <a:p>
            <a:pPr indent="0" marL="0">
              <a:buNone/>
            </a:pPr>
            <a:r>
              <a:rPr lang="en-US" sz="1800" b="1" dirty="0">
                <a:solidFill>
                  <a:srgbClr val="0A4A8C"/>
                </a:solidFill>
                <a:latin typeface="Cambria" pitchFamily="34" charset="0"/>
                <a:ea typeface="Cambria" pitchFamily="34" charset="-122"/>
                <a:cs typeface="Cambria" pitchFamily="34" charset="-120"/>
              </a:rPr>
              <a:t>Les goûts du client</a:t>
            </a:r>
            <a:endParaRPr lang="en-US" sz="1800" dirty="0"/>
          </a:p>
        </p:txBody>
      </p:sp>
      <p:sp>
        <p:nvSpPr>
          <p:cNvPr id="14" name="Text 10"/>
          <p:cNvSpPr txBox="1"/>
          <p:nvPr/>
        </p:nvSpPr>
        <p:spPr>
          <a:xfrm>
            <a:off x="777240" y="3840480"/>
            <a:ext cx="2194560" cy="1005840"/>
          </a:xfrm>
          <a:prstGeom prst="rect">
            <a:avLst/>
          </a:prstGeom>
          <a:noFill/>
          <a:ln/>
        </p:spPr>
        <p:txBody>
          <a:bodyPr wrap="square" lIns="0" tIns="0" rIns="0" bIns="0" rtlCol="0" anchor="t"/>
          <a:lstStyle/>
          <a:p>
            <a:pPr indent="0" marL="0">
              <a:buNone/>
            </a:pPr>
            <a:r>
              <a:rPr lang="en-US" sz="1300" dirty="0">
                <a:solidFill>
                  <a:srgbClr val="5B6B7F"/>
                </a:solidFill>
                <a:latin typeface="Calibri" pitchFamily="34" charset="0"/>
                <a:ea typeface="Calibri" pitchFamily="34" charset="-122"/>
                <a:cs typeface="Calibri" pitchFamily="34" charset="-120"/>
              </a:rPr>
              <a:t>Type de voyage, activités, budget déclarés</a:t>
            </a:r>
            <a:endParaRPr lang="en-US" sz="1300" dirty="0"/>
          </a:p>
        </p:txBody>
      </p:sp>
      <p:sp>
        <p:nvSpPr>
          <p:cNvPr id="15" name="Shape 11"/>
          <p:cNvSpPr/>
          <p:nvPr/>
        </p:nvSpPr>
        <p:spPr>
          <a:xfrm>
            <a:off x="3364992" y="2011680"/>
            <a:ext cx="2606040" cy="3017520"/>
          </a:xfrm>
          <a:prstGeom prst="roundRect">
            <a:avLst>
              <a:gd name="adj" fmla="val 4211"/>
            </a:avLst>
          </a:prstGeom>
          <a:solidFill>
            <a:srgbClr val="0A4A8C"/>
          </a:solidFill>
          <a:ln w="12700">
            <a:solidFill>
              <a:srgbClr val="0A4A8C"/>
            </a:solidFill>
            <a:prstDash val="solid"/>
          </a:ln>
          <a:effectLst>
            <a:outerShdw sx="100000" sy="100000" kx="0" ky="0" algn="bl" rotWithShape="0" blurRad="101600" dist="25400" dir="5400000">
              <a:srgbClr val="0A2540">
                <a:alpha val="12000"/>
              </a:srgbClr>
            </a:outerShdw>
          </a:effectLst>
        </p:spPr>
      </p:sp>
      <p:sp>
        <p:nvSpPr>
          <p:cNvPr id="16" name="Shape 12"/>
          <p:cNvSpPr/>
          <p:nvPr/>
        </p:nvSpPr>
        <p:spPr>
          <a:xfrm>
            <a:off x="3593592" y="2240280"/>
            <a:ext cx="685800" cy="685800"/>
          </a:xfrm>
          <a:prstGeom prst="ellipse">
            <a:avLst/>
          </a:prstGeom>
          <a:solidFill>
            <a:srgbClr val="F39200"/>
          </a:solidFill>
          <a:ln w="12700">
            <a:solidFill>
              <a:srgbClr val="F39200"/>
            </a:solidFill>
            <a:prstDash val="solid"/>
          </a:ln>
        </p:spPr>
      </p:sp>
      <p:pic>
        <p:nvPicPr>
          <p:cNvPr id="17" name="Image 2" descr="preencoded.png">    </p:cNvPr>
          <p:cNvPicPr>
            <a:picLocks noChangeAspect="1"/>
          </p:cNvPicPr>
          <p:nvPr/>
        </p:nvPicPr>
        <p:blipFill>
          <a:blip r:embed="rId3"/>
          <a:stretch>
            <a:fillRect/>
          </a:stretch>
        </p:blipFill>
        <p:spPr>
          <a:xfrm>
            <a:off x="3771900" y="2418588"/>
            <a:ext cx="329184" cy="329184"/>
          </a:xfrm>
          <a:prstGeom prst="rect">
            <a:avLst/>
          </a:prstGeom>
        </p:spPr>
      </p:pic>
      <p:sp>
        <p:nvSpPr>
          <p:cNvPr id="18" name="Text 13"/>
          <p:cNvSpPr txBox="1"/>
          <p:nvPr/>
        </p:nvSpPr>
        <p:spPr>
          <a:xfrm>
            <a:off x="4462272" y="2240280"/>
            <a:ext cx="1325880" cy="685800"/>
          </a:xfrm>
          <a:prstGeom prst="rect">
            <a:avLst/>
          </a:prstGeom>
          <a:noFill/>
          <a:ln/>
        </p:spPr>
        <p:txBody>
          <a:bodyPr wrap="square" lIns="0" tIns="0" rIns="0" bIns="0" rtlCol="0" anchor="ctr"/>
          <a:lstStyle/>
          <a:p>
            <a:pPr algn="r" indent="0" marL="0">
              <a:buNone/>
            </a:pPr>
            <a:r>
              <a:rPr lang="en-US" sz="3000" b="1" dirty="0">
                <a:solidFill>
                  <a:srgbClr val="FDB52B"/>
                </a:solidFill>
                <a:latin typeface="Cambria" pitchFamily="34" charset="0"/>
                <a:ea typeface="Cambria" pitchFamily="34" charset="-122"/>
                <a:cs typeface="Cambria" pitchFamily="34" charset="-120"/>
              </a:rPr>
              <a:t>50 %</a:t>
            </a:r>
            <a:endParaRPr lang="en-US" sz="3000" dirty="0"/>
          </a:p>
        </p:txBody>
      </p:sp>
      <p:sp>
        <p:nvSpPr>
          <p:cNvPr id="19" name="Text 14"/>
          <p:cNvSpPr txBox="1"/>
          <p:nvPr/>
        </p:nvSpPr>
        <p:spPr>
          <a:xfrm>
            <a:off x="3593592" y="3108960"/>
            <a:ext cx="2194560" cy="685800"/>
          </a:xfrm>
          <a:prstGeom prst="rect">
            <a:avLst/>
          </a:prstGeom>
          <a:noFill/>
          <a:ln/>
        </p:spPr>
        <p:txBody>
          <a:bodyPr wrap="square" lIns="0" tIns="0" rIns="0" bIns="0" rtlCol="0" anchor="t"/>
          <a:lstStyle/>
          <a:p>
            <a:pPr indent="0" marL="0">
              <a:buNone/>
            </a:pPr>
            <a:r>
              <a:rPr lang="en-US" sz="1800" b="1" dirty="0">
                <a:solidFill>
                  <a:srgbClr val="FFFFFF"/>
                </a:solidFill>
                <a:latin typeface="Cambria" pitchFamily="34" charset="0"/>
                <a:ea typeface="Cambria" pitchFamily="34" charset="-122"/>
                <a:cs typeface="Cambria" pitchFamily="34" charset="-120"/>
              </a:rPr>
              <a:t>L'expérience de l'agence</a:t>
            </a:r>
            <a:endParaRPr lang="en-US" sz="1800" dirty="0"/>
          </a:p>
        </p:txBody>
      </p:sp>
      <p:sp>
        <p:nvSpPr>
          <p:cNvPr id="20" name="Text 15"/>
          <p:cNvSpPr txBox="1"/>
          <p:nvPr/>
        </p:nvSpPr>
        <p:spPr>
          <a:xfrm>
            <a:off x="3593592" y="3840480"/>
            <a:ext cx="2194560" cy="1005840"/>
          </a:xfrm>
          <a:prstGeom prst="rect">
            <a:avLst/>
          </a:prstGeom>
          <a:noFill/>
          <a:ln/>
        </p:spPr>
        <p:txBody>
          <a:bodyPr wrap="square" lIns="0" tIns="0" rIns="0" bIns="0" rtlCol="0" anchor="t"/>
          <a:lstStyle/>
          <a:p>
            <a:pPr indent="0" marL="0">
              <a:buNone/>
            </a:pPr>
            <a:r>
              <a:rPr lang="en-US" sz="1300" dirty="0">
                <a:solidFill>
                  <a:srgbClr val="CFE3F5"/>
                </a:solidFill>
                <a:latin typeface="Calibri" pitchFamily="34" charset="0"/>
                <a:ea typeface="Calibri" pitchFamily="34" charset="-122"/>
                <a:cs typeface="Calibri" pitchFamily="34" charset="-120"/>
              </a:rPr>
              <a:t>Un modèle LightGBM apprend de milliers de réservations</a:t>
            </a:r>
            <a:endParaRPr lang="en-US" sz="1300" dirty="0"/>
          </a:p>
        </p:txBody>
      </p:sp>
      <p:sp>
        <p:nvSpPr>
          <p:cNvPr id="21" name="Shape 16"/>
          <p:cNvSpPr/>
          <p:nvPr/>
        </p:nvSpPr>
        <p:spPr>
          <a:xfrm>
            <a:off x="6181344" y="2011680"/>
            <a:ext cx="2606040" cy="3017520"/>
          </a:xfrm>
          <a:prstGeom prst="roundRect">
            <a:avLst>
              <a:gd name="adj" fmla="val 4211"/>
            </a:avLst>
          </a:prstGeom>
          <a:solidFill>
            <a:srgbClr val="EEF5FB"/>
          </a:solidFill>
          <a:ln w="12700">
            <a:solidFill>
              <a:srgbClr val="EEF5FB"/>
            </a:solidFill>
            <a:prstDash val="solid"/>
          </a:ln>
          <a:effectLst>
            <a:outerShdw sx="100000" sy="100000" kx="0" ky="0" algn="bl" rotWithShape="0" blurRad="101600" dist="25400" dir="5400000">
              <a:srgbClr val="0A2540">
                <a:alpha val="12000"/>
              </a:srgbClr>
            </a:outerShdw>
          </a:effectLst>
        </p:spPr>
      </p:sp>
      <p:sp>
        <p:nvSpPr>
          <p:cNvPr id="22" name="Shape 17"/>
          <p:cNvSpPr/>
          <p:nvPr/>
        </p:nvSpPr>
        <p:spPr>
          <a:xfrm>
            <a:off x="6409944" y="2240280"/>
            <a:ext cx="685800" cy="685800"/>
          </a:xfrm>
          <a:prstGeom prst="ellipse">
            <a:avLst/>
          </a:prstGeom>
          <a:solidFill>
            <a:srgbClr val="0A4A8C"/>
          </a:solidFill>
          <a:ln w="12700">
            <a:solidFill>
              <a:srgbClr val="0A4A8C"/>
            </a:solidFill>
            <a:prstDash val="solid"/>
          </a:ln>
        </p:spPr>
      </p:sp>
      <p:pic>
        <p:nvPicPr>
          <p:cNvPr id="23" name="Image 3" descr="preencoded.png">    </p:cNvPr>
          <p:cNvPicPr>
            <a:picLocks noChangeAspect="1"/>
          </p:cNvPicPr>
          <p:nvPr/>
        </p:nvPicPr>
        <p:blipFill>
          <a:blip r:embed="rId4"/>
          <a:stretch>
            <a:fillRect/>
          </a:stretch>
        </p:blipFill>
        <p:spPr>
          <a:xfrm>
            <a:off x="6588252" y="2418588"/>
            <a:ext cx="329184" cy="329184"/>
          </a:xfrm>
          <a:prstGeom prst="rect">
            <a:avLst/>
          </a:prstGeom>
        </p:spPr>
      </p:pic>
      <p:sp>
        <p:nvSpPr>
          <p:cNvPr id="24" name="Text 18"/>
          <p:cNvSpPr txBox="1"/>
          <p:nvPr/>
        </p:nvSpPr>
        <p:spPr>
          <a:xfrm>
            <a:off x="7278624" y="2240280"/>
            <a:ext cx="1325880" cy="685800"/>
          </a:xfrm>
          <a:prstGeom prst="rect">
            <a:avLst/>
          </a:prstGeom>
          <a:noFill/>
          <a:ln/>
        </p:spPr>
        <p:txBody>
          <a:bodyPr wrap="square" lIns="0" tIns="0" rIns="0" bIns="0" rtlCol="0" anchor="ctr"/>
          <a:lstStyle/>
          <a:p>
            <a:pPr algn="r" indent="0" marL="0">
              <a:buNone/>
            </a:pPr>
            <a:r>
              <a:rPr lang="en-US" sz="3000" b="1" dirty="0">
                <a:solidFill>
                  <a:srgbClr val="F39200"/>
                </a:solidFill>
                <a:latin typeface="Cambria" pitchFamily="34" charset="0"/>
                <a:ea typeface="Cambria" pitchFamily="34" charset="-122"/>
                <a:cs typeface="Cambria" pitchFamily="34" charset="-120"/>
              </a:rPr>
              <a:t>30 %</a:t>
            </a:r>
            <a:endParaRPr lang="en-US" sz="3000" dirty="0"/>
          </a:p>
        </p:txBody>
      </p:sp>
      <p:sp>
        <p:nvSpPr>
          <p:cNvPr id="25" name="Text 19"/>
          <p:cNvSpPr txBox="1"/>
          <p:nvPr/>
        </p:nvSpPr>
        <p:spPr>
          <a:xfrm>
            <a:off x="6409944" y="3108960"/>
            <a:ext cx="2194560" cy="685800"/>
          </a:xfrm>
          <a:prstGeom prst="rect">
            <a:avLst/>
          </a:prstGeom>
          <a:noFill/>
          <a:ln/>
        </p:spPr>
        <p:txBody>
          <a:bodyPr wrap="square" lIns="0" tIns="0" rIns="0" bIns="0" rtlCol="0" anchor="t"/>
          <a:lstStyle/>
          <a:p>
            <a:pPr indent="0" marL="0">
              <a:buNone/>
            </a:pPr>
            <a:r>
              <a:rPr lang="en-US" sz="1800" b="1" dirty="0">
                <a:solidFill>
                  <a:srgbClr val="0A4A8C"/>
                </a:solidFill>
                <a:latin typeface="Cambria" pitchFamily="34" charset="0"/>
                <a:ea typeface="Cambria" pitchFamily="34" charset="-122"/>
                <a:cs typeface="Cambria" pitchFamily="34" charset="-120"/>
              </a:rPr>
              <a:t>La popularité</a:t>
            </a:r>
            <a:endParaRPr lang="en-US" sz="1800" dirty="0"/>
          </a:p>
        </p:txBody>
      </p:sp>
      <p:sp>
        <p:nvSpPr>
          <p:cNvPr id="26" name="Text 20"/>
          <p:cNvSpPr txBox="1"/>
          <p:nvPr/>
        </p:nvSpPr>
        <p:spPr>
          <a:xfrm>
            <a:off x="6409944" y="3840480"/>
            <a:ext cx="2194560" cy="1005840"/>
          </a:xfrm>
          <a:prstGeom prst="rect">
            <a:avLst/>
          </a:prstGeom>
          <a:noFill/>
          <a:ln/>
        </p:spPr>
        <p:txBody>
          <a:bodyPr wrap="square" lIns="0" tIns="0" rIns="0" bIns="0" rtlCol="0" anchor="t"/>
          <a:lstStyle/>
          <a:p>
            <a:pPr indent="0" marL="0">
              <a:buNone/>
            </a:pPr>
            <a:r>
              <a:rPr lang="en-US" sz="1300" dirty="0">
                <a:solidFill>
                  <a:srgbClr val="5B6B7F"/>
                </a:solidFill>
                <a:latin typeface="Calibri" pitchFamily="34" charset="0"/>
                <a:ea typeface="Calibri" pitchFamily="34" charset="-122"/>
                <a:cs typeface="Calibri" pitchFamily="34" charset="-120"/>
              </a:rPr>
              <a:t>Les destinations les plus appréciées de la clientèle</a:t>
            </a:r>
            <a:endParaRPr lang="en-US" sz="1300" dirty="0"/>
          </a:p>
        </p:txBody>
      </p:sp>
      <p:sp>
        <p:nvSpPr>
          <p:cNvPr id="27" name="Shape 21"/>
          <p:cNvSpPr/>
          <p:nvPr/>
        </p:nvSpPr>
        <p:spPr>
          <a:xfrm>
            <a:off x="8997696" y="2011680"/>
            <a:ext cx="2606040" cy="3017520"/>
          </a:xfrm>
          <a:prstGeom prst="roundRect">
            <a:avLst>
              <a:gd name="adj" fmla="val 4211"/>
            </a:avLst>
          </a:prstGeom>
          <a:solidFill>
            <a:srgbClr val="F3F5F8"/>
          </a:solidFill>
          <a:ln w="12700">
            <a:solidFill>
              <a:srgbClr val="F3F5F8"/>
            </a:solidFill>
            <a:prstDash val="solid"/>
          </a:ln>
          <a:effectLst>
            <a:outerShdw sx="100000" sy="100000" kx="0" ky="0" algn="bl" rotWithShape="0" blurRad="101600" dist="25400" dir="5400000">
              <a:srgbClr val="0A2540">
                <a:alpha val="12000"/>
              </a:srgbClr>
            </a:outerShdw>
          </a:effectLst>
        </p:spPr>
      </p:sp>
      <p:sp>
        <p:nvSpPr>
          <p:cNvPr id="28" name="Shape 22"/>
          <p:cNvSpPr/>
          <p:nvPr/>
        </p:nvSpPr>
        <p:spPr>
          <a:xfrm>
            <a:off x="9226296" y="2240280"/>
            <a:ext cx="685800" cy="685800"/>
          </a:xfrm>
          <a:prstGeom prst="ellipse">
            <a:avLst/>
          </a:prstGeom>
          <a:solidFill>
            <a:srgbClr val="9AA8B8"/>
          </a:solidFill>
          <a:ln w="12700">
            <a:solidFill>
              <a:srgbClr val="9AA8B8"/>
            </a:solidFill>
            <a:prstDash val="solid"/>
          </a:ln>
        </p:spPr>
      </p:sp>
      <p:pic>
        <p:nvPicPr>
          <p:cNvPr id="29" name="Image 4" descr="preencoded.png">    </p:cNvPr>
          <p:cNvPicPr>
            <a:picLocks noChangeAspect="1"/>
          </p:cNvPicPr>
          <p:nvPr/>
        </p:nvPicPr>
        <p:blipFill>
          <a:blip r:embed="rId5"/>
          <a:stretch>
            <a:fillRect/>
          </a:stretch>
        </p:blipFill>
        <p:spPr>
          <a:xfrm>
            <a:off x="9404604" y="2418588"/>
            <a:ext cx="329184" cy="329184"/>
          </a:xfrm>
          <a:prstGeom prst="rect">
            <a:avLst/>
          </a:prstGeom>
        </p:spPr>
      </p:pic>
      <p:sp>
        <p:nvSpPr>
          <p:cNvPr id="30" name="Text 23"/>
          <p:cNvSpPr txBox="1"/>
          <p:nvPr/>
        </p:nvSpPr>
        <p:spPr>
          <a:xfrm>
            <a:off x="10094976" y="2240280"/>
            <a:ext cx="1325880" cy="685800"/>
          </a:xfrm>
          <a:prstGeom prst="rect">
            <a:avLst/>
          </a:prstGeom>
          <a:noFill/>
          <a:ln/>
        </p:spPr>
        <p:txBody>
          <a:bodyPr wrap="square" lIns="0" tIns="0" rIns="0" bIns="0" rtlCol="0" anchor="ctr"/>
          <a:lstStyle/>
          <a:p>
            <a:pPr algn="r" indent="0" marL="0">
              <a:buNone/>
            </a:pPr>
            <a:r>
              <a:rPr lang="en-US" sz="3000" b="1" dirty="0">
                <a:solidFill>
                  <a:srgbClr val="9AA8B8"/>
                </a:solidFill>
                <a:latin typeface="Cambria" pitchFamily="34" charset="0"/>
                <a:ea typeface="Cambria" pitchFamily="34" charset="-122"/>
                <a:cs typeface="Cambria" pitchFamily="34" charset="-120"/>
              </a:rPr>
              <a:t>0 %</a:t>
            </a:r>
            <a:endParaRPr lang="en-US" sz="3000" dirty="0"/>
          </a:p>
        </p:txBody>
      </p:sp>
      <p:sp>
        <p:nvSpPr>
          <p:cNvPr id="31" name="Text 24"/>
          <p:cNvSpPr txBox="1"/>
          <p:nvPr/>
        </p:nvSpPr>
        <p:spPr>
          <a:xfrm>
            <a:off x="9226296" y="3108960"/>
            <a:ext cx="2194560" cy="685800"/>
          </a:xfrm>
          <a:prstGeom prst="rect">
            <a:avLst/>
          </a:prstGeom>
          <a:noFill/>
          <a:ln/>
        </p:spPr>
        <p:txBody>
          <a:bodyPr wrap="square" lIns="0" tIns="0" rIns="0" bIns="0" rtlCol="0" anchor="t"/>
          <a:lstStyle/>
          <a:p>
            <a:pPr indent="0" marL="0">
              <a:buNone/>
            </a:pPr>
            <a:r>
              <a:rPr lang="en-US" sz="1800" b="1" dirty="0">
                <a:solidFill>
                  <a:srgbClr val="0A4A8C"/>
                </a:solidFill>
                <a:latin typeface="Cambria" pitchFamily="34" charset="0"/>
                <a:ea typeface="Cambria" pitchFamily="34" charset="-122"/>
                <a:cs typeface="Cambria" pitchFamily="34" charset="-120"/>
              </a:rPr>
              <a:t>Les clients similaires</a:t>
            </a:r>
            <a:endParaRPr lang="en-US" sz="1800" dirty="0"/>
          </a:p>
        </p:txBody>
      </p:sp>
      <p:sp>
        <p:nvSpPr>
          <p:cNvPr id="32" name="Text 25"/>
          <p:cNvSpPr txBox="1"/>
          <p:nvPr/>
        </p:nvSpPr>
        <p:spPr>
          <a:xfrm>
            <a:off x="9226296" y="3840480"/>
            <a:ext cx="2194560" cy="1005840"/>
          </a:xfrm>
          <a:prstGeom prst="rect">
            <a:avLst/>
          </a:prstGeom>
          <a:noFill/>
          <a:ln/>
        </p:spPr>
        <p:txBody>
          <a:bodyPr wrap="square" lIns="0" tIns="0" rIns="0" bIns="0" rtlCol="0" anchor="t"/>
          <a:lstStyle/>
          <a:p>
            <a:pPr indent="0" marL="0">
              <a:buNone/>
            </a:pPr>
            <a:r>
              <a:rPr lang="en-US" sz="1300" dirty="0">
                <a:solidFill>
                  <a:srgbClr val="5B6B7F"/>
                </a:solidFill>
                <a:latin typeface="Calibri" pitchFamily="34" charset="0"/>
                <a:ea typeface="Calibri" pitchFamily="34" charset="-122"/>
                <a:cs typeface="Calibri" pitchFamily="34" charset="-120"/>
              </a:rPr>
              <a:t>Testé, mais sans gain sur ces données</a:t>
            </a:r>
            <a:endParaRPr lang="en-US" sz="1300" dirty="0"/>
          </a:p>
        </p:txBody>
      </p:sp>
      <p:sp>
        <p:nvSpPr>
          <p:cNvPr id="33" name="Shape 26"/>
          <p:cNvSpPr/>
          <p:nvPr/>
        </p:nvSpPr>
        <p:spPr>
          <a:xfrm>
            <a:off x="548640" y="5303520"/>
            <a:ext cx="3566160" cy="822960"/>
          </a:xfrm>
          <a:prstGeom prst="roundRect">
            <a:avLst>
              <a:gd name="adj" fmla="val 13333"/>
            </a:avLst>
          </a:prstGeom>
          <a:solidFill>
            <a:srgbClr val="FEF6E4"/>
          </a:solidFill>
          <a:ln w="12700">
            <a:solidFill>
              <a:srgbClr val="FEF6E4"/>
            </a:solidFill>
            <a:prstDash val="solid"/>
          </a:ln>
        </p:spPr>
      </p:sp>
      <p:sp>
        <p:nvSpPr>
          <p:cNvPr id="34" name="Text 27"/>
          <p:cNvSpPr txBox="1"/>
          <p:nvPr/>
        </p:nvSpPr>
        <p:spPr>
          <a:xfrm>
            <a:off x="685800" y="5303520"/>
            <a:ext cx="3337560" cy="822960"/>
          </a:xfrm>
          <a:prstGeom prst="rect">
            <a:avLst/>
          </a:prstGeom>
          <a:noFill/>
          <a:ln/>
        </p:spPr>
        <p:txBody>
          <a:bodyPr wrap="square" lIns="0" tIns="0" rIns="0" bIns="0" rtlCol="0" anchor="ctr"/>
          <a:lstStyle/>
          <a:p>
            <a:pPr indent="0" marL="0">
              <a:buNone/>
            </a:pPr>
            <a:r>
              <a:rPr lang="en-US" sz="2600" b="1" dirty="0">
                <a:solidFill>
                  <a:srgbClr val="F39200"/>
                </a:solidFill>
                <a:latin typeface="Cambria" pitchFamily="34" charset="0"/>
                <a:ea typeface="Cambria" pitchFamily="34" charset="-122"/>
                <a:cs typeface="Cambria" pitchFamily="34" charset="-120"/>
              </a:rPr>
              <a:t>85 %  </a:t>
            </a:r>
            <a:pPr indent="0" marL="0">
              <a:buNone/>
            </a:pPr>
            <a:r>
              <a:rPr lang="en-US" sz="1200" dirty="0">
                <a:solidFill>
                  <a:srgbClr val="1B2A3A"/>
                </a:solidFill>
                <a:latin typeface="Calibri" pitchFamily="34" charset="0"/>
                <a:ea typeface="Calibri" pitchFamily="34" charset="-122"/>
                <a:cs typeface="Calibri" pitchFamily="34" charset="-120"/>
              </a:rPr>
              <a:t>des clients reçoivent au moins une bonne destination parmi 7</a:t>
            </a:r>
            <a:endParaRPr lang="en-US" sz="2600" dirty="0"/>
          </a:p>
        </p:txBody>
      </p:sp>
      <p:sp>
        <p:nvSpPr>
          <p:cNvPr id="35" name="Shape 28"/>
          <p:cNvSpPr/>
          <p:nvPr/>
        </p:nvSpPr>
        <p:spPr>
          <a:xfrm>
            <a:off x="4315968" y="5303520"/>
            <a:ext cx="3566160" cy="822960"/>
          </a:xfrm>
          <a:prstGeom prst="roundRect">
            <a:avLst>
              <a:gd name="adj" fmla="val 13333"/>
            </a:avLst>
          </a:prstGeom>
          <a:solidFill>
            <a:srgbClr val="EEF5FB"/>
          </a:solidFill>
          <a:ln w="12700">
            <a:solidFill>
              <a:srgbClr val="EEF5FB"/>
            </a:solidFill>
            <a:prstDash val="solid"/>
          </a:ln>
        </p:spPr>
      </p:sp>
      <p:sp>
        <p:nvSpPr>
          <p:cNvPr id="36" name="Text 29"/>
          <p:cNvSpPr txBox="1"/>
          <p:nvPr/>
        </p:nvSpPr>
        <p:spPr>
          <a:xfrm>
            <a:off x="4453128" y="5303520"/>
            <a:ext cx="3337560" cy="822960"/>
          </a:xfrm>
          <a:prstGeom prst="rect">
            <a:avLst/>
          </a:prstGeom>
          <a:noFill/>
          <a:ln/>
        </p:spPr>
        <p:txBody>
          <a:bodyPr wrap="square" lIns="0" tIns="0" rIns="0" bIns="0" rtlCol="0" anchor="ctr"/>
          <a:lstStyle/>
          <a:p>
            <a:pPr indent="0" marL="0">
              <a:buNone/>
            </a:pPr>
            <a:r>
              <a:rPr lang="en-US" sz="2600" b="1" dirty="0">
                <a:solidFill>
                  <a:srgbClr val="0A4A8C"/>
                </a:solidFill>
                <a:latin typeface="Cambria" pitchFamily="34" charset="0"/>
                <a:ea typeface="Cambria" pitchFamily="34" charset="-122"/>
                <a:cs typeface="Cambria" pitchFamily="34" charset="-120"/>
              </a:rPr>
              <a:t>7  </a:t>
            </a:r>
            <a:pPr indent="0" marL="0">
              <a:buNone/>
            </a:pPr>
            <a:r>
              <a:rPr lang="en-US" sz="1200" dirty="0">
                <a:solidFill>
                  <a:srgbClr val="1B2A3A"/>
                </a:solidFill>
                <a:latin typeface="Calibri" pitchFamily="34" charset="0"/>
                <a:ea typeface="Calibri" pitchFamily="34" charset="-122"/>
                <a:cs typeface="Calibri" pitchFamily="34" charset="-120"/>
              </a:rPr>
              <a:t>variantes comparées avant de retenir la meilleure</a:t>
            </a:r>
            <a:endParaRPr lang="en-US" sz="2600" dirty="0"/>
          </a:p>
        </p:txBody>
      </p:sp>
      <p:sp>
        <p:nvSpPr>
          <p:cNvPr id="37" name="Shape 30"/>
          <p:cNvSpPr/>
          <p:nvPr/>
        </p:nvSpPr>
        <p:spPr>
          <a:xfrm>
            <a:off x="8083296" y="5303520"/>
            <a:ext cx="3547872" cy="822960"/>
          </a:xfrm>
          <a:prstGeom prst="roundRect">
            <a:avLst>
              <a:gd name="adj" fmla="val 13333"/>
            </a:avLst>
          </a:prstGeom>
          <a:solidFill>
            <a:srgbClr val="FEF6E4"/>
          </a:solidFill>
          <a:ln w="12700">
            <a:solidFill>
              <a:srgbClr val="FEF6E4"/>
            </a:solidFill>
            <a:prstDash val="solid"/>
          </a:ln>
        </p:spPr>
      </p:sp>
      <p:sp>
        <p:nvSpPr>
          <p:cNvPr id="38" name="Text 31"/>
          <p:cNvSpPr txBox="1"/>
          <p:nvPr/>
        </p:nvSpPr>
        <p:spPr>
          <a:xfrm>
            <a:off x="8220456" y="5303520"/>
            <a:ext cx="3319272" cy="822960"/>
          </a:xfrm>
          <a:prstGeom prst="rect">
            <a:avLst/>
          </a:prstGeom>
          <a:noFill/>
          <a:ln/>
        </p:spPr>
        <p:txBody>
          <a:bodyPr wrap="square" lIns="0" tIns="0" rIns="0" bIns="0" rtlCol="0" anchor="ctr"/>
          <a:lstStyle/>
          <a:p>
            <a:pPr indent="0" marL="0">
              <a:buNone/>
            </a:pPr>
            <a:r>
              <a:rPr lang="en-US" sz="2000" b="1" dirty="0">
                <a:solidFill>
                  <a:srgbClr val="F39200"/>
                </a:solidFill>
                <a:latin typeface="Cambria" pitchFamily="34" charset="0"/>
                <a:ea typeface="Cambria" pitchFamily="34" charset="-122"/>
                <a:cs typeface="Cambria" pitchFamily="34" charset="-120"/>
              </a:rPr>
              <a:t>Objectif  </a:t>
            </a:r>
            <a:pPr indent="0" marL="0">
              <a:buNone/>
            </a:pPr>
            <a:r>
              <a:rPr lang="en-US" sz="1200" dirty="0">
                <a:solidFill>
                  <a:srgbClr val="1B2A3A"/>
                </a:solidFill>
                <a:latin typeface="Calibri" pitchFamily="34" charset="0"/>
                <a:ea typeface="Calibri" pitchFamily="34" charset="-122"/>
                <a:cs typeface="Calibri" pitchFamily="34" charset="-120"/>
              </a:rPr>
              <a:t>70 % fixé au départ : dépassé</a:t>
            </a:r>
            <a:endParaRPr lang="en-US" sz="2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772400" cy="274320"/>
          </a:xfrm>
          <a:prstGeom prst="rect">
            <a:avLst/>
          </a:prstGeom>
          <a:noFill/>
          <a:ln/>
        </p:spPr>
        <p:txBody>
          <a:bodyPr wrap="square" lIns="0" tIns="0" rIns="0" bIns="0" rtlCol="0" anchor="t"/>
          <a:lstStyle/>
          <a:p>
            <a:pPr indent="0" marL="0">
              <a:buNone/>
            </a:pPr>
            <a:r>
              <a:rPr lang="en-US" sz="1100" b="1" spc="200" kern="0" dirty="0">
                <a:solidFill>
                  <a:srgbClr val="F39200"/>
                </a:solidFill>
                <a:latin typeface="Calibri" pitchFamily="34" charset="0"/>
                <a:ea typeface="Calibri" pitchFamily="34" charset="-122"/>
                <a:cs typeface="Calibri" pitchFamily="34" charset="-120"/>
              </a:rPr>
              <a:t>INTELLIGENCE ARTIFICIELLE</a:t>
            </a:r>
            <a:endParaRPr lang="en-US" sz="1100" dirty="0"/>
          </a:p>
        </p:txBody>
      </p:sp>
      <p:sp>
        <p:nvSpPr>
          <p:cNvPr id="3" name="Text 1"/>
          <p:cNvSpPr txBox="1"/>
          <p:nvPr/>
        </p:nvSpPr>
        <p:spPr>
          <a:xfrm>
            <a:off x="548640" y="603504"/>
            <a:ext cx="9326880" cy="685800"/>
          </a:xfrm>
          <a:prstGeom prst="rect">
            <a:avLst/>
          </a:prstGeom>
          <a:noFill/>
          <a:ln/>
        </p:spPr>
        <p:txBody>
          <a:bodyPr wrap="square" lIns="0" tIns="0" rIns="0" bIns="0" rtlCol="0" anchor="ctr"/>
          <a:lstStyle/>
          <a:p>
            <a:pPr indent="0" marL="0">
              <a:buNone/>
            </a:pPr>
            <a:r>
              <a:rPr lang="en-US" sz="3000" b="1" dirty="0">
                <a:solidFill>
                  <a:srgbClr val="0A4A8C"/>
                </a:solidFill>
                <a:latin typeface="Cambria" pitchFamily="34" charset="0"/>
                <a:ea typeface="Cambria" pitchFamily="34" charset="-122"/>
                <a:cs typeface="Cambria" pitchFamily="34" charset="-120"/>
              </a:rPr>
              <a:t>Fonctionnalités avancées</a:t>
            </a:r>
            <a:endParaRPr lang="en-US" sz="3000" dirty="0"/>
          </a:p>
        </p:txBody>
      </p:sp>
      <p:pic>
        <p:nvPicPr>
          <p:cNvPr id="4" name="Image 0" descr="assets/logo_sunny.png">    </p:cNvPr>
          <p:cNvPicPr>
            <a:picLocks noChangeAspect="1"/>
          </p:cNvPicPr>
          <p:nvPr/>
        </p:nvPicPr>
        <p:blipFill>
          <a:blip r:embed="rId1"/>
          <a:stretch>
            <a:fillRect/>
          </a:stretch>
        </p:blipFill>
        <p:spPr>
          <a:xfrm>
            <a:off x="10012680" y="481366"/>
            <a:ext cx="1691640" cy="372291"/>
          </a:xfrm>
          <a:prstGeom prst="rect">
            <a:avLst/>
          </a:prstGeom>
        </p:spPr>
      </p:pic>
      <p:sp>
        <p:nvSpPr>
          <p:cNvPr id="5" name="Text 2"/>
          <p:cNvSpPr txBox="1"/>
          <p:nvPr/>
        </p:nvSpPr>
        <p:spPr>
          <a:xfrm>
            <a:off x="548640" y="6428232"/>
            <a:ext cx="7315200" cy="228600"/>
          </a:xfrm>
          <a:prstGeom prst="rect">
            <a:avLst/>
          </a:prstGeom>
          <a:noFill/>
          <a:ln/>
        </p:spPr>
        <p:txBody>
          <a:bodyPr wrap="square" lIns="0" tIns="0" rIns="0" bIns="0" rtlCol="0" anchor="t"/>
          <a:lstStyle/>
          <a:p>
            <a:pPr indent="0" marL="0">
              <a:buNone/>
            </a:pPr>
            <a:r>
              <a:rPr lang="en-US" sz="900" dirty="0">
                <a:solidFill>
                  <a:srgbClr val="5B6B7F"/>
                </a:solidFill>
                <a:latin typeface="Calibri" pitchFamily="34" charset="0"/>
                <a:ea typeface="Calibri" pitchFamily="34" charset="-122"/>
                <a:cs typeface="Calibri" pitchFamily="34" charset="-120"/>
              </a:rPr>
              <a:t>Ranim Nabi  ·  PFE ESPRIT 2025-2026  ·  2 Go Sunny Tunisia Trip</a:t>
            </a:r>
            <a:endParaRPr lang="en-US" sz="900" dirty="0"/>
          </a:p>
        </p:txBody>
      </p:sp>
      <p:sp>
        <p:nvSpPr>
          <p:cNvPr id="6" name="Shape 3"/>
          <p:cNvSpPr/>
          <p:nvPr/>
        </p:nvSpPr>
        <p:spPr>
          <a:xfrm>
            <a:off x="11320272" y="6364224"/>
            <a:ext cx="347472" cy="347472"/>
          </a:xfrm>
          <a:prstGeom prst="ellipse">
            <a:avLst/>
          </a:prstGeom>
          <a:solidFill>
            <a:srgbClr val="F39200"/>
          </a:solidFill>
          <a:ln w="12700">
            <a:solidFill>
              <a:srgbClr val="F39200"/>
            </a:solidFill>
            <a:prstDash val="solid"/>
          </a:ln>
        </p:spPr>
      </p:sp>
      <p:sp>
        <p:nvSpPr>
          <p:cNvPr id="7" name="Text 4"/>
          <p:cNvSpPr txBox="1"/>
          <p:nvPr/>
        </p:nvSpPr>
        <p:spPr>
          <a:xfrm>
            <a:off x="11320272" y="6364224"/>
            <a:ext cx="347472"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18</a:t>
            </a:r>
            <a:endParaRPr lang="en-US" sz="1000" dirty="0"/>
          </a:p>
        </p:txBody>
      </p:sp>
      <p:sp>
        <p:nvSpPr>
          <p:cNvPr id="8" name="Shape 5"/>
          <p:cNvSpPr/>
          <p:nvPr/>
        </p:nvSpPr>
        <p:spPr>
          <a:xfrm>
            <a:off x="548640" y="1463040"/>
            <a:ext cx="6675120" cy="3657600"/>
          </a:xfrm>
          <a:prstGeom prst="roundRect">
            <a:avLst>
              <a:gd name="adj" fmla="val 3000"/>
            </a:avLst>
          </a:prstGeom>
          <a:solidFill>
            <a:srgbClr val="FFFFFF"/>
          </a:solidFill>
          <a:ln w="12700">
            <a:solidFill>
              <a:srgbClr val="D5E3F0"/>
            </a:solidFill>
            <a:prstDash val="solid"/>
          </a:ln>
          <a:effectLst>
            <a:outerShdw sx="100000" sy="100000" kx="0" ky="0" algn="bl" rotWithShape="0" blurRad="101600" dist="25400" dir="5400000">
              <a:srgbClr val="0A2540">
                <a:alpha val="12000"/>
              </a:srgbClr>
            </a:outerShdw>
          </a:effectLst>
        </p:spPr>
      </p:sp>
      <p:pic>
        <p:nvPicPr>
          <p:cNvPr id="9" name="Image 1" descr="assets/app-recommandations.jpg">    </p:cNvPr>
          <p:cNvPicPr>
            <a:picLocks noChangeAspect="1"/>
          </p:cNvPicPr>
          <p:nvPr/>
        </p:nvPicPr>
        <p:blipFill>
          <a:blip r:embed="rId2"/>
          <a:stretch>
            <a:fillRect/>
          </a:stretch>
        </p:blipFill>
        <p:spPr>
          <a:xfrm>
            <a:off x="640080" y="1563739"/>
            <a:ext cx="6492240" cy="3456203"/>
          </a:xfrm>
          <a:prstGeom prst="rect">
            <a:avLst/>
          </a:prstGeom>
        </p:spPr>
      </p:pic>
      <p:sp>
        <p:nvSpPr>
          <p:cNvPr id="10" name="Shape 6"/>
          <p:cNvSpPr/>
          <p:nvPr/>
        </p:nvSpPr>
        <p:spPr>
          <a:xfrm>
            <a:off x="7498080" y="1463040"/>
            <a:ext cx="4133088" cy="1024128"/>
          </a:xfrm>
          <a:prstGeom prst="roundRect">
            <a:avLst>
              <a:gd name="adj" fmla="val 10714"/>
            </a:avLst>
          </a:prstGeom>
          <a:solidFill>
            <a:srgbClr val="EEF5FB"/>
          </a:solidFill>
          <a:ln w="12700">
            <a:solidFill>
              <a:srgbClr val="EEF5FB"/>
            </a:solidFill>
            <a:prstDash val="solid"/>
          </a:ln>
        </p:spPr>
      </p:sp>
      <p:sp>
        <p:nvSpPr>
          <p:cNvPr id="11" name="Shape 7"/>
          <p:cNvSpPr/>
          <p:nvPr/>
        </p:nvSpPr>
        <p:spPr>
          <a:xfrm>
            <a:off x="7635240" y="1645920"/>
            <a:ext cx="566928" cy="566928"/>
          </a:xfrm>
          <a:prstGeom prst="ellipse">
            <a:avLst/>
          </a:prstGeom>
          <a:solidFill>
            <a:srgbClr val="0A4A8C"/>
          </a:solidFill>
          <a:ln w="12700">
            <a:solidFill>
              <a:srgbClr val="0A4A8C"/>
            </a:solidFill>
            <a:prstDash val="solid"/>
          </a:ln>
        </p:spPr>
      </p:sp>
      <p:pic>
        <p:nvPicPr>
          <p:cNvPr id="12" name="Image 2" descr="preencoded.png">    </p:cNvPr>
          <p:cNvPicPr>
            <a:picLocks noChangeAspect="1"/>
          </p:cNvPicPr>
          <p:nvPr/>
        </p:nvPicPr>
        <p:blipFill>
          <a:blip r:embed="rId3"/>
          <a:stretch>
            <a:fillRect/>
          </a:stretch>
        </p:blipFill>
        <p:spPr>
          <a:xfrm>
            <a:off x="7782641" y="1793321"/>
            <a:ext cx="272125" cy="272125"/>
          </a:xfrm>
          <a:prstGeom prst="rect">
            <a:avLst/>
          </a:prstGeom>
        </p:spPr>
      </p:pic>
      <p:sp>
        <p:nvSpPr>
          <p:cNvPr id="13" name="Text 8"/>
          <p:cNvSpPr txBox="1"/>
          <p:nvPr/>
        </p:nvSpPr>
        <p:spPr>
          <a:xfrm>
            <a:off x="8321040" y="1554480"/>
            <a:ext cx="3200400" cy="320040"/>
          </a:xfrm>
          <a:prstGeom prst="rect">
            <a:avLst/>
          </a:prstGeom>
          <a:noFill/>
          <a:ln/>
        </p:spPr>
        <p:txBody>
          <a:bodyPr wrap="square" lIns="0" tIns="0" rIns="0" bIns="0" rtlCol="0" anchor="t"/>
          <a:lstStyle/>
          <a:p>
            <a:pPr indent="0" marL="0">
              <a:buNone/>
            </a:pPr>
            <a:r>
              <a:rPr lang="en-US" sz="1400" b="1" dirty="0">
                <a:solidFill>
                  <a:srgbClr val="0A4A8C"/>
                </a:solidFill>
                <a:latin typeface="Calibri" pitchFamily="34" charset="0"/>
                <a:ea typeface="Calibri" pitchFamily="34" charset="-122"/>
                <a:cs typeface="Calibri" pitchFamily="34" charset="-120"/>
              </a:rPr>
              <a:t>Nouveau client</a:t>
            </a:r>
            <a:endParaRPr lang="en-US" sz="1400" dirty="0"/>
          </a:p>
        </p:txBody>
      </p:sp>
      <p:sp>
        <p:nvSpPr>
          <p:cNvPr id="14" name="Text 9"/>
          <p:cNvSpPr txBox="1"/>
          <p:nvPr/>
        </p:nvSpPr>
        <p:spPr>
          <a:xfrm>
            <a:off x="8321040" y="1874520"/>
            <a:ext cx="3200400" cy="566928"/>
          </a:xfrm>
          <a:prstGeom prst="rect">
            <a:avLst/>
          </a:prstGeom>
          <a:noFill/>
          <a:ln/>
        </p:spPr>
        <p:txBody>
          <a:bodyPr wrap="square" lIns="0" tIns="0" rIns="0" bIns="0" rtlCol="0" anchor="t"/>
          <a:lstStyle/>
          <a:p>
            <a:pPr indent="0" marL="0">
              <a:buNone/>
            </a:pPr>
            <a:r>
              <a:rPr lang="en-US" sz="1100" dirty="0">
                <a:solidFill>
                  <a:srgbClr val="5B6B7F"/>
                </a:solidFill>
                <a:latin typeface="Calibri" pitchFamily="34" charset="0"/>
                <a:ea typeface="Calibri" pitchFamily="34" charset="-122"/>
                <a:cs typeface="Calibri" pitchFamily="34" charset="-120"/>
              </a:rPr>
              <a:t>Des propositions dès la première visite, à partir de ses seules préférences</a:t>
            </a:r>
            <a:endParaRPr lang="en-US" sz="1100" dirty="0"/>
          </a:p>
        </p:txBody>
      </p:sp>
      <p:sp>
        <p:nvSpPr>
          <p:cNvPr id="15" name="Shape 10"/>
          <p:cNvSpPr/>
          <p:nvPr/>
        </p:nvSpPr>
        <p:spPr>
          <a:xfrm>
            <a:off x="7498080" y="2633472"/>
            <a:ext cx="4133088" cy="1024128"/>
          </a:xfrm>
          <a:prstGeom prst="roundRect">
            <a:avLst>
              <a:gd name="adj" fmla="val 10714"/>
            </a:avLst>
          </a:prstGeom>
          <a:solidFill>
            <a:srgbClr val="FEF6E4"/>
          </a:solidFill>
          <a:ln w="12700">
            <a:solidFill>
              <a:srgbClr val="FEF6E4"/>
            </a:solidFill>
            <a:prstDash val="solid"/>
          </a:ln>
        </p:spPr>
      </p:sp>
      <p:sp>
        <p:nvSpPr>
          <p:cNvPr id="16" name="Shape 11"/>
          <p:cNvSpPr/>
          <p:nvPr/>
        </p:nvSpPr>
        <p:spPr>
          <a:xfrm>
            <a:off x="7635240" y="2816352"/>
            <a:ext cx="566928" cy="566928"/>
          </a:xfrm>
          <a:prstGeom prst="ellipse">
            <a:avLst/>
          </a:prstGeom>
          <a:solidFill>
            <a:srgbClr val="F39200"/>
          </a:solidFill>
          <a:ln w="12700">
            <a:solidFill>
              <a:srgbClr val="F39200"/>
            </a:solidFill>
            <a:prstDash val="solid"/>
          </a:ln>
        </p:spPr>
      </p:sp>
      <p:pic>
        <p:nvPicPr>
          <p:cNvPr id="17" name="Image 3" descr="preencoded.png">    </p:cNvPr>
          <p:cNvPicPr>
            <a:picLocks noChangeAspect="1"/>
          </p:cNvPicPr>
          <p:nvPr/>
        </p:nvPicPr>
        <p:blipFill>
          <a:blip r:embed="rId4"/>
          <a:stretch>
            <a:fillRect/>
          </a:stretch>
        </p:blipFill>
        <p:spPr>
          <a:xfrm>
            <a:off x="7782641" y="2963753"/>
            <a:ext cx="272125" cy="272125"/>
          </a:xfrm>
          <a:prstGeom prst="rect">
            <a:avLst/>
          </a:prstGeom>
        </p:spPr>
      </p:pic>
      <p:sp>
        <p:nvSpPr>
          <p:cNvPr id="18" name="Text 12"/>
          <p:cNvSpPr txBox="1"/>
          <p:nvPr/>
        </p:nvSpPr>
        <p:spPr>
          <a:xfrm>
            <a:off x="8321040" y="2724912"/>
            <a:ext cx="3200400" cy="320040"/>
          </a:xfrm>
          <a:prstGeom prst="rect">
            <a:avLst/>
          </a:prstGeom>
          <a:noFill/>
          <a:ln/>
        </p:spPr>
        <p:txBody>
          <a:bodyPr wrap="square" lIns="0" tIns="0" rIns="0" bIns="0" rtlCol="0" anchor="t"/>
          <a:lstStyle/>
          <a:p>
            <a:pPr indent="0" marL="0">
              <a:buNone/>
            </a:pPr>
            <a:r>
              <a:rPr lang="en-US" sz="1400" b="1" dirty="0">
                <a:solidFill>
                  <a:srgbClr val="0A4A8C"/>
                </a:solidFill>
                <a:latin typeface="Calibri" pitchFamily="34" charset="0"/>
                <a:ea typeface="Calibri" pitchFamily="34" charset="-122"/>
                <a:cs typeface="Calibri" pitchFamily="34" charset="-120"/>
              </a:rPr>
              <a:t>Recommandation expliquée</a:t>
            </a:r>
            <a:endParaRPr lang="en-US" sz="1400" dirty="0"/>
          </a:p>
        </p:txBody>
      </p:sp>
      <p:sp>
        <p:nvSpPr>
          <p:cNvPr id="19" name="Text 13"/>
          <p:cNvSpPr txBox="1"/>
          <p:nvPr/>
        </p:nvSpPr>
        <p:spPr>
          <a:xfrm>
            <a:off x="8321040" y="3044952"/>
            <a:ext cx="3200400" cy="566928"/>
          </a:xfrm>
          <a:prstGeom prst="rect">
            <a:avLst/>
          </a:prstGeom>
          <a:noFill/>
          <a:ln/>
        </p:spPr>
        <p:txBody>
          <a:bodyPr wrap="square" lIns="0" tIns="0" rIns="0" bIns="0" rtlCol="0" anchor="t"/>
          <a:lstStyle/>
          <a:p>
            <a:pPr indent="0" marL="0">
              <a:buNone/>
            </a:pPr>
            <a:r>
              <a:rPr lang="en-US" sz="1100" dirty="0">
                <a:solidFill>
                  <a:srgbClr val="5B6B7F"/>
                </a:solidFill>
                <a:latin typeface="Calibri" pitchFamily="34" charset="0"/>
                <a:ea typeface="Calibri" pitchFamily="34" charset="-122"/>
                <a:cs typeface="Calibri" pitchFamily="34" charset="-120"/>
              </a:rPr>
              <a:t>« Correspond à votre budget », « activités que vous aimez » : un argument de vente prêt à l'emploi</a:t>
            </a:r>
            <a:endParaRPr lang="en-US" sz="1100" dirty="0"/>
          </a:p>
        </p:txBody>
      </p:sp>
      <p:sp>
        <p:nvSpPr>
          <p:cNvPr id="20" name="Shape 14"/>
          <p:cNvSpPr/>
          <p:nvPr/>
        </p:nvSpPr>
        <p:spPr>
          <a:xfrm>
            <a:off x="7498080" y="3803904"/>
            <a:ext cx="4133088" cy="1024128"/>
          </a:xfrm>
          <a:prstGeom prst="roundRect">
            <a:avLst>
              <a:gd name="adj" fmla="val 10714"/>
            </a:avLst>
          </a:prstGeom>
          <a:solidFill>
            <a:srgbClr val="EEF5FB"/>
          </a:solidFill>
          <a:ln w="12700">
            <a:solidFill>
              <a:srgbClr val="EEF5FB"/>
            </a:solidFill>
            <a:prstDash val="solid"/>
          </a:ln>
        </p:spPr>
      </p:sp>
      <p:sp>
        <p:nvSpPr>
          <p:cNvPr id="21" name="Shape 15"/>
          <p:cNvSpPr/>
          <p:nvPr/>
        </p:nvSpPr>
        <p:spPr>
          <a:xfrm>
            <a:off x="7635240" y="3986784"/>
            <a:ext cx="566928" cy="566928"/>
          </a:xfrm>
          <a:prstGeom prst="ellipse">
            <a:avLst/>
          </a:prstGeom>
          <a:solidFill>
            <a:srgbClr val="0A4A8C"/>
          </a:solidFill>
          <a:ln w="12700">
            <a:solidFill>
              <a:srgbClr val="0A4A8C"/>
            </a:solidFill>
            <a:prstDash val="solid"/>
          </a:ln>
        </p:spPr>
      </p:sp>
      <p:pic>
        <p:nvPicPr>
          <p:cNvPr id="22" name="Image 4" descr="preencoded.png">    </p:cNvPr>
          <p:cNvPicPr>
            <a:picLocks noChangeAspect="1"/>
          </p:cNvPicPr>
          <p:nvPr/>
        </p:nvPicPr>
        <p:blipFill>
          <a:blip r:embed="rId5"/>
          <a:stretch>
            <a:fillRect/>
          </a:stretch>
        </p:blipFill>
        <p:spPr>
          <a:xfrm>
            <a:off x="7782641" y="4134185"/>
            <a:ext cx="272125" cy="272125"/>
          </a:xfrm>
          <a:prstGeom prst="rect">
            <a:avLst/>
          </a:prstGeom>
        </p:spPr>
      </p:pic>
      <p:sp>
        <p:nvSpPr>
          <p:cNvPr id="23" name="Text 16"/>
          <p:cNvSpPr txBox="1"/>
          <p:nvPr/>
        </p:nvSpPr>
        <p:spPr>
          <a:xfrm>
            <a:off x="8321040" y="3895344"/>
            <a:ext cx="3200400" cy="320040"/>
          </a:xfrm>
          <a:prstGeom prst="rect">
            <a:avLst/>
          </a:prstGeom>
          <a:noFill/>
          <a:ln/>
        </p:spPr>
        <p:txBody>
          <a:bodyPr wrap="square" lIns="0" tIns="0" rIns="0" bIns="0" rtlCol="0" anchor="t"/>
          <a:lstStyle/>
          <a:p>
            <a:pPr indent="0" marL="0">
              <a:buNone/>
            </a:pPr>
            <a:r>
              <a:rPr lang="en-US" sz="1400" b="1" dirty="0">
                <a:solidFill>
                  <a:srgbClr val="0A4A8C"/>
                </a:solidFill>
                <a:latin typeface="Calibri" pitchFamily="34" charset="0"/>
                <a:ea typeface="Calibri" pitchFamily="34" charset="-122"/>
                <a:cs typeface="Calibri" pitchFamily="34" charset="-120"/>
              </a:rPr>
              <a:t>Profils de clients</a:t>
            </a:r>
            <a:endParaRPr lang="en-US" sz="1400" dirty="0"/>
          </a:p>
        </p:txBody>
      </p:sp>
      <p:sp>
        <p:nvSpPr>
          <p:cNvPr id="24" name="Text 17"/>
          <p:cNvSpPr txBox="1"/>
          <p:nvPr/>
        </p:nvSpPr>
        <p:spPr>
          <a:xfrm>
            <a:off x="8321040" y="4215384"/>
            <a:ext cx="3200400" cy="566928"/>
          </a:xfrm>
          <a:prstGeom prst="rect">
            <a:avLst/>
          </a:prstGeom>
          <a:noFill/>
          <a:ln/>
        </p:spPr>
        <p:txBody>
          <a:bodyPr wrap="square" lIns="0" tIns="0" rIns="0" bIns="0" rtlCol="0" anchor="t"/>
          <a:lstStyle/>
          <a:p>
            <a:pPr indent="0" marL="0">
              <a:buNone/>
            </a:pPr>
            <a:r>
              <a:rPr lang="en-US" sz="1100" dirty="0">
                <a:solidFill>
                  <a:srgbClr val="5B6B7F"/>
                </a:solidFill>
                <a:latin typeface="Calibri" pitchFamily="34" charset="0"/>
                <a:ea typeface="Calibri" pitchFamily="34" charset="-122"/>
                <a:cs typeface="Calibri" pitchFamily="34" charset="-120"/>
              </a:rPr>
              <a:t>Fidèles à choyer, inactifs à relancer, clients à risque d'annulation</a:t>
            </a:r>
            <a:endParaRPr lang="en-US" sz="1100" dirty="0"/>
          </a:p>
        </p:txBody>
      </p:sp>
      <p:sp>
        <p:nvSpPr>
          <p:cNvPr id="25" name="Shape 18"/>
          <p:cNvSpPr/>
          <p:nvPr/>
        </p:nvSpPr>
        <p:spPr>
          <a:xfrm>
            <a:off x="7498080" y="4974336"/>
            <a:ext cx="4133088" cy="1024128"/>
          </a:xfrm>
          <a:prstGeom prst="roundRect">
            <a:avLst>
              <a:gd name="adj" fmla="val 10714"/>
            </a:avLst>
          </a:prstGeom>
          <a:solidFill>
            <a:srgbClr val="FEF6E4"/>
          </a:solidFill>
          <a:ln w="12700">
            <a:solidFill>
              <a:srgbClr val="FEF6E4"/>
            </a:solidFill>
            <a:prstDash val="solid"/>
          </a:ln>
        </p:spPr>
      </p:sp>
      <p:sp>
        <p:nvSpPr>
          <p:cNvPr id="26" name="Shape 19"/>
          <p:cNvSpPr/>
          <p:nvPr/>
        </p:nvSpPr>
        <p:spPr>
          <a:xfrm>
            <a:off x="7635240" y="5157216"/>
            <a:ext cx="566928" cy="566928"/>
          </a:xfrm>
          <a:prstGeom prst="ellipse">
            <a:avLst/>
          </a:prstGeom>
          <a:solidFill>
            <a:srgbClr val="F39200"/>
          </a:solidFill>
          <a:ln w="12700">
            <a:solidFill>
              <a:srgbClr val="F39200"/>
            </a:solidFill>
            <a:prstDash val="solid"/>
          </a:ln>
        </p:spPr>
      </p:sp>
      <p:pic>
        <p:nvPicPr>
          <p:cNvPr id="27" name="Image 5" descr="preencoded.png">    </p:cNvPr>
          <p:cNvPicPr>
            <a:picLocks noChangeAspect="1"/>
          </p:cNvPicPr>
          <p:nvPr/>
        </p:nvPicPr>
        <p:blipFill>
          <a:blip r:embed="rId6"/>
          <a:stretch>
            <a:fillRect/>
          </a:stretch>
        </p:blipFill>
        <p:spPr>
          <a:xfrm>
            <a:off x="7782641" y="5304617"/>
            <a:ext cx="272125" cy="272125"/>
          </a:xfrm>
          <a:prstGeom prst="rect">
            <a:avLst/>
          </a:prstGeom>
        </p:spPr>
      </p:pic>
      <p:sp>
        <p:nvSpPr>
          <p:cNvPr id="28" name="Text 20"/>
          <p:cNvSpPr txBox="1"/>
          <p:nvPr/>
        </p:nvSpPr>
        <p:spPr>
          <a:xfrm>
            <a:off x="8321040" y="5065776"/>
            <a:ext cx="3200400" cy="320040"/>
          </a:xfrm>
          <a:prstGeom prst="rect">
            <a:avLst/>
          </a:prstGeom>
          <a:noFill/>
          <a:ln/>
        </p:spPr>
        <p:txBody>
          <a:bodyPr wrap="square" lIns="0" tIns="0" rIns="0" bIns="0" rtlCol="0" anchor="t"/>
          <a:lstStyle/>
          <a:p>
            <a:pPr indent="0" marL="0">
              <a:buNone/>
            </a:pPr>
            <a:r>
              <a:rPr lang="en-US" sz="1400" b="1" dirty="0">
                <a:solidFill>
                  <a:srgbClr val="0A4A8C"/>
                </a:solidFill>
                <a:latin typeface="Calibri" pitchFamily="34" charset="0"/>
                <a:ea typeface="Calibri" pitchFamily="34" charset="-122"/>
                <a:cs typeface="Calibri" pitchFamily="34" charset="-120"/>
              </a:rPr>
              <a:t>Power BI intégré</a:t>
            </a:r>
            <a:endParaRPr lang="en-US" sz="1400" dirty="0"/>
          </a:p>
        </p:txBody>
      </p:sp>
      <p:sp>
        <p:nvSpPr>
          <p:cNvPr id="29" name="Text 21"/>
          <p:cNvSpPr txBox="1"/>
          <p:nvPr/>
        </p:nvSpPr>
        <p:spPr>
          <a:xfrm>
            <a:off x="8321040" y="5385816"/>
            <a:ext cx="3200400" cy="566928"/>
          </a:xfrm>
          <a:prstGeom prst="rect">
            <a:avLst/>
          </a:prstGeom>
          <a:noFill/>
          <a:ln/>
        </p:spPr>
        <p:txBody>
          <a:bodyPr wrap="square" lIns="0" tIns="0" rIns="0" bIns="0" rtlCol="0" anchor="t"/>
          <a:lstStyle/>
          <a:p>
            <a:pPr indent="0" marL="0">
              <a:buNone/>
            </a:pPr>
            <a:r>
              <a:rPr lang="en-US" sz="1100" dirty="0">
                <a:solidFill>
                  <a:srgbClr val="5B6B7F"/>
                </a:solidFill>
                <a:latin typeface="Calibri" pitchFamily="34" charset="0"/>
                <a:ea typeface="Calibri" pitchFamily="34" charset="-122"/>
                <a:cs typeface="Calibri" pitchFamily="34" charset="-120"/>
              </a:rPr>
              <a:t>Les rapports s'ouvrent directement dans l'application</a:t>
            </a:r>
            <a:endParaRPr lang="en-US" sz="1100" dirty="0"/>
          </a:p>
        </p:txBody>
      </p:sp>
      <p:sp>
        <p:nvSpPr>
          <p:cNvPr id="30" name="Shape 22"/>
          <p:cNvSpPr/>
          <p:nvPr/>
        </p:nvSpPr>
        <p:spPr>
          <a:xfrm>
            <a:off x="548640" y="5349240"/>
            <a:ext cx="6675120" cy="777240"/>
          </a:xfrm>
          <a:prstGeom prst="roundRect">
            <a:avLst>
              <a:gd name="adj" fmla="val 14118"/>
            </a:avLst>
          </a:prstGeom>
          <a:solidFill>
            <a:srgbClr val="0A4A8C"/>
          </a:solidFill>
          <a:ln w="12700">
            <a:solidFill>
              <a:srgbClr val="0A4A8C"/>
            </a:solidFill>
            <a:prstDash val="solid"/>
          </a:ln>
        </p:spPr>
      </p:sp>
      <p:sp>
        <p:nvSpPr>
          <p:cNvPr id="31" name="Text 23"/>
          <p:cNvSpPr txBox="1"/>
          <p:nvPr/>
        </p:nvSpPr>
        <p:spPr>
          <a:xfrm>
            <a:off x="777240" y="5349240"/>
            <a:ext cx="6309360" cy="777240"/>
          </a:xfrm>
          <a:prstGeom prst="rect">
            <a:avLst/>
          </a:prstGeom>
          <a:noFill/>
          <a:ln/>
        </p:spPr>
        <p:txBody>
          <a:bodyPr wrap="square" lIns="0" tIns="0" rIns="0" bIns="0" rtlCol="0" anchor="ctr"/>
          <a:lstStyle/>
          <a:p>
            <a:pPr indent="0" marL="0">
              <a:buNone/>
            </a:pPr>
            <a:r>
              <a:rPr lang="en-US" sz="1300" b="1" dirty="0">
                <a:solidFill>
                  <a:srgbClr val="FDB52B"/>
                </a:solidFill>
                <a:latin typeface="Calibri" pitchFamily="34" charset="0"/>
                <a:ea typeface="Calibri" pitchFamily="34" charset="-122"/>
                <a:cs typeface="Calibri" pitchFamily="34" charset="-120"/>
              </a:rPr>
              <a:t>Fiable : </a:t>
            </a:r>
            <a:pPr indent="0" marL="0">
              <a:buNone/>
            </a:pPr>
            <a:r>
              <a:rPr lang="en-US" sz="1300" dirty="0">
                <a:solidFill>
                  <a:srgbClr val="FFFFFF"/>
                </a:solidFill>
                <a:latin typeface="Calibri" pitchFamily="34" charset="0"/>
                <a:ea typeface="Calibri" pitchFamily="34" charset="-122"/>
                <a:cs typeface="Calibri" pitchFamily="34" charset="-120"/>
              </a:rPr>
              <a:t>l'application reproduit exactement les résultats validés (40 clients de contrôle sur 40)</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457200"/>
            <a:ext cx="7315200" cy="274320"/>
          </a:xfrm>
          <a:prstGeom prst="rect">
            <a:avLst/>
          </a:prstGeom>
          <a:noFill/>
          <a:ln/>
        </p:spPr>
        <p:txBody>
          <a:bodyPr wrap="square" lIns="0" tIns="0" rIns="0" bIns="0" rtlCol="0" anchor="t"/>
          <a:lstStyle/>
          <a:p>
            <a:pPr indent="0" marL="0">
              <a:buNone/>
            </a:pPr>
            <a:r>
              <a:rPr lang="en-US" sz="1200" b="1" spc="200" kern="0" dirty="0">
                <a:solidFill>
                  <a:srgbClr val="FDB52B"/>
                </a:solidFill>
                <a:latin typeface="Calibri" pitchFamily="34" charset="0"/>
                <a:ea typeface="Calibri" pitchFamily="34" charset="-122"/>
                <a:cs typeface="Calibri" pitchFamily="34" charset="-120"/>
              </a:rPr>
              <a:t>DÉMONSTRATION LIVE</a:t>
            </a:r>
            <a:endParaRPr lang="en-US" sz="1200" dirty="0"/>
          </a:p>
        </p:txBody>
      </p:sp>
      <p:sp>
        <p:nvSpPr>
          <p:cNvPr id="3" name="Text 1"/>
          <p:cNvSpPr txBox="1"/>
          <p:nvPr/>
        </p:nvSpPr>
        <p:spPr>
          <a:xfrm>
            <a:off x="548640" y="777240"/>
            <a:ext cx="8229600" cy="82296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TravelBI en action</a:t>
            </a:r>
            <a:endParaRPr lang="en-US" sz="4000" dirty="0"/>
          </a:p>
        </p:txBody>
      </p:sp>
      <p:sp>
        <p:nvSpPr>
          <p:cNvPr id="4" name="Shape 2"/>
          <p:cNvSpPr/>
          <p:nvPr/>
        </p:nvSpPr>
        <p:spPr>
          <a:xfrm>
            <a:off x="548640" y="2514600"/>
            <a:ext cx="2606040" cy="2651760"/>
          </a:xfrm>
          <a:prstGeom prst="roundRect">
            <a:avLst>
              <a:gd name="adj" fmla="val 4211"/>
            </a:avLst>
          </a:prstGeom>
          <a:solidFill>
            <a:srgbClr val="FFFFFF"/>
          </a:solidFill>
          <a:ln w="12700">
            <a:solidFill>
              <a:srgbClr val="FFFFFF"/>
            </a:solidFill>
            <a:prstDash val="solid"/>
          </a:ln>
          <a:effectLst>
            <a:outerShdw sx="100000" sy="100000" kx="0" ky="0" algn="bl" rotWithShape="0" blurRad="101600" dist="25400" dir="5400000">
              <a:srgbClr val="0A2540">
                <a:alpha val="12000"/>
              </a:srgbClr>
            </a:outerShdw>
          </a:effectLst>
        </p:spPr>
      </p:sp>
      <p:sp>
        <p:nvSpPr>
          <p:cNvPr id="5" name="Shape 3"/>
          <p:cNvSpPr/>
          <p:nvPr/>
        </p:nvSpPr>
        <p:spPr>
          <a:xfrm>
            <a:off x="777240" y="2743200"/>
            <a:ext cx="502920" cy="502920"/>
          </a:xfrm>
          <a:prstGeom prst="ellipse">
            <a:avLst/>
          </a:prstGeom>
          <a:solidFill>
            <a:srgbClr val="F39200"/>
          </a:solidFill>
          <a:ln w="12700">
            <a:solidFill>
              <a:srgbClr val="F39200"/>
            </a:solidFill>
            <a:prstDash val="solid"/>
          </a:ln>
        </p:spPr>
      </p:sp>
      <p:sp>
        <p:nvSpPr>
          <p:cNvPr id="6" name="Text 4"/>
          <p:cNvSpPr txBox="1"/>
          <p:nvPr/>
        </p:nvSpPr>
        <p:spPr>
          <a:xfrm>
            <a:off x="777240" y="27432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7" name="Shape 5"/>
          <p:cNvSpPr/>
          <p:nvPr/>
        </p:nvSpPr>
        <p:spPr>
          <a:xfrm>
            <a:off x="2377440" y="2697480"/>
            <a:ext cx="566928" cy="566928"/>
          </a:xfrm>
          <a:prstGeom prst="ellipse">
            <a:avLst/>
          </a:prstGeom>
          <a:solidFill>
            <a:srgbClr val="0A4A8C"/>
          </a:solidFill>
          <a:ln w="12700">
            <a:solidFill>
              <a:srgbClr val="0A4A8C"/>
            </a:solidFill>
            <a:prstDash val="solid"/>
          </a:ln>
        </p:spPr>
      </p:sp>
      <p:pic>
        <p:nvPicPr>
          <p:cNvPr id="8" name="Image 0" descr="preencoded.png">    </p:cNvPr>
          <p:cNvPicPr>
            <a:picLocks noChangeAspect="1"/>
          </p:cNvPicPr>
          <p:nvPr/>
        </p:nvPicPr>
        <p:blipFill>
          <a:blip r:embed="rId2"/>
          <a:stretch>
            <a:fillRect/>
          </a:stretch>
        </p:blipFill>
        <p:spPr>
          <a:xfrm>
            <a:off x="2524841" y="2844881"/>
            <a:ext cx="272125" cy="272125"/>
          </a:xfrm>
          <a:prstGeom prst="rect">
            <a:avLst/>
          </a:prstGeom>
        </p:spPr>
      </p:pic>
      <p:sp>
        <p:nvSpPr>
          <p:cNvPr id="9" name="Text 6"/>
          <p:cNvSpPr txBox="1"/>
          <p:nvPr/>
        </p:nvSpPr>
        <p:spPr>
          <a:xfrm>
            <a:off x="777240" y="3520440"/>
            <a:ext cx="2194560" cy="411480"/>
          </a:xfrm>
          <a:prstGeom prst="rect">
            <a:avLst/>
          </a:prstGeom>
          <a:noFill/>
          <a:ln/>
        </p:spPr>
        <p:txBody>
          <a:bodyPr wrap="square" lIns="0" tIns="0" rIns="0" bIns="0" rtlCol="0" anchor="t"/>
          <a:lstStyle/>
          <a:p>
            <a:pPr indent="0" marL="0">
              <a:buNone/>
            </a:pPr>
            <a:r>
              <a:rPr lang="en-US" sz="1800" b="1" dirty="0">
                <a:solidFill>
                  <a:srgbClr val="0A4A8C"/>
                </a:solidFill>
                <a:latin typeface="Cambria" pitchFamily="34" charset="0"/>
                <a:ea typeface="Cambria" pitchFamily="34" charset="-122"/>
                <a:cs typeface="Cambria" pitchFamily="34" charset="-120"/>
              </a:rPr>
              <a:t>Le directeur</a:t>
            </a:r>
            <a:endParaRPr lang="en-US" sz="1800" dirty="0"/>
          </a:p>
        </p:txBody>
      </p:sp>
      <p:sp>
        <p:nvSpPr>
          <p:cNvPr id="10" name="Text 7"/>
          <p:cNvSpPr txBox="1"/>
          <p:nvPr/>
        </p:nvSpPr>
        <p:spPr>
          <a:xfrm>
            <a:off x="777240" y="3977640"/>
            <a:ext cx="2194560" cy="1005840"/>
          </a:xfrm>
          <a:prstGeom prst="rect">
            <a:avLst/>
          </a:prstGeom>
          <a:noFill/>
          <a:ln/>
        </p:spPr>
        <p:txBody>
          <a:bodyPr wrap="square" lIns="0" tIns="0" rIns="0" bIns="0" rtlCol="0" anchor="t"/>
          <a:lstStyle/>
          <a:p>
            <a:pPr indent="0" marL="0">
              <a:buNone/>
            </a:pPr>
            <a:r>
              <a:rPr lang="en-US" sz="1300" dirty="0">
                <a:solidFill>
                  <a:srgbClr val="5B6B7F"/>
                </a:solidFill>
                <a:latin typeface="Calibri" pitchFamily="34" charset="0"/>
                <a:ea typeface="Calibri" pitchFamily="34" charset="-122"/>
                <a:cs typeface="Calibri" pitchFamily="34" charset="-120"/>
              </a:rPr>
              <a:t>Consulte l'activité 2026 et ses variations</a:t>
            </a:r>
            <a:endParaRPr lang="en-US" sz="1300" dirty="0"/>
          </a:p>
        </p:txBody>
      </p:sp>
      <p:sp>
        <p:nvSpPr>
          <p:cNvPr id="11" name="Shape 8"/>
          <p:cNvSpPr/>
          <p:nvPr/>
        </p:nvSpPr>
        <p:spPr>
          <a:xfrm>
            <a:off x="3364992" y="2514600"/>
            <a:ext cx="2606040" cy="2651760"/>
          </a:xfrm>
          <a:prstGeom prst="roundRect">
            <a:avLst>
              <a:gd name="adj" fmla="val 4211"/>
            </a:avLst>
          </a:prstGeom>
          <a:solidFill>
            <a:srgbClr val="FFFFFF"/>
          </a:solidFill>
          <a:ln w="12700">
            <a:solidFill>
              <a:srgbClr val="FFFFFF"/>
            </a:solidFill>
            <a:prstDash val="solid"/>
          </a:ln>
          <a:effectLst>
            <a:outerShdw sx="100000" sy="100000" kx="0" ky="0" algn="bl" rotWithShape="0" blurRad="101600" dist="25400" dir="5400000">
              <a:srgbClr val="0A2540">
                <a:alpha val="12000"/>
              </a:srgbClr>
            </a:outerShdw>
          </a:effectLst>
        </p:spPr>
      </p:sp>
      <p:sp>
        <p:nvSpPr>
          <p:cNvPr id="12" name="Shape 9"/>
          <p:cNvSpPr/>
          <p:nvPr/>
        </p:nvSpPr>
        <p:spPr>
          <a:xfrm>
            <a:off x="3593592" y="2743200"/>
            <a:ext cx="502920" cy="502920"/>
          </a:xfrm>
          <a:prstGeom prst="ellipse">
            <a:avLst/>
          </a:prstGeom>
          <a:solidFill>
            <a:srgbClr val="F39200"/>
          </a:solidFill>
          <a:ln w="12700">
            <a:solidFill>
              <a:srgbClr val="F39200"/>
            </a:solidFill>
            <a:prstDash val="solid"/>
          </a:ln>
        </p:spPr>
      </p:sp>
      <p:sp>
        <p:nvSpPr>
          <p:cNvPr id="13" name="Text 10"/>
          <p:cNvSpPr txBox="1"/>
          <p:nvPr/>
        </p:nvSpPr>
        <p:spPr>
          <a:xfrm>
            <a:off x="3593592" y="27432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4" name="Shape 11"/>
          <p:cNvSpPr/>
          <p:nvPr/>
        </p:nvSpPr>
        <p:spPr>
          <a:xfrm>
            <a:off x="5193792" y="2697480"/>
            <a:ext cx="566928" cy="566928"/>
          </a:xfrm>
          <a:prstGeom prst="ellipse">
            <a:avLst/>
          </a:prstGeom>
          <a:solidFill>
            <a:srgbClr val="0A4A8C"/>
          </a:solidFill>
          <a:ln w="12700">
            <a:solidFill>
              <a:srgbClr val="0A4A8C"/>
            </a:solidFill>
            <a:prstDash val="solid"/>
          </a:ln>
        </p:spPr>
      </p:sp>
      <p:pic>
        <p:nvPicPr>
          <p:cNvPr id="15" name="Image 1" descr="preencoded.png">    </p:cNvPr>
          <p:cNvPicPr>
            <a:picLocks noChangeAspect="1"/>
          </p:cNvPicPr>
          <p:nvPr/>
        </p:nvPicPr>
        <p:blipFill>
          <a:blip r:embed="rId3"/>
          <a:stretch>
            <a:fillRect/>
          </a:stretch>
        </p:blipFill>
        <p:spPr>
          <a:xfrm>
            <a:off x="5341193" y="2844881"/>
            <a:ext cx="272125" cy="272125"/>
          </a:xfrm>
          <a:prstGeom prst="rect">
            <a:avLst/>
          </a:prstGeom>
        </p:spPr>
      </p:pic>
      <p:sp>
        <p:nvSpPr>
          <p:cNvPr id="16" name="Text 12"/>
          <p:cNvSpPr txBox="1"/>
          <p:nvPr/>
        </p:nvSpPr>
        <p:spPr>
          <a:xfrm>
            <a:off x="3593592" y="3520440"/>
            <a:ext cx="2194560" cy="411480"/>
          </a:xfrm>
          <a:prstGeom prst="rect">
            <a:avLst/>
          </a:prstGeom>
          <a:noFill/>
          <a:ln/>
        </p:spPr>
        <p:txBody>
          <a:bodyPr wrap="square" lIns="0" tIns="0" rIns="0" bIns="0" rtlCol="0" anchor="t"/>
          <a:lstStyle/>
          <a:p>
            <a:pPr indent="0" marL="0">
              <a:buNone/>
            </a:pPr>
            <a:r>
              <a:rPr lang="en-US" sz="1800" b="1" dirty="0">
                <a:solidFill>
                  <a:srgbClr val="0A4A8C"/>
                </a:solidFill>
                <a:latin typeface="Cambria" pitchFamily="34" charset="0"/>
                <a:ea typeface="Cambria" pitchFamily="34" charset="-122"/>
                <a:cs typeface="Cambria" pitchFamily="34" charset="-120"/>
              </a:rPr>
              <a:t>Power BI</a:t>
            </a:r>
            <a:endParaRPr lang="en-US" sz="1800" dirty="0"/>
          </a:p>
        </p:txBody>
      </p:sp>
      <p:sp>
        <p:nvSpPr>
          <p:cNvPr id="17" name="Text 13"/>
          <p:cNvSpPr txBox="1"/>
          <p:nvPr/>
        </p:nvSpPr>
        <p:spPr>
          <a:xfrm>
            <a:off x="3593592" y="3977640"/>
            <a:ext cx="2194560" cy="1005840"/>
          </a:xfrm>
          <a:prstGeom prst="rect">
            <a:avLst/>
          </a:prstGeom>
          <a:noFill/>
          <a:ln/>
        </p:spPr>
        <p:txBody>
          <a:bodyPr wrap="square" lIns="0" tIns="0" rIns="0" bIns="0" rtlCol="0" anchor="t"/>
          <a:lstStyle/>
          <a:p>
            <a:pPr indent="0" marL="0">
              <a:buNone/>
            </a:pPr>
            <a:r>
              <a:rPr lang="en-US" sz="1300" dirty="0">
                <a:solidFill>
                  <a:srgbClr val="5B6B7F"/>
                </a:solidFill>
                <a:latin typeface="Calibri" pitchFamily="34" charset="0"/>
                <a:ea typeface="Calibri" pitchFamily="34" charset="-122"/>
                <a:cs typeface="Calibri" pitchFamily="34" charset="-120"/>
              </a:rPr>
              <a:t>Filtre par période et par profil de client</a:t>
            </a:r>
            <a:endParaRPr lang="en-US" sz="1300" dirty="0"/>
          </a:p>
        </p:txBody>
      </p:sp>
      <p:sp>
        <p:nvSpPr>
          <p:cNvPr id="18" name="Shape 14"/>
          <p:cNvSpPr/>
          <p:nvPr/>
        </p:nvSpPr>
        <p:spPr>
          <a:xfrm>
            <a:off x="6181344" y="2514600"/>
            <a:ext cx="2606040" cy="2651760"/>
          </a:xfrm>
          <a:prstGeom prst="roundRect">
            <a:avLst>
              <a:gd name="adj" fmla="val 4211"/>
            </a:avLst>
          </a:prstGeom>
          <a:solidFill>
            <a:srgbClr val="FFFFFF"/>
          </a:solidFill>
          <a:ln w="12700">
            <a:solidFill>
              <a:srgbClr val="FFFFFF"/>
            </a:solidFill>
            <a:prstDash val="solid"/>
          </a:ln>
          <a:effectLst>
            <a:outerShdw sx="100000" sy="100000" kx="0" ky="0" algn="bl" rotWithShape="0" blurRad="101600" dist="25400" dir="5400000">
              <a:srgbClr val="0A2540">
                <a:alpha val="12000"/>
              </a:srgbClr>
            </a:outerShdw>
          </a:effectLst>
        </p:spPr>
      </p:sp>
      <p:sp>
        <p:nvSpPr>
          <p:cNvPr id="19" name="Shape 15"/>
          <p:cNvSpPr/>
          <p:nvPr/>
        </p:nvSpPr>
        <p:spPr>
          <a:xfrm>
            <a:off x="6409944" y="2743200"/>
            <a:ext cx="502920" cy="502920"/>
          </a:xfrm>
          <a:prstGeom prst="ellipse">
            <a:avLst/>
          </a:prstGeom>
          <a:solidFill>
            <a:srgbClr val="F39200"/>
          </a:solidFill>
          <a:ln w="12700">
            <a:solidFill>
              <a:srgbClr val="F39200"/>
            </a:solidFill>
            <a:prstDash val="solid"/>
          </a:ln>
        </p:spPr>
      </p:sp>
      <p:sp>
        <p:nvSpPr>
          <p:cNvPr id="20" name="Text 16"/>
          <p:cNvSpPr txBox="1"/>
          <p:nvPr/>
        </p:nvSpPr>
        <p:spPr>
          <a:xfrm>
            <a:off x="6409944" y="27432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1" name="Shape 17"/>
          <p:cNvSpPr/>
          <p:nvPr/>
        </p:nvSpPr>
        <p:spPr>
          <a:xfrm>
            <a:off x="8010144" y="2697480"/>
            <a:ext cx="566928" cy="566928"/>
          </a:xfrm>
          <a:prstGeom prst="ellipse">
            <a:avLst/>
          </a:prstGeom>
          <a:solidFill>
            <a:srgbClr val="0A4A8C"/>
          </a:solidFill>
          <a:ln w="12700">
            <a:solidFill>
              <a:srgbClr val="0A4A8C"/>
            </a:solidFill>
            <a:prstDash val="solid"/>
          </a:ln>
        </p:spPr>
      </p:sp>
      <p:pic>
        <p:nvPicPr>
          <p:cNvPr id="22" name="Image 2" descr="preencoded.png">    </p:cNvPr>
          <p:cNvPicPr>
            <a:picLocks noChangeAspect="1"/>
          </p:cNvPicPr>
          <p:nvPr/>
        </p:nvPicPr>
        <p:blipFill>
          <a:blip r:embed="rId4"/>
          <a:stretch>
            <a:fillRect/>
          </a:stretch>
        </p:blipFill>
        <p:spPr>
          <a:xfrm>
            <a:off x="8157545" y="2844881"/>
            <a:ext cx="272125" cy="272125"/>
          </a:xfrm>
          <a:prstGeom prst="rect">
            <a:avLst/>
          </a:prstGeom>
        </p:spPr>
      </p:pic>
      <p:sp>
        <p:nvSpPr>
          <p:cNvPr id="23" name="Text 18"/>
          <p:cNvSpPr txBox="1"/>
          <p:nvPr/>
        </p:nvSpPr>
        <p:spPr>
          <a:xfrm>
            <a:off x="6409944" y="3520440"/>
            <a:ext cx="2194560" cy="411480"/>
          </a:xfrm>
          <a:prstGeom prst="rect">
            <a:avLst/>
          </a:prstGeom>
          <a:noFill/>
          <a:ln/>
        </p:spPr>
        <p:txBody>
          <a:bodyPr wrap="square" lIns="0" tIns="0" rIns="0" bIns="0" rtlCol="0" anchor="t"/>
          <a:lstStyle/>
          <a:p>
            <a:pPr indent="0" marL="0">
              <a:buNone/>
            </a:pPr>
            <a:r>
              <a:rPr lang="en-US" sz="1800" b="1" dirty="0">
                <a:solidFill>
                  <a:srgbClr val="0A4A8C"/>
                </a:solidFill>
                <a:latin typeface="Cambria" pitchFamily="34" charset="0"/>
                <a:ea typeface="Cambria" pitchFamily="34" charset="-122"/>
                <a:cs typeface="Cambria" pitchFamily="34" charset="-120"/>
              </a:rPr>
              <a:t>Le conseiller</a:t>
            </a:r>
            <a:endParaRPr lang="en-US" sz="1800" dirty="0"/>
          </a:p>
        </p:txBody>
      </p:sp>
      <p:sp>
        <p:nvSpPr>
          <p:cNvPr id="24" name="Text 19"/>
          <p:cNvSpPr txBox="1"/>
          <p:nvPr/>
        </p:nvSpPr>
        <p:spPr>
          <a:xfrm>
            <a:off x="6409944" y="3977640"/>
            <a:ext cx="2194560" cy="1005840"/>
          </a:xfrm>
          <a:prstGeom prst="rect">
            <a:avLst/>
          </a:prstGeom>
          <a:noFill/>
          <a:ln/>
        </p:spPr>
        <p:txBody>
          <a:bodyPr wrap="square" lIns="0" tIns="0" rIns="0" bIns="0" rtlCol="0" anchor="t"/>
          <a:lstStyle/>
          <a:p>
            <a:pPr indent="0" marL="0">
              <a:buNone/>
            </a:pPr>
            <a:r>
              <a:rPr lang="en-US" sz="1300" dirty="0">
                <a:solidFill>
                  <a:srgbClr val="5B6B7F"/>
                </a:solidFill>
                <a:latin typeface="Calibri" pitchFamily="34" charset="0"/>
                <a:ea typeface="Calibri" pitchFamily="34" charset="-122"/>
                <a:cs typeface="Calibri" pitchFamily="34" charset="-120"/>
              </a:rPr>
              <a:t>Recommande à un client fidèle, avec explications</a:t>
            </a:r>
            <a:endParaRPr lang="en-US" sz="1300" dirty="0"/>
          </a:p>
        </p:txBody>
      </p:sp>
      <p:sp>
        <p:nvSpPr>
          <p:cNvPr id="25" name="Shape 20"/>
          <p:cNvSpPr/>
          <p:nvPr/>
        </p:nvSpPr>
        <p:spPr>
          <a:xfrm>
            <a:off x="8997696" y="2514600"/>
            <a:ext cx="2606040" cy="2651760"/>
          </a:xfrm>
          <a:prstGeom prst="roundRect">
            <a:avLst>
              <a:gd name="adj" fmla="val 4211"/>
            </a:avLst>
          </a:prstGeom>
          <a:solidFill>
            <a:srgbClr val="FFFFFF"/>
          </a:solidFill>
          <a:ln w="12700">
            <a:solidFill>
              <a:srgbClr val="FFFFFF"/>
            </a:solidFill>
            <a:prstDash val="solid"/>
          </a:ln>
          <a:effectLst>
            <a:outerShdw sx="100000" sy="100000" kx="0" ky="0" algn="bl" rotWithShape="0" blurRad="101600" dist="25400" dir="5400000">
              <a:srgbClr val="0A2540">
                <a:alpha val="12000"/>
              </a:srgbClr>
            </a:outerShdw>
          </a:effectLst>
        </p:spPr>
      </p:sp>
      <p:sp>
        <p:nvSpPr>
          <p:cNvPr id="26" name="Shape 21"/>
          <p:cNvSpPr/>
          <p:nvPr/>
        </p:nvSpPr>
        <p:spPr>
          <a:xfrm>
            <a:off x="9226296" y="2743200"/>
            <a:ext cx="502920" cy="502920"/>
          </a:xfrm>
          <a:prstGeom prst="ellipse">
            <a:avLst/>
          </a:prstGeom>
          <a:solidFill>
            <a:srgbClr val="F39200"/>
          </a:solidFill>
          <a:ln w="12700">
            <a:solidFill>
              <a:srgbClr val="F39200"/>
            </a:solidFill>
            <a:prstDash val="solid"/>
          </a:ln>
        </p:spPr>
      </p:sp>
      <p:sp>
        <p:nvSpPr>
          <p:cNvPr id="27" name="Text 22"/>
          <p:cNvSpPr txBox="1"/>
          <p:nvPr/>
        </p:nvSpPr>
        <p:spPr>
          <a:xfrm>
            <a:off x="9226296" y="27432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8" name="Shape 23"/>
          <p:cNvSpPr/>
          <p:nvPr/>
        </p:nvSpPr>
        <p:spPr>
          <a:xfrm>
            <a:off x="10826496" y="2697480"/>
            <a:ext cx="566928" cy="566928"/>
          </a:xfrm>
          <a:prstGeom prst="ellipse">
            <a:avLst/>
          </a:prstGeom>
          <a:solidFill>
            <a:srgbClr val="0A4A8C"/>
          </a:solidFill>
          <a:ln w="12700">
            <a:solidFill>
              <a:srgbClr val="0A4A8C"/>
            </a:solidFill>
            <a:prstDash val="solid"/>
          </a:ln>
        </p:spPr>
      </p:sp>
      <p:pic>
        <p:nvPicPr>
          <p:cNvPr id="29" name="Image 3" descr="preencoded.png">    </p:cNvPr>
          <p:cNvPicPr>
            <a:picLocks noChangeAspect="1"/>
          </p:cNvPicPr>
          <p:nvPr/>
        </p:nvPicPr>
        <p:blipFill>
          <a:blip r:embed="rId5"/>
          <a:stretch>
            <a:fillRect/>
          </a:stretch>
        </p:blipFill>
        <p:spPr>
          <a:xfrm>
            <a:off x="10973897" y="2844881"/>
            <a:ext cx="272125" cy="272125"/>
          </a:xfrm>
          <a:prstGeom prst="rect">
            <a:avLst/>
          </a:prstGeom>
        </p:spPr>
      </p:pic>
      <p:sp>
        <p:nvSpPr>
          <p:cNvPr id="30" name="Text 24"/>
          <p:cNvSpPr txBox="1"/>
          <p:nvPr/>
        </p:nvSpPr>
        <p:spPr>
          <a:xfrm>
            <a:off x="9226296" y="3520440"/>
            <a:ext cx="2194560" cy="411480"/>
          </a:xfrm>
          <a:prstGeom prst="rect">
            <a:avLst/>
          </a:prstGeom>
          <a:noFill/>
          <a:ln/>
        </p:spPr>
        <p:txBody>
          <a:bodyPr wrap="square" lIns="0" tIns="0" rIns="0" bIns="0" rtlCol="0" anchor="t"/>
          <a:lstStyle/>
          <a:p>
            <a:pPr indent="0" marL="0">
              <a:buNone/>
            </a:pPr>
            <a:r>
              <a:rPr lang="en-US" sz="1800" b="1" dirty="0">
                <a:solidFill>
                  <a:srgbClr val="0A4A8C"/>
                </a:solidFill>
                <a:latin typeface="Cambria" pitchFamily="34" charset="0"/>
                <a:ea typeface="Cambria" pitchFamily="34" charset="-122"/>
                <a:cs typeface="Cambria" pitchFamily="34" charset="-120"/>
              </a:rPr>
              <a:t>Un nouveau client</a:t>
            </a:r>
            <a:endParaRPr lang="en-US" sz="1800" dirty="0"/>
          </a:p>
        </p:txBody>
      </p:sp>
      <p:sp>
        <p:nvSpPr>
          <p:cNvPr id="31" name="Text 25"/>
          <p:cNvSpPr txBox="1"/>
          <p:nvPr/>
        </p:nvSpPr>
        <p:spPr>
          <a:xfrm>
            <a:off x="9226296" y="3977640"/>
            <a:ext cx="2194560" cy="1005840"/>
          </a:xfrm>
          <a:prstGeom prst="rect">
            <a:avLst/>
          </a:prstGeom>
          <a:noFill/>
          <a:ln/>
        </p:spPr>
        <p:txBody>
          <a:bodyPr wrap="square" lIns="0" tIns="0" rIns="0" bIns="0" rtlCol="0" anchor="t"/>
          <a:lstStyle/>
          <a:p>
            <a:pPr indent="0" marL="0">
              <a:buNone/>
            </a:pPr>
            <a:r>
              <a:rPr lang="en-US" sz="1300" dirty="0">
                <a:solidFill>
                  <a:srgbClr val="5B6B7F"/>
                </a:solidFill>
                <a:latin typeface="Calibri" pitchFamily="34" charset="0"/>
                <a:ea typeface="Calibri" pitchFamily="34" charset="-122"/>
                <a:cs typeface="Calibri" pitchFamily="34" charset="-120"/>
              </a:rPr>
              <a:t>Saisit ses envies : propositions immédiates</a:t>
            </a:r>
            <a:endParaRPr lang="en-US" sz="1300" dirty="0"/>
          </a:p>
        </p:txBody>
      </p:sp>
      <p:sp>
        <p:nvSpPr>
          <p:cNvPr id="32" name="Text 26"/>
          <p:cNvSpPr txBox="1"/>
          <p:nvPr/>
        </p:nvSpPr>
        <p:spPr>
          <a:xfrm>
            <a:off x="11320272" y="6364224"/>
            <a:ext cx="347472"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19</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772400" cy="274320"/>
          </a:xfrm>
          <a:prstGeom prst="rect">
            <a:avLst/>
          </a:prstGeom>
          <a:noFill/>
          <a:ln/>
        </p:spPr>
        <p:txBody>
          <a:bodyPr wrap="square" lIns="0" tIns="0" rIns="0" bIns="0" rtlCol="0" anchor="t"/>
          <a:lstStyle/>
          <a:p>
            <a:pPr indent="0" marL="0">
              <a:buNone/>
            </a:pPr>
            <a:r>
              <a:rPr lang="en-US" sz="1100" b="1" spc="200" kern="0" dirty="0">
                <a:solidFill>
                  <a:srgbClr val="F39200"/>
                </a:solidFill>
                <a:latin typeface="Calibri" pitchFamily="34" charset="0"/>
                <a:ea typeface="Calibri" pitchFamily="34" charset="-122"/>
                <a:cs typeface="Calibri" pitchFamily="34" charset="-120"/>
              </a:rPr>
              <a:t>BILAN</a:t>
            </a:r>
            <a:endParaRPr lang="en-US" sz="1100" dirty="0"/>
          </a:p>
        </p:txBody>
      </p:sp>
      <p:sp>
        <p:nvSpPr>
          <p:cNvPr id="3" name="Text 1"/>
          <p:cNvSpPr txBox="1"/>
          <p:nvPr/>
        </p:nvSpPr>
        <p:spPr>
          <a:xfrm>
            <a:off x="548640" y="603504"/>
            <a:ext cx="9326880" cy="685800"/>
          </a:xfrm>
          <a:prstGeom prst="rect">
            <a:avLst/>
          </a:prstGeom>
          <a:noFill/>
          <a:ln/>
        </p:spPr>
        <p:txBody>
          <a:bodyPr wrap="square" lIns="0" tIns="0" rIns="0" bIns="0" rtlCol="0" anchor="ctr"/>
          <a:lstStyle/>
          <a:p>
            <a:pPr indent="0" marL="0">
              <a:buNone/>
            </a:pPr>
            <a:r>
              <a:rPr lang="en-US" sz="3000" b="1" dirty="0">
                <a:solidFill>
                  <a:srgbClr val="0A4A8C"/>
                </a:solidFill>
                <a:latin typeface="Cambria" pitchFamily="34" charset="0"/>
                <a:ea typeface="Cambria" pitchFamily="34" charset="-122"/>
                <a:cs typeface="Cambria" pitchFamily="34" charset="-120"/>
              </a:rPr>
              <a:t>Conclusion et perspectives</a:t>
            </a:r>
            <a:endParaRPr lang="en-US" sz="3000" dirty="0"/>
          </a:p>
        </p:txBody>
      </p:sp>
      <p:pic>
        <p:nvPicPr>
          <p:cNvPr id="4" name="Image 0" descr="assets/logo_sunny.png">    </p:cNvPr>
          <p:cNvPicPr>
            <a:picLocks noChangeAspect="1"/>
          </p:cNvPicPr>
          <p:nvPr/>
        </p:nvPicPr>
        <p:blipFill>
          <a:blip r:embed="rId1"/>
          <a:stretch>
            <a:fillRect/>
          </a:stretch>
        </p:blipFill>
        <p:spPr>
          <a:xfrm>
            <a:off x="10012680" y="481366"/>
            <a:ext cx="1691640" cy="372291"/>
          </a:xfrm>
          <a:prstGeom prst="rect">
            <a:avLst/>
          </a:prstGeom>
        </p:spPr>
      </p:pic>
      <p:sp>
        <p:nvSpPr>
          <p:cNvPr id="5" name="Text 2"/>
          <p:cNvSpPr txBox="1"/>
          <p:nvPr/>
        </p:nvSpPr>
        <p:spPr>
          <a:xfrm>
            <a:off x="548640" y="6428232"/>
            <a:ext cx="7315200" cy="228600"/>
          </a:xfrm>
          <a:prstGeom prst="rect">
            <a:avLst/>
          </a:prstGeom>
          <a:noFill/>
          <a:ln/>
        </p:spPr>
        <p:txBody>
          <a:bodyPr wrap="square" lIns="0" tIns="0" rIns="0" bIns="0" rtlCol="0" anchor="t"/>
          <a:lstStyle/>
          <a:p>
            <a:pPr indent="0" marL="0">
              <a:buNone/>
            </a:pPr>
            <a:r>
              <a:rPr lang="en-US" sz="900" dirty="0">
                <a:solidFill>
                  <a:srgbClr val="5B6B7F"/>
                </a:solidFill>
                <a:latin typeface="Calibri" pitchFamily="34" charset="0"/>
                <a:ea typeface="Calibri" pitchFamily="34" charset="-122"/>
                <a:cs typeface="Calibri" pitchFamily="34" charset="-120"/>
              </a:rPr>
              <a:t>Ranim Nabi  ·  PFE ESPRIT 2025-2026  ·  2 Go Sunny Tunisia Trip</a:t>
            </a:r>
            <a:endParaRPr lang="en-US" sz="900" dirty="0"/>
          </a:p>
        </p:txBody>
      </p:sp>
      <p:sp>
        <p:nvSpPr>
          <p:cNvPr id="6" name="Shape 3"/>
          <p:cNvSpPr/>
          <p:nvPr/>
        </p:nvSpPr>
        <p:spPr>
          <a:xfrm>
            <a:off x="11320272" y="6364224"/>
            <a:ext cx="347472" cy="347472"/>
          </a:xfrm>
          <a:prstGeom prst="ellipse">
            <a:avLst/>
          </a:prstGeom>
          <a:solidFill>
            <a:srgbClr val="F39200"/>
          </a:solidFill>
          <a:ln w="12700">
            <a:solidFill>
              <a:srgbClr val="F39200"/>
            </a:solidFill>
            <a:prstDash val="solid"/>
          </a:ln>
        </p:spPr>
      </p:sp>
      <p:sp>
        <p:nvSpPr>
          <p:cNvPr id="7" name="Text 4"/>
          <p:cNvSpPr txBox="1"/>
          <p:nvPr/>
        </p:nvSpPr>
        <p:spPr>
          <a:xfrm>
            <a:off x="11320272" y="6364224"/>
            <a:ext cx="347472"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20</a:t>
            </a:r>
            <a:endParaRPr lang="en-US" sz="1000" dirty="0"/>
          </a:p>
        </p:txBody>
      </p:sp>
      <p:sp>
        <p:nvSpPr>
          <p:cNvPr id="8" name="Text 5"/>
          <p:cNvSpPr txBox="1"/>
          <p:nvPr/>
        </p:nvSpPr>
        <p:spPr>
          <a:xfrm>
            <a:off x="548640" y="1463040"/>
            <a:ext cx="5394960" cy="274320"/>
          </a:xfrm>
          <a:prstGeom prst="rect">
            <a:avLst/>
          </a:prstGeom>
          <a:noFill/>
          <a:ln/>
        </p:spPr>
        <p:txBody>
          <a:bodyPr wrap="square" lIns="0" tIns="0" rIns="0" bIns="0" rtlCol="0" anchor="t"/>
          <a:lstStyle/>
          <a:p>
            <a:pPr indent="0" marL="0">
              <a:buNone/>
            </a:pPr>
            <a:r>
              <a:rPr lang="en-US" sz="1100" b="1" spc="200" kern="0" dirty="0">
                <a:solidFill>
                  <a:srgbClr val="F39200"/>
                </a:solidFill>
                <a:latin typeface="Calibri" pitchFamily="34" charset="0"/>
                <a:ea typeface="Calibri" pitchFamily="34" charset="-122"/>
                <a:cs typeface="Calibri" pitchFamily="34" charset="-120"/>
              </a:rPr>
              <a:t>CE QUE TRAVELBI APPORTE À L'AGENCE</a:t>
            </a:r>
            <a:endParaRPr lang="en-US" sz="1100" dirty="0"/>
          </a:p>
        </p:txBody>
      </p:sp>
      <p:sp>
        <p:nvSpPr>
          <p:cNvPr id="9" name="Shape 6"/>
          <p:cNvSpPr/>
          <p:nvPr/>
        </p:nvSpPr>
        <p:spPr>
          <a:xfrm>
            <a:off x="548640" y="1828800"/>
            <a:ext cx="5394960" cy="896112"/>
          </a:xfrm>
          <a:prstGeom prst="roundRect">
            <a:avLst>
              <a:gd name="adj" fmla="val 12245"/>
            </a:avLst>
          </a:prstGeom>
          <a:solidFill>
            <a:srgbClr val="EEF5FB"/>
          </a:solidFill>
          <a:ln w="12700">
            <a:solidFill>
              <a:srgbClr val="EEF5FB"/>
            </a:solidFill>
            <a:prstDash val="solid"/>
          </a:ln>
        </p:spPr>
      </p:sp>
      <p:sp>
        <p:nvSpPr>
          <p:cNvPr id="10" name="Shape 7"/>
          <p:cNvSpPr/>
          <p:nvPr/>
        </p:nvSpPr>
        <p:spPr>
          <a:xfrm>
            <a:off x="713232" y="2011680"/>
            <a:ext cx="530352" cy="530352"/>
          </a:xfrm>
          <a:prstGeom prst="ellipse">
            <a:avLst/>
          </a:prstGeom>
          <a:solidFill>
            <a:srgbClr val="0A4A8C"/>
          </a:solidFill>
          <a:ln w="12700">
            <a:solidFill>
              <a:srgbClr val="0A4A8C"/>
            </a:solidFill>
            <a:prstDash val="solid"/>
          </a:ln>
        </p:spPr>
      </p:sp>
      <p:pic>
        <p:nvPicPr>
          <p:cNvPr id="11" name="Image 1" descr="preencoded.png">    </p:cNvPr>
          <p:cNvPicPr>
            <a:picLocks noChangeAspect="1"/>
          </p:cNvPicPr>
          <p:nvPr/>
        </p:nvPicPr>
        <p:blipFill>
          <a:blip r:embed="rId2"/>
          <a:stretch>
            <a:fillRect/>
          </a:stretch>
        </p:blipFill>
        <p:spPr>
          <a:xfrm>
            <a:off x="851124" y="2149572"/>
            <a:ext cx="254569" cy="254569"/>
          </a:xfrm>
          <a:prstGeom prst="rect">
            <a:avLst/>
          </a:prstGeom>
        </p:spPr>
      </p:pic>
      <p:sp>
        <p:nvSpPr>
          <p:cNvPr id="12" name="Text 8"/>
          <p:cNvSpPr txBox="1"/>
          <p:nvPr/>
        </p:nvSpPr>
        <p:spPr>
          <a:xfrm>
            <a:off x="1417320" y="1920240"/>
            <a:ext cx="4389120" cy="365760"/>
          </a:xfrm>
          <a:prstGeom prst="rect">
            <a:avLst/>
          </a:prstGeom>
          <a:noFill/>
          <a:ln/>
        </p:spPr>
        <p:txBody>
          <a:bodyPr wrap="square" lIns="0" tIns="0" rIns="0" bIns="0" rtlCol="0" anchor="t"/>
          <a:lstStyle/>
          <a:p>
            <a:pPr indent="0" marL="0">
              <a:buNone/>
            </a:pPr>
            <a:r>
              <a:rPr lang="en-US" sz="1500" b="1" dirty="0">
                <a:solidFill>
                  <a:srgbClr val="0A4A8C"/>
                </a:solidFill>
                <a:latin typeface="Calibri" pitchFamily="34" charset="0"/>
                <a:ea typeface="Calibri" pitchFamily="34" charset="-122"/>
                <a:cs typeface="Calibri" pitchFamily="34" charset="-120"/>
              </a:rPr>
              <a:t>Une activité enfin visible</a:t>
            </a:r>
            <a:endParaRPr lang="en-US" sz="1500" dirty="0"/>
          </a:p>
        </p:txBody>
      </p:sp>
      <p:sp>
        <p:nvSpPr>
          <p:cNvPr id="13" name="Text 9"/>
          <p:cNvSpPr txBox="1"/>
          <p:nvPr/>
        </p:nvSpPr>
        <p:spPr>
          <a:xfrm>
            <a:off x="1417320" y="2286000"/>
            <a:ext cx="4389120" cy="365760"/>
          </a:xfrm>
          <a:prstGeom prst="rect">
            <a:avLst/>
          </a:prstGeom>
          <a:noFill/>
          <a:ln/>
        </p:spPr>
        <p:txBody>
          <a:bodyPr wrap="square" lIns="0" tIns="0" rIns="0" bIns="0" rtlCol="0" anchor="t"/>
          <a:lstStyle/>
          <a:p>
            <a:pPr indent="0" marL="0">
              <a:buNone/>
            </a:pPr>
            <a:r>
              <a:rPr lang="en-US" sz="1200" dirty="0">
                <a:solidFill>
                  <a:srgbClr val="5B6B7F"/>
                </a:solidFill>
                <a:latin typeface="Calibri" pitchFamily="34" charset="0"/>
                <a:ea typeface="Calibri" pitchFamily="34" charset="-122"/>
                <a:cs typeface="Calibri" pitchFamily="34" charset="-120"/>
              </a:rPr>
              <a:t>Tableaux de bord fiables, vérifiés chiffre par chiffre</a:t>
            </a:r>
            <a:endParaRPr lang="en-US" sz="1200" dirty="0"/>
          </a:p>
        </p:txBody>
      </p:sp>
      <p:sp>
        <p:nvSpPr>
          <p:cNvPr id="14" name="Shape 10"/>
          <p:cNvSpPr/>
          <p:nvPr/>
        </p:nvSpPr>
        <p:spPr>
          <a:xfrm>
            <a:off x="548640" y="2880360"/>
            <a:ext cx="5394960" cy="896112"/>
          </a:xfrm>
          <a:prstGeom prst="roundRect">
            <a:avLst>
              <a:gd name="adj" fmla="val 12245"/>
            </a:avLst>
          </a:prstGeom>
          <a:solidFill>
            <a:srgbClr val="EEF5FB"/>
          </a:solidFill>
          <a:ln w="12700">
            <a:solidFill>
              <a:srgbClr val="EEF5FB"/>
            </a:solidFill>
            <a:prstDash val="solid"/>
          </a:ln>
        </p:spPr>
      </p:sp>
      <p:sp>
        <p:nvSpPr>
          <p:cNvPr id="15" name="Shape 11"/>
          <p:cNvSpPr/>
          <p:nvPr/>
        </p:nvSpPr>
        <p:spPr>
          <a:xfrm>
            <a:off x="713232" y="3063240"/>
            <a:ext cx="530352" cy="530352"/>
          </a:xfrm>
          <a:prstGeom prst="ellipse">
            <a:avLst/>
          </a:prstGeom>
          <a:solidFill>
            <a:srgbClr val="0A4A8C"/>
          </a:solidFill>
          <a:ln w="12700">
            <a:solidFill>
              <a:srgbClr val="0A4A8C"/>
            </a:solidFill>
            <a:prstDash val="solid"/>
          </a:ln>
        </p:spPr>
      </p:sp>
      <p:pic>
        <p:nvPicPr>
          <p:cNvPr id="16" name="Image 2" descr="preencoded.png">    </p:cNvPr>
          <p:cNvPicPr>
            <a:picLocks noChangeAspect="1"/>
          </p:cNvPicPr>
          <p:nvPr/>
        </p:nvPicPr>
        <p:blipFill>
          <a:blip r:embed="rId3"/>
          <a:stretch>
            <a:fillRect/>
          </a:stretch>
        </p:blipFill>
        <p:spPr>
          <a:xfrm>
            <a:off x="851124" y="3201132"/>
            <a:ext cx="254569" cy="254569"/>
          </a:xfrm>
          <a:prstGeom prst="rect">
            <a:avLst/>
          </a:prstGeom>
        </p:spPr>
      </p:pic>
      <p:sp>
        <p:nvSpPr>
          <p:cNvPr id="17" name="Text 12"/>
          <p:cNvSpPr txBox="1"/>
          <p:nvPr/>
        </p:nvSpPr>
        <p:spPr>
          <a:xfrm>
            <a:off x="1417320" y="2971800"/>
            <a:ext cx="4389120" cy="365760"/>
          </a:xfrm>
          <a:prstGeom prst="rect">
            <a:avLst/>
          </a:prstGeom>
          <a:noFill/>
          <a:ln/>
        </p:spPr>
        <p:txBody>
          <a:bodyPr wrap="square" lIns="0" tIns="0" rIns="0" bIns="0" rtlCol="0" anchor="t"/>
          <a:lstStyle/>
          <a:p>
            <a:pPr indent="0" marL="0">
              <a:buNone/>
            </a:pPr>
            <a:r>
              <a:rPr lang="en-US" sz="1500" b="1" dirty="0">
                <a:solidFill>
                  <a:srgbClr val="0A4A8C"/>
                </a:solidFill>
                <a:latin typeface="Calibri" pitchFamily="34" charset="0"/>
                <a:ea typeface="Calibri" pitchFamily="34" charset="-122"/>
                <a:cs typeface="Calibri" pitchFamily="34" charset="-120"/>
              </a:rPr>
              <a:t>Un conseil personnalisé</a:t>
            </a:r>
            <a:endParaRPr lang="en-US" sz="1500" dirty="0"/>
          </a:p>
        </p:txBody>
      </p:sp>
      <p:sp>
        <p:nvSpPr>
          <p:cNvPr id="18" name="Text 13"/>
          <p:cNvSpPr txBox="1"/>
          <p:nvPr/>
        </p:nvSpPr>
        <p:spPr>
          <a:xfrm>
            <a:off x="1417320" y="3337560"/>
            <a:ext cx="4389120" cy="365760"/>
          </a:xfrm>
          <a:prstGeom prst="rect">
            <a:avLst/>
          </a:prstGeom>
          <a:noFill/>
          <a:ln/>
        </p:spPr>
        <p:txBody>
          <a:bodyPr wrap="square" lIns="0" tIns="0" rIns="0" bIns="0" rtlCol="0" anchor="t"/>
          <a:lstStyle/>
          <a:p>
            <a:pPr indent="0" marL="0">
              <a:buNone/>
            </a:pPr>
            <a:r>
              <a:rPr lang="en-US" sz="1200" dirty="0">
                <a:solidFill>
                  <a:srgbClr val="5B6B7F"/>
                </a:solidFill>
                <a:latin typeface="Calibri" pitchFamily="34" charset="0"/>
                <a:ea typeface="Calibri" pitchFamily="34" charset="-122"/>
                <a:cs typeface="Calibri" pitchFamily="34" charset="-120"/>
              </a:rPr>
              <a:t>Le bon voyage pour chaque client, avec ses raisons</a:t>
            </a:r>
            <a:endParaRPr lang="en-US" sz="1200" dirty="0"/>
          </a:p>
        </p:txBody>
      </p:sp>
      <p:sp>
        <p:nvSpPr>
          <p:cNvPr id="19" name="Shape 14"/>
          <p:cNvSpPr/>
          <p:nvPr/>
        </p:nvSpPr>
        <p:spPr>
          <a:xfrm>
            <a:off x="548640" y="3931920"/>
            <a:ext cx="5394960" cy="896112"/>
          </a:xfrm>
          <a:prstGeom prst="roundRect">
            <a:avLst>
              <a:gd name="adj" fmla="val 12245"/>
            </a:avLst>
          </a:prstGeom>
          <a:solidFill>
            <a:srgbClr val="EEF5FB"/>
          </a:solidFill>
          <a:ln w="12700">
            <a:solidFill>
              <a:srgbClr val="EEF5FB"/>
            </a:solidFill>
            <a:prstDash val="solid"/>
          </a:ln>
        </p:spPr>
      </p:sp>
      <p:sp>
        <p:nvSpPr>
          <p:cNvPr id="20" name="Shape 15"/>
          <p:cNvSpPr/>
          <p:nvPr/>
        </p:nvSpPr>
        <p:spPr>
          <a:xfrm>
            <a:off x="713232" y="4114800"/>
            <a:ext cx="530352" cy="530352"/>
          </a:xfrm>
          <a:prstGeom prst="ellipse">
            <a:avLst/>
          </a:prstGeom>
          <a:solidFill>
            <a:srgbClr val="0A4A8C"/>
          </a:solidFill>
          <a:ln w="12700">
            <a:solidFill>
              <a:srgbClr val="0A4A8C"/>
            </a:solidFill>
            <a:prstDash val="solid"/>
          </a:ln>
        </p:spPr>
      </p:sp>
      <p:pic>
        <p:nvPicPr>
          <p:cNvPr id="21" name="Image 3" descr="preencoded.png">    </p:cNvPr>
          <p:cNvPicPr>
            <a:picLocks noChangeAspect="1"/>
          </p:cNvPicPr>
          <p:nvPr/>
        </p:nvPicPr>
        <p:blipFill>
          <a:blip r:embed="rId4"/>
          <a:stretch>
            <a:fillRect/>
          </a:stretch>
        </p:blipFill>
        <p:spPr>
          <a:xfrm>
            <a:off x="851124" y="4252692"/>
            <a:ext cx="254569" cy="254569"/>
          </a:xfrm>
          <a:prstGeom prst="rect">
            <a:avLst/>
          </a:prstGeom>
        </p:spPr>
      </p:pic>
      <p:sp>
        <p:nvSpPr>
          <p:cNvPr id="22" name="Text 16"/>
          <p:cNvSpPr txBox="1"/>
          <p:nvPr/>
        </p:nvSpPr>
        <p:spPr>
          <a:xfrm>
            <a:off x="1417320" y="4023360"/>
            <a:ext cx="4389120" cy="365760"/>
          </a:xfrm>
          <a:prstGeom prst="rect">
            <a:avLst/>
          </a:prstGeom>
          <a:noFill/>
          <a:ln/>
        </p:spPr>
        <p:txBody>
          <a:bodyPr wrap="square" lIns="0" tIns="0" rIns="0" bIns="0" rtlCol="0" anchor="t"/>
          <a:lstStyle/>
          <a:p>
            <a:pPr indent="0" marL="0">
              <a:buNone/>
            </a:pPr>
            <a:r>
              <a:rPr lang="en-US" sz="1500" b="1" dirty="0">
                <a:solidFill>
                  <a:srgbClr val="0A4A8C"/>
                </a:solidFill>
                <a:latin typeface="Calibri" pitchFamily="34" charset="0"/>
                <a:ea typeface="Calibri" pitchFamily="34" charset="-122"/>
                <a:cs typeface="Calibri" pitchFamily="34" charset="-120"/>
              </a:rPr>
              <a:t>Des clients mieux connus</a:t>
            </a:r>
            <a:endParaRPr lang="en-US" sz="1500" dirty="0"/>
          </a:p>
        </p:txBody>
      </p:sp>
      <p:sp>
        <p:nvSpPr>
          <p:cNvPr id="23" name="Text 17"/>
          <p:cNvSpPr txBox="1"/>
          <p:nvPr/>
        </p:nvSpPr>
        <p:spPr>
          <a:xfrm>
            <a:off x="1417320" y="4389120"/>
            <a:ext cx="4389120" cy="365760"/>
          </a:xfrm>
          <a:prstGeom prst="rect">
            <a:avLst/>
          </a:prstGeom>
          <a:noFill/>
          <a:ln/>
        </p:spPr>
        <p:txBody>
          <a:bodyPr wrap="square" lIns="0" tIns="0" rIns="0" bIns="0" rtlCol="0" anchor="t"/>
          <a:lstStyle/>
          <a:p>
            <a:pPr indent="0" marL="0">
              <a:buNone/>
            </a:pPr>
            <a:r>
              <a:rPr lang="en-US" sz="1200" dirty="0">
                <a:solidFill>
                  <a:srgbClr val="5B6B7F"/>
                </a:solidFill>
                <a:latin typeface="Calibri" pitchFamily="34" charset="0"/>
                <a:ea typeface="Calibri" pitchFamily="34" charset="-122"/>
                <a:cs typeface="Calibri" pitchFamily="34" charset="-120"/>
              </a:rPr>
              <a:t>Cinq profils pour cibler fidélisation et relances</a:t>
            </a:r>
            <a:endParaRPr lang="en-US" sz="1200" dirty="0"/>
          </a:p>
        </p:txBody>
      </p:sp>
      <p:sp>
        <p:nvSpPr>
          <p:cNvPr id="24" name="Shape 18"/>
          <p:cNvSpPr/>
          <p:nvPr/>
        </p:nvSpPr>
        <p:spPr>
          <a:xfrm>
            <a:off x="548640" y="4983480"/>
            <a:ext cx="5394960" cy="896112"/>
          </a:xfrm>
          <a:prstGeom prst="roundRect">
            <a:avLst>
              <a:gd name="adj" fmla="val 12245"/>
            </a:avLst>
          </a:prstGeom>
          <a:solidFill>
            <a:srgbClr val="EEF5FB"/>
          </a:solidFill>
          <a:ln w="12700">
            <a:solidFill>
              <a:srgbClr val="EEF5FB"/>
            </a:solidFill>
            <a:prstDash val="solid"/>
          </a:ln>
        </p:spPr>
      </p:sp>
      <p:sp>
        <p:nvSpPr>
          <p:cNvPr id="25" name="Shape 19"/>
          <p:cNvSpPr/>
          <p:nvPr/>
        </p:nvSpPr>
        <p:spPr>
          <a:xfrm>
            <a:off x="713232" y="5166360"/>
            <a:ext cx="530352" cy="530352"/>
          </a:xfrm>
          <a:prstGeom prst="ellipse">
            <a:avLst/>
          </a:prstGeom>
          <a:solidFill>
            <a:srgbClr val="0A4A8C"/>
          </a:solidFill>
          <a:ln w="12700">
            <a:solidFill>
              <a:srgbClr val="0A4A8C"/>
            </a:solidFill>
            <a:prstDash val="solid"/>
          </a:ln>
        </p:spPr>
      </p:sp>
      <p:pic>
        <p:nvPicPr>
          <p:cNvPr id="26" name="Image 4" descr="preencoded.png">    </p:cNvPr>
          <p:cNvPicPr>
            <a:picLocks noChangeAspect="1"/>
          </p:cNvPicPr>
          <p:nvPr/>
        </p:nvPicPr>
        <p:blipFill>
          <a:blip r:embed="rId5"/>
          <a:stretch>
            <a:fillRect/>
          </a:stretch>
        </p:blipFill>
        <p:spPr>
          <a:xfrm>
            <a:off x="851124" y="5304252"/>
            <a:ext cx="254569" cy="254569"/>
          </a:xfrm>
          <a:prstGeom prst="rect">
            <a:avLst/>
          </a:prstGeom>
        </p:spPr>
      </p:pic>
      <p:sp>
        <p:nvSpPr>
          <p:cNvPr id="27" name="Text 20"/>
          <p:cNvSpPr txBox="1"/>
          <p:nvPr/>
        </p:nvSpPr>
        <p:spPr>
          <a:xfrm>
            <a:off x="1417320" y="5074920"/>
            <a:ext cx="4389120" cy="365760"/>
          </a:xfrm>
          <a:prstGeom prst="rect">
            <a:avLst/>
          </a:prstGeom>
          <a:noFill/>
          <a:ln/>
        </p:spPr>
        <p:txBody>
          <a:bodyPr wrap="square" lIns="0" tIns="0" rIns="0" bIns="0" rtlCol="0" anchor="t"/>
          <a:lstStyle/>
          <a:p>
            <a:pPr indent="0" marL="0">
              <a:buNone/>
            </a:pPr>
            <a:r>
              <a:rPr lang="en-US" sz="1500" b="1" dirty="0">
                <a:solidFill>
                  <a:srgbClr val="0A4A8C"/>
                </a:solidFill>
                <a:latin typeface="Calibri" pitchFamily="34" charset="0"/>
                <a:ea typeface="Calibri" pitchFamily="34" charset="-122"/>
                <a:cs typeface="Calibri" pitchFamily="34" charset="-120"/>
              </a:rPr>
              <a:t>Un outil prêt à l'emploi</a:t>
            </a:r>
            <a:endParaRPr lang="en-US" sz="1500" dirty="0"/>
          </a:p>
        </p:txBody>
      </p:sp>
      <p:sp>
        <p:nvSpPr>
          <p:cNvPr id="28" name="Text 21"/>
          <p:cNvSpPr txBox="1"/>
          <p:nvPr/>
        </p:nvSpPr>
        <p:spPr>
          <a:xfrm>
            <a:off x="1417320" y="5440680"/>
            <a:ext cx="4389120" cy="365760"/>
          </a:xfrm>
          <a:prstGeom prst="rect">
            <a:avLst/>
          </a:prstGeom>
          <a:noFill/>
          <a:ln/>
        </p:spPr>
        <p:txBody>
          <a:bodyPr wrap="square" lIns="0" tIns="0" rIns="0" bIns="0" rtlCol="0" anchor="t"/>
          <a:lstStyle/>
          <a:p>
            <a:pPr indent="0" marL="0">
              <a:buNone/>
            </a:pPr>
            <a:r>
              <a:rPr lang="en-US" sz="1200" dirty="0">
                <a:solidFill>
                  <a:srgbClr val="5B6B7F"/>
                </a:solidFill>
                <a:latin typeface="Calibri" pitchFamily="34" charset="0"/>
                <a:ea typeface="Calibri" pitchFamily="34" charset="-122"/>
                <a:cs typeface="Calibri" pitchFamily="34" charset="-120"/>
              </a:rPr>
              <a:t>Une application autonome, sans installation technique</a:t>
            </a:r>
            <a:endParaRPr lang="en-US" sz="1200" dirty="0"/>
          </a:p>
        </p:txBody>
      </p:sp>
      <p:sp>
        <p:nvSpPr>
          <p:cNvPr id="29" name="Text 22"/>
          <p:cNvSpPr txBox="1"/>
          <p:nvPr/>
        </p:nvSpPr>
        <p:spPr>
          <a:xfrm>
            <a:off x="6236208" y="1463040"/>
            <a:ext cx="5394960" cy="274320"/>
          </a:xfrm>
          <a:prstGeom prst="rect">
            <a:avLst/>
          </a:prstGeom>
          <a:noFill/>
          <a:ln/>
        </p:spPr>
        <p:txBody>
          <a:bodyPr wrap="square" lIns="0" tIns="0" rIns="0" bIns="0" rtlCol="0" anchor="t"/>
          <a:lstStyle/>
          <a:p>
            <a:pPr indent="0" marL="0">
              <a:buNone/>
            </a:pPr>
            <a:r>
              <a:rPr lang="en-US" sz="1100" b="1" spc="200" kern="0" dirty="0">
                <a:solidFill>
                  <a:srgbClr val="F39200"/>
                </a:solidFill>
                <a:latin typeface="Calibri" pitchFamily="34" charset="0"/>
                <a:ea typeface="Calibri" pitchFamily="34" charset="-122"/>
                <a:cs typeface="Calibri" pitchFamily="34" charset="-120"/>
              </a:rPr>
              <a:t>PROCHAINES ÉTAPES</a:t>
            </a:r>
            <a:endParaRPr lang="en-US" sz="1100" dirty="0"/>
          </a:p>
        </p:txBody>
      </p:sp>
      <p:sp>
        <p:nvSpPr>
          <p:cNvPr id="30" name="Shape 23"/>
          <p:cNvSpPr/>
          <p:nvPr/>
        </p:nvSpPr>
        <p:spPr>
          <a:xfrm>
            <a:off x="6236208" y="1828800"/>
            <a:ext cx="5394960" cy="896112"/>
          </a:xfrm>
          <a:prstGeom prst="roundRect">
            <a:avLst>
              <a:gd name="adj" fmla="val 12245"/>
            </a:avLst>
          </a:prstGeom>
          <a:solidFill>
            <a:srgbClr val="FEF6E4"/>
          </a:solidFill>
          <a:ln w="12700">
            <a:solidFill>
              <a:srgbClr val="FEF6E4"/>
            </a:solidFill>
            <a:prstDash val="solid"/>
          </a:ln>
        </p:spPr>
      </p:sp>
      <p:sp>
        <p:nvSpPr>
          <p:cNvPr id="31" name="Shape 24"/>
          <p:cNvSpPr/>
          <p:nvPr/>
        </p:nvSpPr>
        <p:spPr>
          <a:xfrm>
            <a:off x="6400800" y="2011680"/>
            <a:ext cx="530352" cy="530352"/>
          </a:xfrm>
          <a:prstGeom prst="ellipse">
            <a:avLst/>
          </a:prstGeom>
          <a:solidFill>
            <a:srgbClr val="F39200"/>
          </a:solidFill>
          <a:ln w="12700">
            <a:solidFill>
              <a:srgbClr val="F39200"/>
            </a:solidFill>
            <a:prstDash val="solid"/>
          </a:ln>
        </p:spPr>
      </p:sp>
      <p:pic>
        <p:nvPicPr>
          <p:cNvPr id="32" name="Image 5" descr="preencoded.png">    </p:cNvPr>
          <p:cNvPicPr>
            <a:picLocks noChangeAspect="1"/>
          </p:cNvPicPr>
          <p:nvPr/>
        </p:nvPicPr>
        <p:blipFill>
          <a:blip r:embed="rId6"/>
          <a:stretch>
            <a:fillRect/>
          </a:stretch>
        </p:blipFill>
        <p:spPr>
          <a:xfrm>
            <a:off x="6538692" y="2149572"/>
            <a:ext cx="254569" cy="254569"/>
          </a:xfrm>
          <a:prstGeom prst="rect">
            <a:avLst/>
          </a:prstGeom>
        </p:spPr>
      </p:pic>
      <p:sp>
        <p:nvSpPr>
          <p:cNvPr id="33" name="Text 25"/>
          <p:cNvSpPr txBox="1"/>
          <p:nvPr/>
        </p:nvSpPr>
        <p:spPr>
          <a:xfrm>
            <a:off x="7104888" y="1920240"/>
            <a:ext cx="4389120" cy="365760"/>
          </a:xfrm>
          <a:prstGeom prst="rect">
            <a:avLst/>
          </a:prstGeom>
          <a:noFill/>
          <a:ln/>
        </p:spPr>
        <p:txBody>
          <a:bodyPr wrap="square" lIns="0" tIns="0" rIns="0" bIns="0" rtlCol="0" anchor="t"/>
          <a:lstStyle/>
          <a:p>
            <a:pPr indent="0" marL="0">
              <a:buNone/>
            </a:pPr>
            <a:r>
              <a:rPr lang="en-US" sz="1500" b="1" dirty="0">
                <a:solidFill>
                  <a:srgbClr val="0A4A8C"/>
                </a:solidFill>
                <a:latin typeface="Calibri" pitchFamily="34" charset="0"/>
                <a:ea typeface="Calibri" pitchFamily="34" charset="-122"/>
                <a:cs typeface="Calibri" pitchFamily="34" charset="-120"/>
              </a:rPr>
              <a:t>Brancher l'historique réel</a:t>
            </a:r>
            <a:endParaRPr lang="en-US" sz="1500" dirty="0"/>
          </a:p>
        </p:txBody>
      </p:sp>
      <p:sp>
        <p:nvSpPr>
          <p:cNvPr id="34" name="Text 26"/>
          <p:cNvSpPr txBox="1"/>
          <p:nvPr/>
        </p:nvSpPr>
        <p:spPr>
          <a:xfrm>
            <a:off x="7104888" y="2286000"/>
            <a:ext cx="4389120" cy="365760"/>
          </a:xfrm>
          <a:prstGeom prst="rect">
            <a:avLst/>
          </a:prstGeom>
          <a:noFill/>
          <a:ln/>
        </p:spPr>
        <p:txBody>
          <a:bodyPr wrap="square" lIns="0" tIns="0" rIns="0" bIns="0" rtlCol="0" anchor="t"/>
          <a:lstStyle/>
          <a:p>
            <a:pPr indent="0" marL="0">
              <a:buNone/>
            </a:pPr>
            <a:r>
              <a:rPr lang="en-US" sz="1200" dirty="0">
                <a:solidFill>
                  <a:srgbClr val="5B6B7F"/>
                </a:solidFill>
                <a:latin typeface="Calibri" pitchFamily="34" charset="0"/>
                <a:ea typeface="Calibri" pitchFamily="34" charset="-122"/>
                <a:cs typeface="Calibri" pitchFamily="34" charset="-120"/>
              </a:rPr>
              <a:t>Réentraîner et confirmer les performances sur les vraies réservations</a:t>
            </a:r>
            <a:endParaRPr lang="en-US" sz="1200" dirty="0"/>
          </a:p>
        </p:txBody>
      </p:sp>
      <p:sp>
        <p:nvSpPr>
          <p:cNvPr id="35" name="Shape 27"/>
          <p:cNvSpPr/>
          <p:nvPr/>
        </p:nvSpPr>
        <p:spPr>
          <a:xfrm>
            <a:off x="6236208" y="2880360"/>
            <a:ext cx="5394960" cy="896112"/>
          </a:xfrm>
          <a:prstGeom prst="roundRect">
            <a:avLst>
              <a:gd name="adj" fmla="val 12245"/>
            </a:avLst>
          </a:prstGeom>
          <a:solidFill>
            <a:srgbClr val="FEF6E4"/>
          </a:solidFill>
          <a:ln w="12700">
            <a:solidFill>
              <a:srgbClr val="FEF6E4"/>
            </a:solidFill>
            <a:prstDash val="solid"/>
          </a:ln>
        </p:spPr>
      </p:sp>
      <p:sp>
        <p:nvSpPr>
          <p:cNvPr id="36" name="Shape 28"/>
          <p:cNvSpPr/>
          <p:nvPr/>
        </p:nvSpPr>
        <p:spPr>
          <a:xfrm>
            <a:off x="6400800" y="3063240"/>
            <a:ext cx="530352" cy="530352"/>
          </a:xfrm>
          <a:prstGeom prst="ellipse">
            <a:avLst/>
          </a:prstGeom>
          <a:solidFill>
            <a:srgbClr val="F39200"/>
          </a:solidFill>
          <a:ln w="12700">
            <a:solidFill>
              <a:srgbClr val="F39200"/>
            </a:solidFill>
            <a:prstDash val="solid"/>
          </a:ln>
        </p:spPr>
      </p:sp>
      <p:pic>
        <p:nvPicPr>
          <p:cNvPr id="37" name="Image 6" descr="preencoded.png">    </p:cNvPr>
          <p:cNvPicPr>
            <a:picLocks noChangeAspect="1"/>
          </p:cNvPicPr>
          <p:nvPr/>
        </p:nvPicPr>
        <p:blipFill>
          <a:blip r:embed="rId7"/>
          <a:stretch>
            <a:fillRect/>
          </a:stretch>
        </p:blipFill>
        <p:spPr>
          <a:xfrm>
            <a:off x="6538692" y="3201132"/>
            <a:ext cx="254569" cy="254569"/>
          </a:xfrm>
          <a:prstGeom prst="rect">
            <a:avLst/>
          </a:prstGeom>
        </p:spPr>
      </p:pic>
      <p:sp>
        <p:nvSpPr>
          <p:cNvPr id="38" name="Text 29"/>
          <p:cNvSpPr txBox="1"/>
          <p:nvPr/>
        </p:nvSpPr>
        <p:spPr>
          <a:xfrm>
            <a:off x="7104888" y="2971800"/>
            <a:ext cx="4389120" cy="365760"/>
          </a:xfrm>
          <a:prstGeom prst="rect">
            <a:avLst/>
          </a:prstGeom>
          <a:noFill/>
          <a:ln/>
        </p:spPr>
        <p:txBody>
          <a:bodyPr wrap="square" lIns="0" tIns="0" rIns="0" bIns="0" rtlCol="0" anchor="t"/>
          <a:lstStyle/>
          <a:p>
            <a:pPr indent="0" marL="0">
              <a:buNone/>
            </a:pPr>
            <a:r>
              <a:rPr lang="en-US" sz="1500" b="1" dirty="0">
                <a:solidFill>
                  <a:srgbClr val="0A4A8C"/>
                </a:solidFill>
                <a:latin typeface="Calibri" pitchFamily="34" charset="0"/>
                <a:ea typeface="Calibri" pitchFamily="34" charset="-122"/>
                <a:cs typeface="Calibri" pitchFamily="34" charset="-120"/>
              </a:rPr>
              <a:t>Mesurer l'impact sur les ventes</a:t>
            </a:r>
            <a:endParaRPr lang="en-US" sz="1500" dirty="0"/>
          </a:p>
        </p:txBody>
      </p:sp>
      <p:sp>
        <p:nvSpPr>
          <p:cNvPr id="39" name="Text 30"/>
          <p:cNvSpPr txBox="1"/>
          <p:nvPr/>
        </p:nvSpPr>
        <p:spPr>
          <a:xfrm>
            <a:off x="7104888" y="3337560"/>
            <a:ext cx="4389120" cy="365760"/>
          </a:xfrm>
          <a:prstGeom prst="rect">
            <a:avLst/>
          </a:prstGeom>
          <a:noFill/>
          <a:ln/>
        </p:spPr>
        <p:txBody>
          <a:bodyPr wrap="square" lIns="0" tIns="0" rIns="0" bIns="0" rtlCol="0" anchor="t"/>
          <a:lstStyle/>
          <a:p>
            <a:pPr indent="0" marL="0">
              <a:buNone/>
            </a:pPr>
            <a:r>
              <a:rPr lang="en-US" sz="1200" dirty="0">
                <a:solidFill>
                  <a:srgbClr val="5B6B7F"/>
                </a:solidFill>
                <a:latin typeface="Calibri" pitchFamily="34" charset="0"/>
                <a:ea typeface="Calibri" pitchFamily="34" charset="-122"/>
                <a:cs typeface="Calibri" pitchFamily="34" charset="-120"/>
              </a:rPr>
              <a:t>Suivre les conversions, puis comparer avec et sans recommandation</a:t>
            </a:r>
            <a:endParaRPr lang="en-US" sz="1200" dirty="0"/>
          </a:p>
        </p:txBody>
      </p:sp>
      <p:sp>
        <p:nvSpPr>
          <p:cNvPr id="40" name="Shape 31"/>
          <p:cNvSpPr/>
          <p:nvPr/>
        </p:nvSpPr>
        <p:spPr>
          <a:xfrm>
            <a:off x="6236208" y="3931920"/>
            <a:ext cx="5394960" cy="896112"/>
          </a:xfrm>
          <a:prstGeom prst="roundRect">
            <a:avLst>
              <a:gd name="adj" fmla="val 12245"/>
            </a:avLst>
          </a:prstGeom>
          <a:solidFill>
            <a:srgbClr val="FEF6E4"/>
          </a:solidFill>
          <a:ln w="12700">
            <a:solidFill>
              <a:srgbClr val="FEF6E4"/>
            </a:solidFill>
            <a:prstDash val="solid"/>
          </a:ln>
        </p:spPr>
      </p:sp>
      <p:sp>
        <p:nvSpPr>
          <p:cNvPr id="41" name="Shape 32"/>
          <p:cNvSpPr/>
          <p:nvPr/>
        </p:nvSpPr>
        <p:spPr>
          <a:xfrm>
            <a:off x="6400800" y="4114800"/>
            <a:ext cx="530352" cy="530352"/>
          </a:xfrm>
          <a:prstGeom prst="ellipse">
            <a:avLst/>
          </a:prstGeom>
          <a:solidFill>
            <a:srgbClr val="F39200"/>
          </a:solidFill>
          <a:ln w="12700">
            <a:solidFill>
              <a:srgbClr val="F39200"/>
            </a:solidFill>
            <a:prstDash val="solid"/>
          </a:ln>
        </p:spPr>
      </p:sp>
      <p:pic>
        <p:nvPicPr>
          <p:cNvPr id="42" name="Image 7" descr="preencoded.png">    </p:cNvPr>
          <p:cNvPicPr>
            <a:picLocks noChangeAspect="1"/>
          </p:cNvPicPr>
          <p:nvPr/>
        </p:nvPicPr>
        <p:blipFill>
          <a:blip r:embed="rId8"/>
          <a:stretch>
            <a:fillRect/>
          </a:stretch>
        </p:blipFill>
        <p:spPr>
          <a:xfrm>
            <a:off x="6538692" y="4252692"/>
            <a:ext cx="254569" cy="254569"/>
          </a:xfrm>
          <a:prstGeom prst="rect">
            <a:avLst/>
          </a:prstGeom>
        </p:spPr>
      </p:pic>
      <p:sp>
        <p:nvSpPr>
          <p:cNvPr id="43" name="Text 33"/>
          <p:cNvSpPr txBox="1"/>
          <p:nvPr/>
        </p:nvSpPr>
        <p:spPr>
          <a:xfrm>
            <a:off x="7104888" y="4023360"/>
            <a:ext cx="4389120" cy="365760"/>
          </a:xfrm>
          <a:prstGeom prst="rect">
            <a:avLst/>
          </a:prstGeom>
          <a:noFill/>
          <a:ln/>
        </p:spPr>
        <p:txBody>
          <a:bodyPr wrap="square" lIns="0" tIns="0" rIns="0" bIns="0" rtlCol="0" anchor="t"/>
          <a:lstStyle/>
          <a:p>
            <a:pPr indent="0" marL="0">
              <a:buNone/>
            </a:pPr>
            <a:r>
              <a:rPr lang="en-US" sz="1500" b="1" dirty="0">
                <a:solidFill>
                  <a:srgbClr val="0A4A8C"/>
                </a:solidFill>
                <a:latin typeface="Calibri" pitchFamily="34" charset="0"/>
                <a:ea typeface="Calibri" pitchFamily="34" charset="-122"/>
                <a:cs typeface="Calibri" pitchFamily="34" charset="-120"/>
              </a:rPr>
              <a:t>Aller vers le client</a:t>
            </a:r>
            <a:endParaRPr lang="en-US" sz="1500" dirty="0"/>
          </a:p>
        </p:txBody>
      </p:sp>
      <p:sp>
        <p:nvSpPr>
          <p:cNvPr id="44" name="Text 34"/>
          <p:cNvSpPr txBox="1"/>
          <p:nvPr/>
        </p:nvSpPr>
        <p:spPr>
          <a:xfrm>
            <a:off x="7104888" y="4389120"/>
            <a:ext cx="4389120" cy="365760"/>
          </a:xfrm>
          <a:prstGeom prst="rect">
            <a:avLst/>
          </a:prstGeom>
          <a:noFill/>
          <a:ln/>
        </p:spPr>
        <p:txBody>
          <a:bodyPr wrap="square" lIns="0" tIns="0" rIns="0" bIns="0" rtlCol="0" anchor="t"/>
          <a:lstStyle/>
          <a:p>
            <a:pPr indent="0" marL="0">
              <a:buNone/>
            </a:pPr>
            <a:r>
              <a:rPr lang="en-US" sz="1200" dirty="0">
                <a:solidFill>
                  <a:srgbClr val="5B6B7F"/>
                </a:solidFill>
                <a:latin typeface="Calibri" pitchFamily="34" charset="0"/>
                <a:ea typeface="Calibri" pitchFamily="34" charset="-122"/>
                <a:cs typeface="Calibri" pitchFamily="34" charset="-120"/>
              </a:rPr>
              <a:t>Proposer les recommandations en ligne, sur les canaux de l'agence</a:t>
            </a:r>
            <a:endParaRPr lang="en-US" sz="1200" dirty="0"/>
          </a:p>
        </p:txBody>
      </p:sp>
      <p:sp>
        <p:nvSpPr>
          <p:cNvPr id="45" name="Shape 35"/>
          <p:cNvSpPr/>
          <p:nvPr/>
        </p:nvSpPr>
        <p:spPr>
          <a:xfrm>
            <a:off x="6236208" y="4983480"/>
            <a:ext cx="5394960" cy="896112"/>
          </a:xfrm>
          <a:prstGeom prst="roundRect">
            <a:avLst>
              <a:gd name="adj" fmla="val 12245"/>
            </a:avLst>
          </a:prstGeom>
          <a:solidFill>
            <a:srgbClr val="FEF6E4"/>
          </a:solidFill>
          <a:ln w="12700">
            <a:solidFill>
              <a:srgbClr val="FEF6E4"/>
            </a:solidFill>
            <a:prstDash val="solid"/>
          </a:ln>
        </p:spPr>
      </p:sp>
      <p:sp>
        <p:nvSpPr>
          <p:cNvPr id="46" name="Shape 36"/>
          <p:cNvSpPr/>
          <p:nvPr/>
        </p:nvSpPr>
        <p:spPr>
          <a:xfrm>
            <a:off x="6400800" y="5166360"/>
            <a:ext cx="530352" cy="530352"/>
          </a:xfrm>
          <a:prstGeom prst="ellipse">
            <a:avLst/>
          </a:prstGeom>
          <a:solidFill>
            <a:srgbClr val="F39200"/>
          </a:solidFill>
          <a:ln w="12700">
            <a:solidFill>
              <a:srgbClr val="F39200"/>
            </a:solidFill>
            <a:prstDash val="solid"/>
          </a:ln>
        </p:spPr>
      </p:sp>
      <p:pic>
        <p:nvPicPr>
          <p:cNvPr id="47" name="Image 8" descr="preencoded.png">    </p:cNvPr>
          <p:cNvPicPr>
            <a:picLocks noChangeAspect="1"/>
          </p:cNvPicPr>
          <p:nvPr/>
        </p:nvPicPr>
        <p:blipFill>
          <a:blip r:embed="rId9"/>
          <a:stretch>
            <a:fillRect/>
          </a:stretch>
        </p:blipFill>
        <p:spPr>
          <a:xfrm>
            <a:off x="6538692" y="5304252"/>
            <a:ext cx="254569" cy="254569"/>
          </a:xfrm>
          <a:prstGeom prst="rect">
            <a:avLst/>
          </a:prstGeom>
        </p:spPr>
      </p:pic>
      <p:sp>
        <p:nvSpPr>
          <p:cNvPr id="48" name="Text 37"/>
          <p:cNvSpPr txBox="1"/>
          <p:nvPr/>
        </p:nvSpPr>
        <p:spPr>
          <a:xfrm>
            <a:off x="7104888" y="5074920"/>
            <a:ext cx="4389120" cy="365760"/>
          </a:xfrm>
          <a:prstGeom prst="rect">
            <a:avLst/>
          </a:prstGeom>
          <a:noFill/>
          <a:ln/>
        </p:spPr>
        <p:txBody>
          <a:bodyPr wrap="square" lIns="0" tIns="0" rIns="0" bIns="0" rtlCol="0" anchor="t"/>
          <a:lstStyle/>
          <a:p>
            <a:pPr indent="0" marL="0">
              <a:buNone/>
            </a:pPr>
            <a:r>
              <a:rPr lang="en-US" sz="1500" b="1" dirty="0">
                <a:solidFill>
                  <a:srgbClr val="0A4A8C"/>
                </a:solidFill>
                <a:latin typeface="Calibri" pitchFamily="34" charset="0"/>
                <a:ea typeface="Calibri" pitchFamily="34" charset="-122"/>
                <a:cs typeface="Calibri" pitchFamily="34" charset="-120"/>
              </a:rPr>
              <a:t>Enrichir le conseil</a:t>
            </a:r>
            <a:endParaRPr lang="en-US" sz="1500" dirty="0"/>
          </a:p>
        </p:txBody>
      </p:sp>
      <p:sp>
        <p:nvSpPr>
          <p:cNvPr id="49" name="Text 38"/>
          <p:cNvSpPr txBox="1"/>
          <p:nvPr/>
        </p:nvSpPr>
        <p:spPr>
          <a:xfrm>
            <a:off x="7104888" y="5440680"/>
            <a:ext cx="4389120" cy="365760"/>
          </a:xfrm>
          <a:prstGeom prst="rect">
            <a:avLst/>
          </a:prstGeom>
          <a:noFill/>
          <a:ln/>
        </p:spPr>
        <p:txBody>
          <a:bodyPr wrap="square" lIns="0" tIns="0" rIns="0" bIns="0" rtlCol="0" anchor="t"/>
          <a:lstStyle/>
          <a:p>
            <a:pPr indent="0" marL="0">
              <a:buNone/>
            </a:pPr>
            <a:r>
              <a:rPr lang="en-US" sz="1200" dirty="0">
                <a:solidFill>
                  <a:srgbClr val="5B6B7F"/>
                </a:solidFill>
                <a:latin typeface="Calibri" pitchFamily="34" charset="0"/>
                <a:ea typeface="Calibri" pitchFamily="34" charset="-122"/>
                <a:cs typeface="Calibri" pitchFamily="34" charset="-120"/>
              </a:rPr>
              <a:t>Prix des vols en temps réel, avis clients, offres saisonnières</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48640" y="548640"/>
            <a:ext cx="2926080" cy="868680"/>
          </a:xfrm>
          <a:prstGeom prst="roundRect">
            <a:avLst>
              <a:gd name="adj" fmla="val 12632"/>
            </a:avLst>
          </a:prstGeom>
          <a:solidFill>
            <a:srgbClr val="FFFFFF"/>
          </a:solidFill>
          <a:ln w="12700">
            <a:solidFill>
              <a:srgbClr val="FFFFFF"/>
            </a:solidFill>
            <a:prstDash val="solid"/>
          </a:ln>
        </p:spPr>
      </p:sp>
      <p:pic>
        <p:nvPicPr>
          <p:cNvPr id="3" name="Image 0" descr="assets/logo_sunny.png">    </p:cNvPr>
          <p:cNvPicPr>
            <a:picLocks noChangeAspect="1"/>
          </p:cNvPicPr>
          <p:nvPr/>
        </p:nvPicPr>
        <p:blipFill>
          <a:blip r:embed="rId2"/>
          <a:stretch>
            <a:fillRect/>
          </a:stretch>
        </p:blipFill>
        <p:spPr>
          <a:xfrm>
            <a:off x="658368" y="685147"/>
            <a:ext cx="2706624" cy="595666"/>
          </a:xfrm>
          <a:prstGeom prst="rect">
            <a:avLst/>
          </a:prstGeom>
        </p:spPr>
      </p:pic>
      <p:sp>
        <p:nvSpPr>
          <p:cNvPr id="4" name="Text 1"/>
          <p:cNvSpPr txBox="1"/>
          <p:nvPr/>
        </p:nvSpPr>
        <p:spPr>
          <a:xfrm>
            <a:off x="548640" y="2194560"/>
            <a:ext cx="9144000" cy="1005840"/>
          </a:xfrm>
          <a:prstGeom prst="rect">
            <a:avLst/>
          </a:prstGeom>
          <a:noFill/>
          <a:ln/>
        </p:spPr>
        <p:txBody>
          <a:bodyPr wrap="square" lIns="0" tIns="0" rIns="0" bIns="0" rtlCol="0" anchor="t"/>
          <a:lstStyle/>
          <a:p>
            <a:pPr indent="0" marL="0">
              <a:buNone/>
            </a:pPr>
            <a:r>
              <a:rPr lang="en-US" sz="4400" b="1" dirty="0">
                <a:solidFill>
                  <a:srgbClr val="FFFFFF"/>
                </a:solidFill>
                <a:latin typeface="Cambria" pitchFamily="34" charset="0"/>
                <a:ea typeface="Cambria" pitchFamily="34" charset="-122"/>
                <a:cs typeface="Cambria" pitchFamily="34" charset="-120"/>
              </a:rPr>
              <a:t>Merci pour votre attention</a:t>
            </a:r>
            <a:endParaRPr lang="en-US" sz="4400" dirty="0"/>
          </a:p>
        </p:txBody>
      </p:sp>
      <p:sp>
        <p:nvSpPr>
          <p:cNvPr id="5" name="Text 2"/>
          <p:cNvSpPr txBox="1"/>
          <p:nvPr/>
        </p:nvSpPr>
        <p:spPr>
          <a:xfrm>
            <a:off x="548640" y="3200400"/>
            <a:ext cx="9144000" cy="548640"/>
          </a:xfrm>
          <a:prstGeom prst="rect">
            <a:avLst/>
          </a:prstGeom>
          <a:noFill/>
          <a:ln/>
        </p:spPr>
        <p:txBody>
          <a:bodyPr wrap="square" lIns="0" tIns="0" rIns="0" bIns="0" rtlCol="0" anchor="t"/>
          <a:lstStyle/>
          <a:p>
            <a:pPr indent="0" marL="0">
              <a:buNone/>
            </a:pPr>
            <a:r>
              <a:rPr lang="en-US" sz="2000" dirty="0">
                <a:solidFill>
                  <a:srgbClr val="CFE3F5"/>
                </a:solidFill>
                <a:latin typeface="Calibri" pitchFamily="34" charset="0"/>
                <a:ea typeface="Calibri" pitchFamily="34" charset="-122"/>
                <a:cs typeface="Calibri" pitchFamily="34" charset="-120"/>
              </a:rPr>
              <a:t>Je suis à votre disposition pour vos questions.</a:t>
            </a:r>
            <a:endParaRPr lang="en-US" sz="2000" dirty="0"/>
          </a:p>
        </p:txBody>
      </p:sp>
      <p:sp>
        <p:nvSpPr>
          <p:cNvPr id="6" name="Text 3"/>
          <p:cNvSpPr txBox="1"/>
          <p:nvPr/>
        </p:nvSpPr>
        <p:spPr>
          <a:xfrm>
            <a:off x="548640" y="4023360"/>
            <a:ext cx="9144000" cy="365760"/>
          </a:xfrm>
          <a:prstGeom prst="rect">
            <a:avLst/>
          </a:prstGeom>
          <a:noFill/>
          <a:ln/>
        </p:spPr>
        <p:txBody>
          <a:bodyPr wrap="square" lIns="0" tIns="0" rIns="0" bIns="0" rtlCol="0" anchor="t"/>
          <a:lstStyle/>
          <a:p>
            <a:pPr indent="0" marL="0">
              <a:buNone/>
            </a:pPr>
            <a:r>
              <a:rPr lang="en-US" sz="1300" dirty="0">
                <a:solidFill>
                  <a:srgbClr val="FDB52B"/>
                </a:solidFill>
                <a:latin typeface="Calibri" pitchFamily="34" charset="0"/>
                <a:ea typeface="Calibri" pitchFamily="34" charset="-122"/>
                <a:cs typeface="Calibri" pitchFamily="34" charset="-120"/>
              </a:rPr>
              <a:t>Ranim Nabi  ·  PFE ESPRIT 2025-2026  ·  2 Go Sunny Tunisia Trip</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PFE — Système décisionnel intelligent pour agence de voyages</dc:title>
  <dc:subject>PptxGenJS Presentation</dc:subject>
  <dc:creator>Ranim Nabi</dc:creator>
  <cp:lastModifiedBy>Ranim Nabi</cp:lastModifiedBy>
  <cp:revision>1</cp:revision>
  <dcterms:created xsi:type="dcterms:W3CDTF">2026-09-30T10:08:53Z</dcterms:created>
  <dcterms:modified xsi:type="dcterms:W3CDTF">2026-09-30T10:08:53Z</dcterms:modified>
</cp:coreProperties>
</file>